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88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CB7AAF-546E-4585-8E52-39F221E88CA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A44E990-73B9-447A-9B34-292532321564}">
      <dgm:prSet/>
      <dgm:spPr/>
      <dgm:t>
        <a:bodyPr/>
        <a:lstStyle/>
        <a:p>
          <a:r>
            <a:rPr lang="en-US"/>
            <a:t>John discovers a critical vulnerability that could expose sensitive customer data.</a:t>
          </a:r>
        </a:p>
      </dgm:t>
    </dgm:pt>
    <dgm:pt modelId="{2A76DF7E-54C4-46F1-A5DA-179C193BA588}" type="parTrans" cxnId="{D8167134-AEEF-4020-BAA9-C3B282EB3D03}">
      <dgm:prSet/>
      <dgm:spPr/>
      <dgm:t>
        <a:bodyPr/>
        <a:lstStyle/>
        <a:p>
          <a:endParaRPr lang="en-US"/>
        </a:p>
      </dgm:t>
    </dgm:pt>
    <dgm:pt modelId="{1B9EABA9-B4A4-4B30-9CBC-0FE95B4B1FBA}" type="sibTrans" cxnId="{D8167134-AEEF-4020-BAA9-C3B282EB3D03}">
      <dgm:prSet/>
      <dgm:spPr/>
      <dgm:t>
        <a:bodyPr/>
        <a:lstStyle/>
        <a:p>
          <a:endParaRPr lang="en-US"/>
        </a:p>
      </dgm:t>
    </dgm:pt>
    <dgm:pt modelId="{4FD1CFF4-36A2-4DEB-82AD-37669D0B0981}">
      <dgm:prSet/>
      <dgm:spPr/>
      <dgm:t>
        <a:bodyPr/>
        <a:lstStyle/>
        <a:p>
          <a:r>
            <a:rPr lang="en-US"/>
            <a:t>His supervisor instructs him to stay silent until a government contract is signed.</a:t>
          </a:r>
        </a:p>
      </dgm:t>
    </dgm:pt>
    <dgm:pt modelId="{CDCBE44C-4CDA-424B-9D62-6258E45F174E}" type="parTrans" cxnId="{B42F51D9-532D-4645-995F-041077028D8A}">
      <dgm:prSet/>
      <dgm:spPr/>
      <dgm:t>
        <a:bodyPr/>
        <a:lstStyle/>
        <a:p>
          <a:endParaRPr lang="en-US"/>
        </a:p>
      </dgm:t>
    </dgm:pt>
    <dgm:pt modelId="{E673A96B-3992-4363-B13C-CA11445B8D90}" type="sibTrans" cxnId="{B42F51D9-532D-4645-995F-041077028D8A}">
      <dgm:prSet/>
      <dgm:spPr/>
      <dgm:t>
        <a:bodyPr/>
        <a:lstStyle/>
        <a:p>
          <a:endParaRPr lang="en-US"/>
        </a:p>
      </dgm:t>
    </dgm:pt>
    <dgm:pt modelId="{2E5EDAE2-33BA-4818-9EBF-84A6D2FDBD98}">
      <dgm:prSet/>
      <dgm:spPr/>
      <dgm:t>
        <a:bodyPr/>
        <a:lstStyle/>
        <a:p>
          <a:r>
            <a:rPr lang="en-US"/>
            <a:t>This creates an ethical dilemma between loyalty to the company and duty to protect the public.</a:t>
          </a:r>
        </a:p>
      </dgm:t>
    </dgm:pt>
    <dgm:pt modelId="{4E820978-1316-4DD2-AF8C-6B4DAC60C068}" type="parTrans" cxnId="{24A7C3F8-21DD-49CD-B83C-05E546AB5572}">
      <dgm:prSet/>
      <dgm:spPr/>
      <dgm:t>
        <a:bodyPr/>
        <a:lstStyle/>
        <a:p>
          <a:endParaRPr lang="en-US"/>
        </a:p>
      </dgm:t>
    </dgm:pt>
    <dgm:pt modelId="{D181683A-1A78-4D3C-A79F-12718543ADF9}" type="sibTrans" cxnId="{24A7C3F8-21DD-49CD-B83C-05E546AB5572}">
      <dgm:prSet/>
      <dgm:spPr/>
      <dgm:t>
        <a:bodyPr/>
        <a:lstStyle/>
        <a:p>
          <a:endParaRPr lang="en-US"/>
        </a:p>
      </dgm:t>
    </dgm:pt>
    <dgm:pt modelId="{59AC9F3B-AF00-4B79-AA0C-59006E0FCF7F}">
      <dgm:prSet/>
      <dgm:spPr/>
      <dgm:t>
        <a:bodyPr/>
        <a:lstStyle/>
        <a:p>
          <a:r>
            <a:rPr lang="en-US"/>
            <a:t>Highlights the tension between professional ethics and corporate pressure.</a:t>
          </a:r>
        </a:p>
      </dgm:t>
    </dgm:pt>
    <dgm:pt modelId="{B7A0CF61-0991-4553-BE66-4A5F6CCE84A7}" type="parTrans" cxnId="{56D6FA46-1BF2-4A9A-A13C-7CA633921CD2}">
      <dgm:prSet/>
      <dgm:spPr/>
      <dgm:t>
        <a:bodyPr/>
        <a:lstStyle/>
        <a:p>
          <a:endParaRPr lang="en-US"/>
        </a:p>
      </dgm:t>
    </dgm:pt>
    <dgm:pt modelId="{9F26F877-508F-4CDA-83EF-5973165B6F65}" type="sibTrans" cxnId="{56D6FA46-1BF2-4A9A-A13C-7CA633921CD2}">
      <dgm:prSet/>
      <dgm:spPr/>
      <dgm:t>
        <a:bodyPr/>
        <a:lstStyle/>
        <a:p>
          <a:endParaRPr lang="en-US"/>
        </a:p>
      </dgm:t>
    </dgm:pt>
    <dgm:pt modelId="{913C81BC-FB58-4BFD-B6FD-151EB458C7AE}" type="pres">
      <dgm:prSet presAssocID="{B6CB7AAF-546E-4585-8E52-39F221E88CA2}" presName="linear" presStyleCnt="0">
        <dgm:presLayoutVars>
          <dgm:animLvl val="lvl"/>
          <dgm:resizeHandles val="exact"/>
        </dgm:presLayoutVars>
      </dgm:prSet>
      <dgm:spPr/>
    </dgm:pt>
    <dgm:pt modelId="{66834096-6F0B-4146-8B0B-2DA8498E012B}" type="pres">
      <dgm:prSet presAssocID="{4A44E990-73B9-447A-9B34-29253232156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311E11C-9CC7-4FBB-B4C1-E49FD9947667}" type="pres">
      <dgm:prSet presAssocID="{1B9EABA9-B4A4-4B30-9CBC-0FE95B4B1FBA}" presName="spacer" presStyleCnt="0"/>
      <dgm:spPr/>
    </dgm:pt>
    <dgm:pt modelId="{E52FA4E8-FA28-43D9-85E0-435A33846FB4}" type="pres">
      <dgm:prSet presAssocID="{4FD1CFF4-36A2-4DEB-82AD-37669D0B098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F9A4A8C-86E8-431A-81B2-A565BE2E7478}" type="pres">
      <dgm:prSet presAssocID="{E673A96B-3992-4363-B13C-CA11445B8D90}" presName="spacer" presStyleCnt="0"/>
      <dgm:spPr/>
    </dgm:pt>
    <dgm:pt modelId="{C09205C2-AF00-4DA0-B08F-C58F2FDA6BA7}" type="pres">
      <dgm:prSet presAssocID="{2E5EDAE2-33BA-4818-9EBF-84A6D2FDBD9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38CAE14-AEC8-4034-B95D-A69A30CB7AC8}" type="pres">
      <dgm:prSet presAssocID="{D181683A-1A78-4D3C-A79F-12718543ADF9}" presName="spacer" presStyleCnt="0"/>
      <dgm:spPr/>
    </dgm:pt>
    <dgm:pt modelId="{DD31FF00-D2FA-4896-A95F-56FE114249CC}" type="pres">
      <dgm:prSet presAssocID="{59AC9F3B-AF00-4B79-AA0C-59006E0FCF7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8167134-AEEF-4020-BAA9-C3B282EB3D03}" srcId="{B6CB7AAF-546E-4585-8E52-39F221E88CA2}" destId="{4A44E990-73B9-447A-9B34-292532321564}" srcOrd="0" destOrd="0" parTransId="{2A76DF7E-54C4-46F1-A5DA-179C193BA588}" sibTransId="{1B9EABA9-B4A4-4B30-9CBC-0FE95B4B1FBA}"/>
    <dgm:cxn modelId="{D237CC3F-D40E-4B7F-ACEC-0001D78F71BC}" type="presOf" srcId="{4A44E990-73B9-447A-9B34-292532321564}" destId="{66834096-6F0B-4146-8B0B-2DA8498E012B}" srcOrd="0" destOrd="0" presId="urn:microsoft.com/office/officeart/2005/8/layout/vList2"/>
    <dgm:cxn modelId="{56D6FA46-1BF2-4A9A-A13C-7CA633921CD2}" srcId="{B6CB7AAF-546E-4585-8E52-39F221E88CA2}" destId="{59AC9F3B-AF00-4B79-AA0C-59006E0FCF7F}" srcOrd="3" destOrd="0" parTransId="{B7A0CF61-0991-4553-BE66-4A5F6CCE84A7}" sibTransId="{9F26F877-508F-4CDA-83EF-5973165B6F65}"/>
    <dgm:cxn modelId="{750AF587-815F-48A4-A7D7-05F5DBC43CEC}" type="presOf" srcId="{4FD1CFF4-36A2-4DEB-82AD-37669D0B0981}" destId="{E52FA4E8-FA28-43D9-85E0-435A33846FB4}" srcOrd="0" destOrd="0" presId="urn:microsoft.com/office/officeart/2005/8/layout/vList2"/>
    <dgm:cxn modelId="{3E834BAB-E2E9-4739-AE87-AE7F2B151CFB}" type="presOf" srcId="{B6CB7AAF-546E-4585-8E52-39F221E88CA2}" destId="{913C81BC-FB58-4BFD-B6FD-151EB458C7AE}" srcOrd="0" destOrd="0" presId="urn:microsoft.com/office/officeart/2005/8/layout/vList2"/>
    <dgm:cxn modelId="{39EF86B5-1D32-46D6-AD13-6CB2D453820F}" type="presOf" srcId="{59AC9F3B-AF00-4B79-AA0C-59006E0FCF7F}" destId="{DD31FF00-D2FA-4896-A95F-56FE114249CC}" srcOrd="0" destOrd="0" presId="urn:microsoft.com/office/officeart/2005/8/layout/vList2"/>
    <dgm:cxn modelId="{B42F51D9-532D-4645-995F-041077028D8A}" srcId="{B6CB7AAF-546E-4585-8E52-39F221E88CA2}" destId="{4FD1CFF4-36A2-4DEB-82AD-37669D0B0981}" srcOrd="1" destOrd="0" parTransId="{CDCBE44C-4CDA-424B-9D62-6258E45F174E}" sibTransId="{E673A96B-3992-4363-B13C-CA11445B8D90}"/>
    <dgm:cxn modelId="{52E081DE-FA16-4214-9940-01F21277F62B}" type="presOf" srcId="{2E5EDAE2-33BA-4818-9EBF-84A6D2FDBD98}" destId="{C09205C2-AF00-4DA0-B08F-C58F2FDA6BA7}" srcOrd="0" destOrd="0" presId="urn:microsoft.com/office/officeart/2005/8/layout/vList2"/>
    <dgm:cxn modelId="{24A7C3F8-21DD-49CD-B83C-05E546AB5572}" srcId="{B6CB7AAF-546E-4585-8E52-39F221E88CA2}" destId="{2E5EDAE2-33BA-4818-9EBF-84A6D2FDBD98}" srcOrd="2" destOrd="0" parTransId="{4E820978-1316-4DD2-AF8C-6B4DAC60C068}" sibTransId="{D181683A-1A78-4D3C-A79F-12718543ADF9}"/>
    <dgm:cxn modelId="{11E3D5D7-44A7-49C7-872A-5E03AE5D7442}" type="presParOf" srcId="{913C81BC-FB58-4BFD-B6FD-151EB458C7AE}" destId="{66834096-6F0B-4146-8B0B-2DA8498E012B}" srcOrd="0" destOrd="0" presId="urn:microsoft.com/office/officeart/2005/8/layout/vList2"/>
    <dgm:cxn modelId="{FD44C238-56B8-4881-B199-D0BAFCBBB43E}" type="presParOf" srcId="{913C81BC-FB58-4BFD-B6FD-151EB458C7AE}" destId="{2311E11C-9CC7-4FBB-B4C1-E49FD9947667}" srcOrd="1" destOrd="0" presId="urn:microsoft.com/office/officeart/2005/8/layout/vList2"/>
    <dgm:cxn modelId="{647A41FD-9238-44E2-97CC-5EB694505274}" type="presParOf" srcId="{913C81BC-FB58-4BFD-B6FD-151EB458C7AE}" destId="{E52FA4E8-FA28-43D9-85E0-435A33846FB4}" srcOrd="2" destOrd="0" presId="urn:microsoft.com/office/officeart/2005/8/layout/vList2"/>
    <dgm:cxn modelId="{B6911757-5F6B-448E-859C-E883CBC9C89D}" type="presParOf" srcId="{913C81BC-FB58-4BFD-B6FD-151EB458C7AE}" destId="{4F9A4A8C-86E8-431A-81B2-A565BE2E7478}" srcOrd="3" destOrd="0" presId="urn:microsoft.com/office/officeart/2005/8/layout/vList2"/>
    <dgm:cxn modelId="{D8EE8B1F-9FDC-4299-994E-E47BAFCA0CC7}" type="presParOf" srcId="{913C81BC-FB58-4BFD-B6FD-151EB458C7AE}" destId="{C09205C2-AF00-4DA0-B08F-C58F2FDA6BA7}" srcOrd="4" destOrd="0" presId="urn:microsoft.com/office/officeart/2005/8/layout/vList2"/>
    <dgm:cxn modelId="{C727C9A7-2A11-41B8-9817-0178E0076D0F}" type="presParOf" srcId="{913C81BC-FB58-4BFD-B6FD-151EB458C7AE}" destId="{938CAE14-AEC8-4034-B95D-A69A30CB7AC8}" srcOrd="5" destOrd="0" presId="urn:microsoft.com/office/officeart/2005/8/layout/vList2"/>
    <dgm:cxn modelId="{5BFD57CB-A289-47FF-81F6-B823BC914757}" type="presParOf" srcId="{913C81BC-FB58-4BFD-B6FD-151EB458C7AE}" destId="{DD31FF00-D2FA-4896-A95F-56FE114249C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65D887-F87E-4CBD-9A7A-F76B7E6D020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C3E9FF4-A39B-4FCE-B045-6B6D1D84A55E}">
      <dgm:prSet/>
      <dgm:spPr/>
      <dgm:t>
        <a:bodyPr/>
        <a:lstStyle/>
        <a:p>
          <a:r>
            <a:rPr lang="en-GB"/>
            <a:t>Greater good</a:t>
          </a:r>
          <a:endParaRPr lang="en-US"/>
        </a:p>
      </dgm:t>
    </dgm:pt>
    <dgm:pt modelId="{EF3140AD-AD7F-4FEC-8D97-2D3E62FA8C0D}" type="parTrans" cxnId="{2D1E1345-3703-4E53-BEAA-A062916D79C9}">
      <dgm:prSet/>
      <dgm:spPr/>
      <dgm:t>
        <a:bodyPr/>
        <a:lstStyle/>
        <a:p>
          <a:endParaRPr lang="en-US"/>
        </a:p>
      </dgm:t>
    </dgm:pt>
    <dgm:pt modelId="{57A811DF-DDD0-464E-B633-57B077AEF40F}" type="sibTrans" cxnId="{2D1E1345-3703-4E53-BEAA-A062916D79C9}">
      <dgm:prSet/>
      <dgm:spPr/>
      <dgm:t>
        <a:bodyPr/>
        <a:lstStyle/>
        <a:p>
          <a:endParaRPr lang="en-US"/>
        </a:p>
      </dgm:t>
    </dgm:pt>
    <dgm:pt modelId="{D5CCB785-6F3A-4C69-AE47-8E4C0B837D8E}">
      <dgm:prSet/>
      <dgm:spPr/>
      <dgm:t>
        <a:bodyPr/>
        <a:lstStyle/>
        <a:p>
          <a:r>
            <a:rPr lang="en-US"/>
            <a:t>Focuses on doing what is right, regardless of the outcome.</a:t>
          </a:r>
        </a:p>
      </dgm:t>
    </dgm:pt>
    <dgm:pt modelId="{39E116F3-1795-4D2E-94B9-DDC60D485557}" type="parTrans" cxnId="{D1B6CAC9-B812-4300-9F70-72F28100D8E5}">
      <dgm:prSet/>
      <dgm:spPr/>
      <dgm:t>
        <a:bodyPr/>
        <a:lstStyle/>
        <a:p>
          <a:endParaRPr lang="en-US"/>
        </a:p>
      </dgm:t>
    </dgm:pt>
    <dgm:pt modelId="{8F7A9C23-A247-4BF7-912B-67897A4255FC}" type="sibTrans" cxnId="{D1B6CAC9-B812-4300-9F70-72F28100D8E5}">
      <dgm:prSet/>
      <dgm:spPr/>
      <dgm:t>
        <a:bodyPr/>
        <a:lstStyle/>
        <a:p>
          <a:endParaRPr lang="en-US"/>
        </a:p>
      </dgm:t>
    </dgm:pt>
    <dgm:pt modelId="{0613862E-D0B4-48CF-80FF-C03159908E2C}">
      <dgm:prSet/>
      <dgm:spPr/>
      <dgm:t>
        <a:bodyPr/>
        <a:lstStyle/>
        <a:p>
          <a:r>
            <a:rPr lang="en-US"/>
            <a:t>John has a moral duty to protect data and act honestly.</a:t>
          </a:r>
        </a:p>
      </dgm:t>
    </dgm:pt>
    <dgm:pt modelId="{25186F44-1DF8-400B-B477-B6A43FFFC914}" type="parTrans" cxnId="{A9F671C6-2FEB-473F-98F8-400404F1091C}">
      <dgm:prSet/>
      <dgm:spPr/>
      <dgm:t>
        <a:bodyPr/>
        <a:lstStyle/>
        <a:p>
          <a:endParaRPr lang="en-US"/>
        </a:p>
      </dgm:t>
    </dgm:pt>
    <dgm:pt modelId="{84825114-88BB-4B2E-8AB3-2AAAE1188D35}" type="sibTrans" cxnId="{A9F671C6-2FEB-473F-98F8-400404F1091C}">
      <dgm:prSet/>
      <dgm:spPr/>
      <dgm:t>
        <a:bodyPr/>
        <a:lstStyle/>
        <a:p>
          <a:endParaRPr lang="en-US"/>
        </a:p>
      </dgm:t>
    </dgm:pt>
    <dgm:pt modelId="{3ACB20E3-CA68-42B2-AB9D-E1188D29CA26}">
      <dgm:prSet/>
      <dgm:spPr/>
      <dgm:t>
        <a:bodyPr/>
        <a:lstStyle/>
        <a:p>
          <a:r>
            <a:rPr lang="en-US"/>
            <a:t>Utilitarianism:</a:t>
          </a:r>
        </a:p>
      </dgm:t>
    </dgm:pt>
    <dgm:pt modelId="{CE41AD9D-F42B-4CE4-A6F1-0EA7137F3336}" type="parTrans" cxnId="{8342B26F-1E0E-4F36-95DB-FD872E712AF7}">
      <dgm:prSet/>
      <dgm:spPr/>
      <dgm:t>
        <a:bodyPr/>
        <a:lstStyle/>
        <a:p>
          <a:endParaRPr lang="en-US"/>
        </a:p>
      </dgm:t>
    </dgm:pt>
    <dgm:pt modelId="{11592495-BBA3-41DF-A146-42529F5CEB0C}" type="sibTrans" cxnId="{8342B26F-1E0E-4F36-95DB-FD872E712AF7}">
      <dgm:prSet/>
      <dgm:spPr/>
      <dgm:t>
        <a:bodyPr/>
        <a:lstStyle/>
        <a:p>
          <a:endParaRPr lang="en-US"/>
        </a:p>
      </dgm:t>
    </dgm:pt>
    <dgm:pt modelId="{2EF44AC8-3590-45DF-8C88-A86FE2E11CF8}">
      <dgm:prSet/>
      <dgm:spPr/>
      <dgm:t>
        <a:bodyPr/>
        <a:lstStyle/>
        <a:p>
          <a:r>
            <a:rPr lang="en-US"/>
            <a:t>The ethical action produces the greatest good for the greatest number.</a:t>
          </a:r>
        </a:p>
      </dgm:t>
    </dgm:pt>
    <dgm:pt modelId="{67099B39-51D7-4407-8AD2-8E1EE2523092}" type="parTrans" cxnId="{AD4DB97A-8ACC-4AB7-9316-3447CB819209}">
      <dgm:prSet/>
      <dgm:spPr/>
      <dgm:t>
        <a:bodyPr/>
        <a:lstStyle/>
        <a:p>
          <a:endParaRPr lang="en-US"/>
        </a:p>
      </dgm:t>
    </dgm:pt>
    <dgm:pt modelId="{1685274E-11C1-404F-9A01-D6EE3C9FA4D5}" type="sibTrans" cxnId="{AD4DB97A-8ACC-4AB7-9316-3447CB819209}">
      <dgm:prSet/>
      <dgm:spPr/>
      <dgm:t>
        <a:bodyPr/>
        <a:lstStyle/>
        <a:p>
          <a:endParaRPr lang="en-US"/>
        </a:p>
      </dgm:t>
    </dgm:pt>
    <dgm:pt modelId="{5DB21AB8-0018-4451-A63E-4EE44D2ABE90}">
      <dgm:prSet/>
      <dgm:spPr/>
      <dgm:t>
        <a:bodyPr/>
        <a:lstStyle/>
        <a:p>
          <a:r>
            <a:rPr lang="en-US"/>
            <a:t>Disclosing the vulnerability prevents widespread harm.</a:t>
          </a:r>
        </a:p>
      </dgm:t>
    </dgm:pt>
    <dgm:pt modelId="{74B122BA-0F8B-4360-AE6F-A7A3CA6326BB}" type="parTrans" cxnId="{4F198EB3-C606-418D-A830-A32C3B11F7DD}">
      <dgm:prSet/>
      <dgm:spPr/>
      <dgm:t>
        <a:bodyPr/>
        <a:lstStyle/>
        <a:p>
          <a:endParaRPr lang="en-US"/>
        </a:p>
      </dgm:t>
    </dgm:pt>
    <dgm:pt modelId="{F05C75E9-4F90-401B-8D7C-ED46ECCF9049}" type="sibTrans" cxnId="{4F198EB3-C606-418D-A830-A32C3B11F7DD}">
      <dgm:prSet/>
      <dgm:spPr/>
      <dgm:t>
        <a:bodyPr/>
        <a:lstStyle/>
        <a:p>
          <a:endParaRPr lang="en-US"/>
        </a:p>
      </dgm:t>
    </dgm:pt>
    <dgm:pt modelId="{751055BB-42AB-43FB-8A05-868244323A04}">
      <dgm:prSet/>
      <dgm:spPr/>
      <dgm:t>
        <a:bodyPr/>
        <a:lstStyle/>
        <a:p>
          <a:r>
            <a:rPr lang="en-US"/>
            <a:t>Virtue Ethic</a:t>
          </a:r>
          <a:r>
            <a:rPr lang="en-GB"/>
            <a:t>s</a:t>
          </a:r>
          <a:endParaRPr lang="en-US"/>
        </a:p>
      </dgm:t>
    </dgm:pt>
    <dgm:pt modelId="{EAD1C16F-16B2-4B29-9B42-55BA9CE3C92E}" type="parTrans" cxnId="{AF7D1792-1BB6-461D-8152-00CF76BCF7DA}">
      <dgm:prSet/>
      <dgm:spPr/>
      <dgm:t>
        <a:bodyPr/>
        <a:lstStyle/>
        <a:p>
          <a:endParaRPr lang="en-US"/>
        </a:p>
      </dgm:t>
    </dgm:pt>
    <dgm:pt modelId="{B2F49FD2-68E3-4DE1-9274-C11FF8C9A2C4}" type="sibTrans" cxnId="{AF7D1792-1BB6-461D-8152-00CF76BCF7DA}">
      <dgm:prSet/>
      <dgm:spPr/>
      <dgm:t>
        <a:bodyPr/>
        <a:lstStyle/>
        <a:p>
          <a:endParaRPr lang="en-US"/>
        </a:p>
      </dgm:t>
    </dgm:pt>
    <dgm:pt modelId="{98A86069-2587-4F3F-886D-0828F1EA0991}">
      <dgm:prSet/>
      <dgm:spPr/>
      <dgm:t>
        <a:bodyPr/>
        <a:lstStyle/>
        <a:p>
          <a:r>
            <a:rPr lang="en-US"/>
            <a:t>Emphasizes integrity, courage, and professional responsibility.</a:t>
          </a:r>
        </a:p>
      </dgm:t>
    </dgm:pt>
    <dgm:pt modelId="{C7613EEC-6B9B-430B-B4D1-0BB2A72985B1}" type="parTrans" cxnId="{CBDC46A5-F743-43A5-9970-3843668D796A}">
      <dgm:prSet/>
      <dgm:spPr/>
      <dgm:t>
        <a:bodyPr/>
        <a:lstStyle/>
        <a:p>
          <a:endParaRPr lang="en-US"/>
        </a:p>
      </dgm:t>
    </dgm:pt>
    <dgm:pt modelId="{C3CBD133-77F7-4DDF-909C-D7C47C7DAD48}" type="sibTrans" cxnId="{CBDC46A5-F743-43A5-9970-3843668D796A}">
      <dgm:prSet/>
      <dgm:spPr/>
      <dgm:t>
        <a:bodyPr/>
        <a:lstStyle/>
        <a:p>
          <a:endParaRPr lang="en-US"/>
        </a:p>
      </dgm:t>
    </dgm:pt>
    <dgm:pt modelId="{0F125C1F-6770-428A-A32A-755898891D1A}">
      <dgm:prSet/>
      <dgm:spPr/>
      <dgm:t>
        <a:bodyPr/>
        <a:lstStyle/>
        <a:p>
          <a:r>
            <a:rPr lang="en-US"/>
            <a:t>John should act as a role model for ethical behavior.</a:t>
          </a:r>
        </a:p>
      </dgm:t>
    </dgm:pt>
    <dgm:pt modelId="{15BB19B3-68DD-465E-BDB3-B35D0BFAC472}" type="parTrans" cxnId="{9FEF174C-2CFA-4F3E-B18B-9C747549813B}">
      <dgm:prSet/>
      <dgm:spPr/>
      <dgm:t>
        <a:bodyPr/>
        <a:lstStyle/>
        <a:p>
          <a:endParaRPr lang="en-US"/>
        </a:p>
      </dgm:t>
    </dgm:pt>
    <dgm:pt modelId="{2DA85A58-F3CD-4FC4-980F-0F13B2858146}" type="sibTrans" cxnId="{9FEF174C-2CFA-4F3E-B18B-9C747549813B}">
      <dgm:prSet/>
      <dgm:spPr/>
      <dgm:t>
        <a:bodyPr/>
        <a:lstStyle/>
        <a:p>
          <a:endParaRPr lang="en-US"/>
        </a:p>
      </dgm:t>
    </dgm:pt>
    <dgm:pt modelId="{5B710217-E954-4F00-91AE-45F103331A39}">
      <dgm:prSet/>
      <dgm:spPr/>
      <dgm:t>
        <a:bodyPr/>
        <a:lstStyle/>
        <a:p>
          <a:r>
            <a:rPr lang="en-US"/>
            <a:t>Core Ethical Values: Honesty</a:t>
          </a:r>
          <a:r>
            <a:rPr lang="en-GB"/>
            <a:t>,</a:t>
          </a:r>
          <a:r>
            <a:rPr lang="en-US"/>
            <a:t> Integrity</a:t>
          </a:r>
          <a:r>
            <a:rPr lang="en-GB"/>
            <a:t> and</a:t>
          </a:r>
          <a:r>
            <a:rPr lang="en-US"/>
            <a:t> Accountability, </a:t>
          </a:r>
        </a:p>
      </dgm:t>
    </dgm:pt>
    <dgm:pt modelId="{2CD92232-B42D-48DB-99C5-6395FB097408}" type="parTrans" cxnId="{D0939318-02AA-4E49-8043-1B2BD8A505D2}">
      <dgm:prSet/>
      <dgm:spPr/>
      <dgm:t>
        <a:bodyPr/>
        <a:lstStyle/>
        <a:p>
          <a:endParaRPr lang="en-US"/>
        </a:p>
      </dgm:t>
    </dgm:pt>
    <dgm:pt modelId="{8CD7C645-FB38-4D3C-8527-04EEE5D891AD}" type="sibTrans" cxnId="{D0939318-02AA-4E49-8043-1B2BD8A505D2}">
      <dgm:prSet/>
      <dgm:spPr/>
      <dgm:t>
        <a:bodyPr/>
        <a:lstStyle/>
        <a:p>
          <a:endParaRPr lang="en-US"/>
        </a:p>
      </dgm:t>
    </dgm:pt>
    <dgm:pt modelId="{9122881D-33F0-4DC1-AAF7-76B205EC659F}" type="pres">
      <dgm:prSet presAssocID="{D065D887-F87E-4CBD-9A7A-F76B7E6D0209}" presName="linear" presStyleCnt="0">
        <dgm:presLayoutVars>
          <dgm:animLvl val="lvl"/>
          <dgm:resizeHandles val="exact"/>
        </dgm:presLayoutVars>
      </dgm:prSet>
      <dgm:spPr/>
    </dgm:pt>
    <dgm:pt modelId="{6B05B68B-30AF-48CF-8E0C-CF5A64CB7970}" type="pres">
      <dgm:prSet presAssocID="{BC3E9FF4-A39B-4FCE-B045-6B6D1D84A55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C0DB91D-D120-42D6-AC9A-0A444A584CB9}" type="pres">
      <dgm:prSet presAssocID="{BC3E9FF4-A39B-4FCE-B045-6B6D1D84A55E}" presName="childText" presStyleLbl="revTx" presStyleIdx="0" presStyleCnt="3">
        <dgm:presLayoutVars>
          <dgm:bulletEnabled val="1"/>
        </dgm:presLayoutVars>
      </dgm:prSet>
      <dgm:spPr/>
    </dgm:pt>
    <dgm:pt modelId="{FAE02B02-0DA2-4963-9A8F-3FA9D665CD37}" type="pres">
      <dgm:prSet presAssocID="{3ACB20E3-CA68-42B2-AB9D-E1188D29CA2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7EF2E16-060A-41B5-A7C6-28C8380775C6}" type="pres">
      <dgm:prSet presAssocID="{3ACB20E3-CA68-42B2-AB9D-E1188D29CA26}" presName="childText" presStyleLbl="revTx" presStyleIdx="1" presStyleCnt="3">
        <dgm:presLayoutVars>
          <dgm:bulletEnabled val="1"/>
        </dgm:presLayoutVars>
      </dgm:prSet>
      <dgm:spPr/>
    </dgm:pt>
    <dgm:pt modelId="{BD8606D3-1A8C-4F42-A846-A69A123D14AD}" type="pres">
      <dgm:prSet presAssocID="{751055BB-42AB-43FB-8A05-868244323A0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955EFDD-D996-417F-B25A-0076D4E1934A}" type="pres">
      <dgm:prSet presAssocID="{751055BB-42AB-43FB-8A05-868244323A04}" presName="childText" presStyleLbl="revTx" presStyleIdx="2" presStyleCnt="3">
        <dgm:presLayoutVars>
          <dgm:bulletEnabled val="1"/>
        </dgm:presLayoutVars>
      </dgm:prSet>
      <dgm:spPr/>
    </dgm:pt>
    <dgm:pt modelId="{3666D1F4-2253-44A1-892F-9AFCF01F2DD6}" type="pres">
      <dgm:prSet presAssocID="{5B710217-E954-4F00-91AE-45F103331A3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1920F03-1051-4121-883B-AEDC7B6C6F4E}" type="presOf" srcId="{5DB21AB8-0018-4451-A63E-4EE44D2ABE90}" destId="{97EF2E16-060A-41B5-A7C6-28C8380775C6}" srcOrd="0" destOrd="1" presId="urn:microsoft.com/office/officeart/2005/8/layout/vList2"/>
    <dgm:cxn modelId="{D0939318-02AA-4E49-8043-1B2BD8A505D2}" srcId="{D065D887-F87E-4CBD-9A7A-F76B7E6D0209}" destId="{5B710217-E954-4F00-91AE-45F103331A39}" srcOrd="3" destOrd="0" parTransId="{2CD92232-B42D-48DB-99C5-6395FB097408}" sibTransId="{8CD7C645-FB38-4D3C-8527-04EEE5D891AD}"/>
    <dgm:cxn modelId="{C360E63E-0F29-430E-9D5B-8819543DBE2D}" type="presOf" srcId="{3ACB20E3-CA68-42B2-AB9D-E1188D29CA26}" destId="{FAE02B02-0DA2-4963-9A8F-3FA9D665CD37}" srcOrd="0" destOrd="0" presId="urn:microsoft.com/office/officeart/2005/8/layout/vList2"/>
    <dgm:cxn modelId="{0D97C13F-C706-44EF-AB9C-243234971B8C}" type="presOf" srcId="{0F125C1F-6770-428A-A32A-755898891D1A}" destId="{8955EFDD-D996-417F-B25A-0076D4E1934A}" srcOrd="0" destOrd="1" presId="urn:microsoft.com/office/officeart/2005/8/layout/vList2"/>
    <dgm:cxn modelId="{B072B363-90FA-4D6C-A1A6-CF56F14F1BA1}" type="presOf" srcId="{0613862E-D0B4-48CF-80FF-C03159908E2C}" destId="{7C0DB91D-D120-42D6-AC9A-0A444A584CB9}" srcOrd="0" destOrd="1" presId="urn:microsoft.com/office/officeart/2005/8/layout/vList2"/>
    <dgm:cxn modelId="{2D1E1345-3703-4E53-BEAA-A062916D79C9}" srcId="{D065D887-F87E-4CBD-9A7A-F76B7E6D0209}" destId="{BC3E9FF4-A39B-4FCE-B045-6B6D1D84A55E}" srcOrd="0" destOrd="0" parTransId="{EF3140AD-AD7F-4FEC-8D97-2D3E62FA8C0D}" sibTransId="{57A811DF-DDD0-464E-B633-57B077AEF40F}"/>
    <dgm:cxn modelId="{9FEF174C-2CFA-4F3E-B18B-9C747549813B}" srcId="{751055BB-42AB-43FB-8A05-868244323A04}" destId="{0F125C1F-6770-428A-A32A-755898891D1A}" srcOrd="1" destOrd="0" parTransId="{15BB19B3-68DD-465E-BDB3-B35D0BFAC472}" sibTransId="{2DA85A58-F3CD-4FC4-980F-0F13B2858146}"/>
    <dgm:cxn modelId="{8342B26F-1E0E-4F36-95DB-FD872E712AF7}" srcId="{D065D887-F87E-4CBD-9A7A-F76B7E6D0209}" destId="{3ACB20E3-CA68-42B2-AB9D-E1188D29CA26}" srcOrd="1" destOrd="0" parTransId="{CE41AD9D-F42B-4CE4-A6F1-0EA7137F3336}" sibTransId="{11592495-BBA3-41DF-A146-42529F5CEB0C}"/>
    <dgm:cxn modelId="{BAA9F772-5888-46BA-B610-F95A7345AB5B}" type="presOf" srcId="{751055BB-42AB-43FB-8A05-868244323A04}" destId="{BD8606D3-1A8C-4F42-A846-A69A123D14AD}" srcOrd="0" destOrd="0" presId="urn:microsoft.com/office/officeart/2005/8/layout/vList2"/>
    <dgm:cxn modelId="{DC6D2B55-6F5D-415B-B76B-4A75E8E011B9}" type="presOf" srcId="{2EF44AC8-3590-45DF-8C88-A86FE2E11CF8}" destId="{97EF2E16-060A-41B5-A7C6-28C8380775C6}" srcOrd="0" destOrd="0" presId="urn:microsoft.com/office/officeart/2005/8/layout/vList2"/>
    <dgm:cxn modelId="{19A8055A-754D-42DC-BCDA-E77AEC774C7D}" type="presOf" srcId="{D065D887-F87E-4CBD-9A7A-F76B7E6D0209}" destId="{9122881D-33F0-4DC1-AAF7-76B205EC659F}" srcOrd="0" destOrd="0" presId="urn:microsoft.com/office/officeart/2005/8/layout/vList2"/>
    <dgm:cxn modelId="{AD4DB97A-8ACC-4AB7-9316-3447CB819209}" srcId="{3ACB20E3-CA68-42B2-AB9D-E1188D29CA26}" destId="{2EF44AC8-3590-45DF-8C88-A86FE2E11CF8}" srcOrd="0" destOrd="0" parTransId="{67099B39-51D7-4407-8AD2-8E1EE2523092}" sibTransId="{1685274E-11C1-404F-9A01-D6EE3C9FA4D5}"/>
    <dgm:cxn modelId="{7A47C183-9E1A-453E-A6AF-3EFAB1FA6D21}" type="presOf" srcId="{D5CCB785-6F3A-4C69-AE47-8E4C0B837D8E}" destId="{7C0DB91D-D120-42D6-AC9A-0A444A584CB9}" srcOrd="0" destOrd="0" presId="urn:microsoft.com/office/officeart/2005/8/layout/vList2"/>
    <dgm:cxn modelId="{AF7D1792-1BB6-461D-8152-00CF76BCF7DA}" srcId="{D065D887-F87E-4CBD-9A7A-F76B7E6D0209}" destId="{751055BB-42AB-43FB-8A05-868244323A04}" srcOrd="2" destOrd="0" parTransId="{EAD1C16F-16B2-4B29-9B42-55BA9CE3C92E}" sibTransId="{B2F49FD2-68E3-4DE1-9274-C11FF8C9A2C4}"/>
    <dgm:cxn modelId="{CBDC46A5-F743-43A5-9970-3843668D796A}" srcId="{751055BB-42AB-43FB-8A05-868244323A04}" destId="{98A86069-2587-4F3F-886D-0828F1EA0991}" srcOrd="0" destOrd="0" parTransId="{C7613EEC-6B9B-430B-B4D1-0BB2A72985B1}" sibTransId="{C3CBD133-77F7-4DDF-909C-D7C47C7DAD48}"/>
    <dgm:cxn modelId="{919788A6-3DB6-4CD2-A7E5-36C45E536B18}" type="presOf" srcId="{BC3E9FF4-A39B-4FCE-B045-6B6D1D84A55E}" destId="{6B05B68B-30AF-48CF-8E0C-CF5A64CB7970}" srcOrd="0" destOrd="0" presId="urn:microsoft.com/office/officeart/2005/8/layout/vList2"/>
    <dgm:cxn modelId="{4F198EB3-C606-418D-A830-A32C3B11F7DD}" srcId="{3ACB20E3-CA68-42B2-AB9D-E1188D29CA26}" destId="{5DB21AB8-0018-4451-A63E-4EE44D2ABE90}" srcOrd="1" destOrd="0" parTransId="{74B122BA-0F8B-4360-AE6F-A7A3CA6326BB}" sibTransId="{F05C75E9-4F90-401B-8D7C-ED46ECCF9049}"/>
    <dgm:cxn modelId="{C559A3C2-6F4C-4792-B7A7-B705936863F2}" type="presOf" srcId="{5B710217-E954-4F00-91AE-45F103331A39}" destId="{3666D1F4-2253-44A1-892F-9AFCF01F2DD6}" srcOrd="0" destOrd="0" presId="urn:microsoft.com/office/officeart/2005/8/layout/vList2"/>
    <dgm:cxn modelId="{A9F671C6-2FEB-473F-98F8-400404F1091C}" srcId="{BC3E9FF4-A39B-4FCE-B045-6B6D1D84A55E}" destId="{0613862E-D0B4-48CF-80FF-C03159908E2C}" srcOrd="1" destOrd="0" parTransId="{25186F44-1DF8-400B-B477-B6A43FFFC914}" sibTransId="{84825114-88BB-4B2E-8AB3-2AAAE1188D35}"/>
    <dgm:cxn modelId="{D1B6CAC9-B812-4300-9F70-72F28100D8E5}" srcId="{BC3E9FF4-A39B-4FCE-B045-6B6D1D84A55E}" destId="{D5CCB785-6F3A-4C69-AE47-8E4C0B837D8E}" srcOrd="0" destOrd="0" parTransId="{39E116F3-1795-4D2E-94B9-DDC60D485557}" sibTransId="{8F7A9C23-A247-4BF7-912B-67897A4255FC}"/>
    <dgm:cxn modelId="{831AB9D5-05A2-4868-8376-2E0AD4444493}" type="presOf" srcId="{98A86069-2587-4F3F-886D-0828F1EA0991}" destId="{8955EFDD-D996-417F-B25A-0076D4E1934A}" srcOrd="0" destOrd="0" presId="urn:microsoft.com/office/officeart/2005/8/layout/vList2"/>
    <dgm:cxn modelId="{32FEAAAB-90B1-403F-A193-502ED0D3DF17}" type="presParOf" srcId="{9122881D-33F0-4DC1-AAF7-76B205EC659F}" destId="{6B05B68B-30AF-48CF-8E0C-CF5A64CB7970}" srcOrd="0" destOrd="0" presId="urn:microsoft.com/office/officeart/2005/8/layout/vList2"/>
    <dgm:cxn modelId="{9924A04F-A319-4CF2-A24C-74F642607058}" type="presParOf" srcId="{9122881D-33F0-4DC1-AAF7-76B205EC659F}" destId="{7C0DB91D-D120-42D6-AC9A-0A444A584CB9}" srcOrd="1" destOrd="0" presId="urn:microsoft.com/office/officeart/2005/8/layout/vList2"/>
    <dgm:cxn modelId="{2C78539C-B833-4B60-BD81-01242B898BA7}" type="presParOf" srcId="{9122881D-33F0-4DC1-AAF7-76B205EC659F}" destId="{FAE02B02-0DA2-4963-9A8F-3FA9D665CD37}" srcOrd="2" destOrd="0" presId="urn:microsoft.com/office/officeart/2005/8/layout/vList2"/>
    <dgm:cxn modelId="{BDD7DE1C-9C08-4F8D-810E-4923881A4875}" type="presParOf" srcId="{9122881D-33F0-4DC1-AAF7-76B205EC659F}" destId="{97EF2E16-060A-41B5-A7C6-28C8380775C6}" srcOrd="3" destOrd="0" presId="urn:microsoft.com/office/officeart/2005/8/layout/vList2"/>
    <dgm:cxn modelId="{293DA4D0-EEAA-4646-80BD-BC5F5A81C059}" type="presParOf" srcId="{9122881D-33F0-4DC1-AAF7-76B205EC659F}" destId="{BD8606D3-1A8C-4F42-A846-A69A123D14AD}" srcOrd="4" destOrd="0" presId="urn:microsoft.com/office/officeart/2005/8/layout/vList2"/>
    <dgm:cxn modelId="{CB2082A7-279A-4513-8406-30D537D26C97}" type="presParOf" srcId="{9122881D-33F0-4DC1-AAF7-76B205EC659F}" destId="{8955EFDD-D996-417F-B25A-0076D4E1934A}" srcOrd="5" destOrd="0" presId="urn:microsoft.com/office/officeart/2005/8/layout/vList2"/>
    <dgm:cxn modelId="{69A3E925-D43B-42B6-BD5E-4B70F39C45BE}" type="presParOf" srcId="{9122881D-33F0-4DC1-AAF7-76B205EC659F}" destId="{3666D1F4-2253-44A1-892F-9AFCF01F2DD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0CE55F6-AEF3-4503-91CC-7CBB3DB50DC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9C1B90-55C2-4897-893A-39C7DAE190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Ethical responsibility outweighs corporate pressure.</a:t>
          </a:r>
        </a:p>
      </dgm:t>
    </dgm:pt>
    <dgm:pt modelId="{FEAA66FF-CB04-4273-8251-E3AE1874AE1D}" type="parTrans" cxnId="{5CC26EF9-0AC4-4789-B715-18C1DE95B049}">
      <dgm:prSet/>
      <dgm:spPr/>
      <dgm:t>
        <a:bodyPr/>
        <a:lstStyle/>
        <a:p>
          <a:endParaRPr lang="en-US"/>
        </a:p>
      </dgm:t>
    </dgm:pt>
    <dgm:pt modelId="{4930BF9F-9F98-4387-9608-6F5F9824B671}" type="sibTrans" cxnId="{5CC26EF9-0AC4-4789-B715-18C1DE95B049}">
      <dgm:prSet/>
      <dgm:spPr/>
      <dgm:t>
        <a:bodyPr/>
        <a:lstStyle/>
        <a:p>
          <a:endParaRPr lang="en-US"/>
        </a:p>
      </dgm:t>
    </dgm:pt>
    <dgm:pt modelId="{E9D9961D-BC42-4A6B-8E6D-BD7A0C213D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Transparency and integrity protect both society and the profession.</a:t>
          </a:r>
        </a:p>
      </dgm:t>
    </dgm:pt>
    <dgm:pt modelId="{82767E6A-1A9E-4DD4-9673-E3C934BED5ED}" type="parTrans" cxnId="{BA7FAD9D-E1A0-4827-9F63-54B4EF44F8DA}">
      <dgm:prSet/>
      <dgm:spPr/>
      <dgm:t>
        <a:bodyPr/>
        <a:lstStyle/>
        <a:p>
          <a:endParaRPr lang="en-US"/>
        </a:p>
      </dgm:t>
    </dgm:pt>
    <dgm:pt modelId="{F389298D-842C-4874-B793-D636B28A5423}" type="sibTrans" cxnId="{BA7FAD9D-E1A0-4827-9F63-54B4EF44F8DA}">
      <dgm:prSet/>
      <dgm:spPr/>
      <dgm:t>
        <a:bodyPr/>
        <a:lstStyle/>
        <a:p>
          <a:endParaRPr lang="en-US"/>
        </a:p>
      </dgm:t>
    </dgm:pt>
    <dgm:pt modelId="{C707D96F-7A35-4314-9F45-2F7DE1FDA7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Upholding ethics fosters trust, accountability, and sustainable success.</a:t>
          </a:r>
        </a:p>
      </dgm:t>
    </dgm:pt>
    <dgm:pt modelId="{C72EADEE-2124-4CE2-A325-CD8DFC2F815A}" type="parTrans" cxnId="{F05FDD5B-11D1-4575-80DA-C4D1B907D47B}">
      <dgm:prSet/>
      <dgm:spPr/>
      <dgm:t>
        <a:bodyPr/>
        <a:lstStyle/>
        <a:p>
          <a:endParaRPr lang="en-US"/>
        </a:p>
      </dgm:t>
    </dgm:pt>
    <dgm:pt modelId="{B2F320BA-7ABA-4236-BCF8-C0186B34F7A0}" type="sibTrans" cxnId="{F05FDD5B-11D1-4575-80DA-C4D1B907D47B}">
      <dgm:prSet/>
      <dgm:spPr/>
      <dgm:t>
        <a:bodyPr/>
        <a:lstStyle/>
        <a:p>
          <a:endParaRPr lang="en-US"/>
        </a:p>
      </dgm:t>
    </dgm:pt>
    <dgm:pt modelId="{26CD0E59-99DD-438C-BD90-586B04C1D7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John’s case reminds us that doing what is right defines professional integrity.</a:t>
          </a:r>
        </a:p>
      </dgm:t>
    </dgm:pt>
    <dgm:pt modelId="{0A40B467-1C02-4372-89CC-411CCD21418F}" type="parTrans" cxnId="{C3E80FA8-DF79-4E61-B271-057E76D6312A}">
      <dgm:prSet/>
      <dgm:spPr/>
      <dgm:t>
        <a:bodyPr/>
        <a:lstStyle/>
        <a:p>
          <a:endParaRPr lang="en-US"/>
        </a:p>
      </dgm:t>
    </dgm:pt>
    <dgm:pt modelId="{C9547225-793F-4BD8-8678-D590AC55254A}" type="sibTrans" cxnId="{C3E80FA8-DF79-4E61-B271-057E76D6312A}">
      <dgm:prSet/>
      <dgm:spPr/>
      <dgm:t>
        <a:bodyPr/>
        <a:lstStyle/>
        <a:p>
          <a:endParaRPr lang="en-US"/>
        </a:p>
      </dgm:t>
    </dgm:pt>
    <dgm:pt modelId="{5AE254B3-7B54-4414-AC45-43F5E487A159}" type="pres">
      <dgm:prSet presAssocID="{20CE55F6-AEF3-4503-91CC-7CBB3DB50DC5}" presName="root" presStyleCnt="0">
        <dgm:presLayoutVars>
          <dgm:dir/>
          <dgm:resizeHandles val="exact"/>
        </dgm:presLayoutVars>
      </dgm:prSet>
      <dgm:spPr/>
    </dgm:pt>
    <dgm:pt modelId="{796CF303-D7CC-443C-A86C-6C36666549A9}" type="pres">
      <dgm:prSet presAssocID="{5D9C1B90-55C2-4897-893A-39C7DAE190DE}" presName="compNode" presStyleCnt="0"/>
      <dgm:spPr/>
    </dgm:pt>
    <dgm:pt modelId="{3C1CD723-EBDE-46F4-BA5F-1A25917ED8A6}" type="pres">
      <dgm:prSet presAssocID="{5D9C1B90-55C2-4897-893A-39C7DAE190D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109C3B2E-0AC6-4FC9-A764-A71E00F468DF}" type="pres">
      <dgm:prSet presAssocID="{5D9C1B90-55C2-4897-893A-39C7DAE190DE}" presName="spaceRect" presStyleCnt="0"/>
      <dgm:spPr/>
    </dgm:pt>
    <dgm:pt modelId="{5C2AB8B1-F932-4316-9BF7-69BCAFF8E164}" type="pres">
      <dgm:prSet presAssocID="{5D9C1B90-55C2-4897-893A-39C7DAE190DE}" presName="textRect" presStyleLbl="revTx" presStyleIdx="0" presStyleCnt="4">
        <dgm:presLayoutVars>
          <dgm:chMax val="1"/>
          <dgm:chPref val="1"/>
        </dgm:presLayoutVars>
      </dgm:prSet>
      <dgm:spPr/>
    </dgm:pt>
    <dgm:pt modelId="{479ECB8C-2B9A-4EB0-9F8C-A3E3D0AC9692}" type="pres">
      <dgm:prSet presAssocID="{4930BF9F-9F98-4387-9608-6F5F9824B671}" presName="sibTrans" presStyleCnt="0"/>
      <dgm:spPr/>
    </dgm:pt>
    <dgm:pt modelId="{D383063F-6E04-45E4-8AB7-D70F8315CE97}" type="pres">
      <dgm:prSet presAssocID="{E9D9961D-BC42-4A6B-8E6D-BD7A0C213D3C}" presName="compNode" presStyleCnt="0"/>
      <dgm:spPr/>
    </dgm:pt>
    <dgm:pt modelId="{2299A616-6E83-4AC3-9410-9C9BF3110BEB}" type="pres">
      <dgm:prSet presAssocID="{E9D9961D-BC42-4A6B-8E6D-BD7A0C213D3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927F21A2-60D0-4D7A-9424-1B8860FEFDEB}" type="pres">
      <dgm:prSet presAssocID="{E9D9961D-BC42-4A6B-8E6D-BD7A0C213D3C}" presName="spaceRect" presStyleCnt="0"/>
      <dgm:spPr/>
    </dgm:pt>
    <dgm:pt modelId="{F82E1220-B540-4D62-9D1F-99B5066A749D}" type="pres">
      <dgm:prSet presAssocID="{E9D9961D-BC42-4A6B-8E6D-BD7A0C213D3C}" presName="textRect" presStyleLbl="revTx" presStyleIdx="1" presStyleCnt="4">
        <dgm:presLayoutVars>
          <dgm:chMax val="1"/>
          <dgm:chPref val="1"/>
        </dgm:presLayoutVars>
      </dgm:prSet>
      <dgm:spPr/>
    </dgm:pt>
    <dgm:pt modelId="{B3E04A3C-717F-4AA5-9206-67D2587DC115}" type="pres">
      <dgm:prSet presAssocID="{F389298D-842C-4874-B793-D636B28A5423}" presName="sibTrans" presStyleCnt="0"/>
      <dgm:spPr/>
    </dgm:pt>
    <dgm:pt modelId="{0D9129CC-7CEC-4DFE-9D28-95D1F8C472D2}" type="pres">
      <dgm:prSet presAssocID="{C707D96F-7A35-4314-9F45-2F7DE1FDA7DF}" presName="compNode" presStyleCnt="0"/>
      <dgm:spPr/>
    </dgm:pt>
    <dgm:pt modelId="{3D2C9177-4DDC-46B2-A6BC-8FAEA807BCA0}" type="pres">
      <dgm:prSet presAssocID="{C707D96F-7A35-4314-9F45-2F7DE1FDA7D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 Success"/>
        </a:ext>
      </dgm:extLst>
    </dgm:pt>
    <dgm:pt modelId="{5777CA31-EF34-41EA-9BEC-92DAF5AD718F}" type="pres">
      <dgm:prSet presAssocID="{C707D96F-7A35-4314-9F45-2F7DE1FDA7DF}" presName="spaceRect" presStyleCnt="0"/>
      <dgm:spPr/>
    </dgm:pt>
    <dgm:pt modelId="{A34AC97F-BCCF-4A9A-9F95-1B5486525600}" type="pres">
      <dgm:prSet presAssocID="{C707D96F-7A35-4314-9F45-2F7DE1FDA7DF}" presName="textRect" presStyleLbl="revTx" presStyleIdx="2" presStyleCnt="4">
        <dgm:presLayoutVars>
          <dgm:chMax val="1"/>
          <dgm:chPref val="1"/>
        </dgm:presLayoutVars>
      </dgm:prSet>
      <dgm:spPr/>
    </dgm:pt>
    <dgm:pt modelId="{89815F1B-9E45-4777-85BC-F1567C494F6B}" type="pres">
      <dgm:prSet presAssocID="{B2F320BA-7ABA-4236-BCF8-C0186B34F7A0}" presName="sibTrans" presStyleCnt="0"/>
      <dgm:spPr/>
    </dgm:pt>
    <dgm:pt modelId="{FD5ACFBC-EAC5-4F78-838A-A32E5A534FD3}" type="pres">
      <dgm:prSet presAssocID="{26CD0E59-99DD-438C-BD90-586B04C1D7CA}" presName="compNode" presStyleCnt="0"/>
      <dgm:spPr/>
    </dgm:pt>
    <dgm:pt modelId="{37F9F916-36D4-484A-A784-3C87FC171B45}" type="pres">
      <dgm:prSet presAssocID="{26CD0E59-99DD-438C-BD90-586B04C1D7C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A0A67D1D-1FA6-4361-A36E-7A4C28FFC2A0}" type="pres">
      <dgm:prSet presAssocID="{26CD0E59-99DD-438C-BD90-586B04C1D7CA}" presName="spaceRect" presStyleCnt="0"/>
      <dgm:spPr/>
    </dgm:pt>
    <dgm:pt modelId="{89874170-6BB4-4D1A-A305-7D0A3F78B96F}" type="pres">
      <dgm:prSet presAssocID="{26CD0E59-99DD-438C-BD90-586B04C1D7C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5E5780C-A835-46C0-A2AB-E2BE47F12B2A}" type="presOf" srcId="{C707D96F-7A35-4314-9F45-2F7DE1FDA7DF}" destId="{A34AC97F-BCCF-4A9A-9F95-1B5486525600}" srcOrd="0" destOrd="0" presId="urn:microsoft.com/office/officeart/2018/2/layout/IconLabelList"/>
    <dgm:cxn modelId="{CE4E0B1F-4D97-4E6F-A051-265E1A2F5D03}" type="presOf" srcId="{5D9C1B90-55C2-4897-893A-39C7DAE190DE}" destId="{5C2AB8B1-F932-4316-9BF7-69BCAFF8E164}" srcOrd="0" destOrd="0" presId="urn:microsoft.com/office/officeart/2018/2/layout/IconLabelList"/>
    <dgm:cxn modelId="{F05FDD5B-11D1-4575-80DA-C4D1B907D47B}" srcId="{20CE55F6-AEF3-4503-91CC-7CBB3DB50DC5}" destId="{C707D96F-7A35-4314-9F45-2F7DE1FDA7DF}" srcOrd="2" destOrd="0" parTransId="{C72EADEE-2124-4CE2-A325-CD8DFC2F815A}" sibTransId="{B2F320BA-7ABA-4236-BCF8-C0186B34F7A0}"/>
    <dgm:cxn modelId="{61D4E750-8380-4A42-A15F-63272EBC73B4}" type="presOf" srcId="{26CD0E59-99DD-438C-BD90-586B04C1D7CA}" destId="{89874170-6BB4-4D1A-A305-7D0A3F78B96F}" srcOrd="0" destOrd="0" presId="urn:microsoft.com/office/officeart/2018/2/layout/IconLabelList"/>
    <dgm:cxn modelId="{34525A52-A952-4DCF-B3DE-C56A4D4EDF07}" type="presOf" srcId="{E9D9961D-BC42-4A6B-8E6D-BD7A0C213D3C}" destId="{F82E1220-B540-4D62-9D1F-99B5066A749D}" srcOrd="0" destOrd="0" presId="urn:microsoft.com/office/officeart/2018/2/layout/IconLabelList"/>
    <dgm:cxn modelId="{BA7FAD9D-E1A0-4827-9F63-54B4EF44F8DA}" srcId="{20CE55F6-AEF3-4503-91CC-7CBB3DB50DC5}" destId="{E9D9961D-BC42-4A6B-8E6D-BD7A0C213D3C}" srcOrd="1" destOrd="0" parTransId="{82767E6A-1A9E-4DD4-9673-E3C934BED5ED}" sibTransId="{F389298D-842C-4874-B793-D636B28A5423}"/>
    <dgm:cxn modelId="{C3E80FA8-DF79-4E61-B271-057E76D6312A}" srcId="{20CE55F6-AEF3-4503-91CC-7CBB3DB50DC5}" destId="{26CD0E59-99DD-438C-BD90-586B04C1D7CA}" srcOrd="3" destOrd="0" parTransId="{0A40B467-1C02-4372-89CC-411CCD21418F}" sibTransId="{C9547225-793F-4BD8-8678-D590AC55254A}"/>
    <dgm:cxn modelId="{5CC26EF9-0AC4-4789-B715-18C1DE95B049}" srcId="{20CE55F6-AEF3-4503-91CC-7CBB3DB50DC5}" destId="{5D9C1B90-55C2-4897-893A-39C7DAE190DE}" srcOrd="0" destOrd="0" parTransId="{FEAA66FF-CB04-4273-8251-E3AE1874AE1D}" sibTransId="{4930BF9F-9F98-4387-9608-6F5F9824B671}"/>
    <dgm:cxn modelId="{F1FFB8FD-5763-4B8C-8313-0F0B7EB8CEA3}" type="presOf" srcId="{20CE55F6-AEF3-4503-91CC-7CBB3DB50DC5}" destId="{5AE254B3-7B54-4414-AC45-43F5E487A159}" srcOrd="0" destOrd="0" presId="urn:microsoft.com/office/officeart/2018/2/layout/IconLabelList"/>
    <dgm:cxn modelId="{C258A9BF-8207-4110-BEAD-F5337934C8AA}" type="presParOf" srcId="{5AE254B3-7B54-4414-AC45-43F5E487A159}" destId="{796CF303-D7CC-443C-A86C-6C36666549A9}" srcOrd="0" destOrd="0" presId="urn:microsoft.com/office/officeart/2018/2/layout/IconLabelList"/>
    <dgm:cxn modelId="{80A88195-272A-4AE0-ACEF-0095A59DCBC8}" type="presParOf" srcId="{796CF303-D7CC-443C-A86C-6C36666549A9}" destId="{3C1CD723-EBDE-46F4-BA5F-1A25917ED8A6}" srcOrd="0" destOrd="0" presId="urn:microsoft.com/office/officeart/2018/2/layout/IconLabelList"/>
    <dgm:cxn modelId="{CBA46852-E1F2-402C-B2D7-20A8B678DF7F}" type="presParOf" srcId="{796CF303-D7CC-443C-A86C-6C36666549A9}" destId="{109C3B2E-0AC6-4FC9-A764-A71E00F468DF}" srcOrd="1" destOrd="0" presId="urn:microsoft.com/office/officeart/2018/2/layout/IconLabelList"/>
    <dgm:cxn modelId="{EB92E3AC-95B7-4EAB-AE32-714BD637F2B3}" type="presParOf" srcId="{796CF303-D7CC-443C-A86C-6C36666549A9}" destId="{5C2AB8B1-F932-4316-9BF7-69BCAFF8E164}" srcOrd="2" destOrd="0" presId="urn:microsoft.com/office/officeart/2018/2/layout/IconLabelList"/>
    <dgm:cxn modelId="{66276388-66F0-427D-B3F5-DFD905F54C23}" type="presParOf" srcId="{5AE254B3-7B54-4414-AC45-43F5E487A159}" destId="{479ECB8C-2B9A-4EB0-9F8C-A3E3D0AC9692}" srcOrd="1" destOrd="0" presId="urn:microsoft.com/office/officeart/2018/2/layout/IconLabelList"/>
    <dgm:cxn modelId="{7D0D3559-2066-4C1C-AE86-D3A834ABA063}" type="presParOf" srcId="{5AE254B3-7B54-4414-AC45-43F5E487A159}" destId="{D383063F-6E04-45E4-8AB7-D70F8315CE97}" srcOrd="2" destOrd="0" presId="urn:microsoft.com/office/officeart/2018/2/layout/IconLabelList"/>
    <dgm:cxn modelId="{3B75A9E0-A2F1-4441-BC73-1A45FF3DF89F}" type="presParOf" srcId="{D383063F-6E04-45E4-8AB7-D70F8315CE97}" destId="{2299A616-6E83-4AC3-9410-9C9BF3110BEB}" srcOrd="0" destOrd="0" presId="urn:microsoft.com/office/officeart/2018/2/layout/IconLabelList"/>
    <dgm:cxn modelId="{DB2355AC-D069-4C5A-BDB7-323C925B9FC2}" type="presParOf" srcId="{D383063F-6E04-45E4-8AB7-D70F8315CE97}" destId="{927F21A2-60D0-4D7A-9424-1B8860FEFDEB}" srcOrd="1" destOrd="0" presId="urn:microsoft.com/office/officeart/2018/2/layout/IconLabelList"/>
    <dgm:cxn modelId="{5F7CDFD4-17E2-439A-9AE8-83D11AEF664B}" type="presParOf" srcId="{D383063F-6E04-45E4-8AB7-D70F8315CE97}" destId="{F82E1220-B540-4D62-9D1F-99B5066A749D}" srcOrd="2" destOrd="0" presId="urn:microsoft.com/office/officeart/2018/2/layout/IconLabelList"/>
    <dgm:cxn modelId="{93E90A6F-7F34-4C6B-AD9F-796EF9024A61}" type="presParOf" srcId="{5AE254B3-7B54-4414-AC45-43F5E487A159}" destId="{B3E04A3C-717F-4AA5-9206-67D2587DC115}" srcOrd="3" destOrd="0" presId="urn:microsoft.com/office/officeart/2018/2/layout/IconLabelList"/>
    <dgm:cxn modelId="{DE0AC2A4-8DC1-433E-80E2-23AD29E40C70}" type="presParOf" srcId="{5AE254B3-7B54-4414-AC45-43F5E487A159}" destId="{0D9129CC-7CEC-4DFE-9D28-95D1F8C472D2}" srcOrd="4" destOrd="0" presId="urn:microsoft.com/office/officeart/2018/2/layout/IconLabelList"/>
    <dgm:cxn modelId="{B60B070C-851A-4CBA-B3C3-25CB11A9BCF8}" type="presParOf" srcId="{0D9129CC-7CEC-4DFE-9D28-95D1F8C472D2}" destId="{3D2C9177-4DDC-46B2-A6BC-8FAEA807BCA0}" srcOrd="0" destOrd="0" presId="urn:microsoft.com/office/officeart/2018/2/layout/IconLabelList"/>
    <dgm:cxn modelId="{127A3669-9985-4122-9D3D-0EDE764EEBFC}" type="presParOf" srcId="{0D9129CC-7CEC-4DFE-9D28-95D1F8C472D2}" destId="{5777CA31-EF34-41EA-9BEC-92DAF5AD718F}" srcOrd="1" destOrd="0" presId="urn:microsoft.com/office/officeart/2018/2/layout/IconLabelList"/>
    <dgm:cxn modelId="{AFA08B45-8FF1-4016-9C36-CCC4A05B803A}" type="presParOf" srcId="{0D9129CC-7CEC-4DFE-9D28-95D1F8C472D2}" destId="{A34AC97F-BCCF-4A9A-9F95-1B5486525600}" srcOrd="2" destOrd="0" presId="urn:microsoft.com/office/officeart/2018/2/layout/IconLabelList"/>
    <dgm:cxn modelId="{C71214C3-B91C-4524-A1CD-CC28D2A11369}" type="presParOf" srcId="{5AE254B3-7B54-4414-AC45-43F5E487A159}" destId="{89815F1B-9E45-4777-85BC-F1567C494F6B}" srcOrd="5" destOrd="0" presId="urn:microsoft.com/office/officeart/2018/2/layout/IconLabelList"/>
    <dgm:cxn modelId="{6FC28DF4-467E-4003-A068-42C2E8E73A59}" type="presParOf" srcId="{5AE254B3-7B54-4414-AC45-43F5E487A159}" destId="{FD5ACFBC-EAC5-4F78-838A-A32E5A534FD3}" srcOrd="6" destOrd="0" presId="urn:microsoft.com/office/officeart/2018/2/layout/IconLabelList"/>
    <dgm:cxn modelId="{BF469655-50FE-419B-AC25-1F212DF446BC}" type="presParOf" srcId="{FD5ACFBC-EAC5-4F78-838A-A32E5A534FD3}" destId="{37F9F916-36D4-484A-A784-3C87FC171B45}" srcOrd="0" destOrd="0" presId="urn:microsoft.com/office/officeart/2018/2/layout/IconLabelList"/>
    <dgm:cxn modelId="{A7D2E16D-4AF2-4114-8C1B-735F41901066}" type="presParOf" srcId="{FD5ACFBC-EAC5-4F78-838A-A32E5A534FD3}" destId="{A0A67D1D-1FA6-4361-A36E-7A4C28FFC2A0}" srcOrd="1" destOrd="0" presId="urn:microsoft.com/office/officeart/2018/2/layout/IconLabelList"/>
    <dgm:cxn modelId="{8E3C7BFA-0B0A-4169-9E3F-542178764867}" type="presParOf" srcId="{FD5ACFBC-EAC5-4F78-838A-A32E5A534FD3}" destId="{89874170-6BB4-4D1A-A305-7D0A3F78B96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834096-6F0B-4146-8B0B-2DA8498E012B}">
      <dsp:nvSpPr>
        <dsp:cNvPr id="0" name=""/>
        <dsp:cNvSpPr/>
      </dsp:nvSpPr>
      <dsp:spPr>
        <a:xfrm>
          <a:off x="0" y="47004"/>
          <a:ext cx="4231481" cy="11571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John discovers a critical vulnerability that could expose sensitive customer data.</a:t>
          </a:r>
        </a:p>
      </dsp:txBody>
      <dsp:txXfrm>
        <a:off x="56486" y="103490"/>
        <a:ext cx="4118509" cy="1044158"/>
      </dsp:txXfrm>
    </dsp:sp>
    <dsp:sp modelId="{E52FA4E8-FA28-43D9-85E0-435A33846FB4}">
      <dsp:nvSpPr>
        <dsp:cNvPr id="0" name=""/>
        <dsp:cNvSpPr/>
      </dsp:nvSpPr>
      <dsp:spPr>
        <a:xfrm>
          <a:off x="0" y="1270375"/>
          <a:ext cx="4231481" cy="1157130"/>
        </a:xfrm>
        <a:prstGeom prst="roundRect">
          <a:avLst/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His supervisor instructs him to stay silent until a government contract is signed.</a:t>
          </a:r>
        </a:p>
      </dsp:txBody>
      <dsp:txXfrm>
        <a:off x="56486" y="1326861"/>
        <a:ext cx="4118509" cy="1044158"/>
      </dsp:txXfrm>
    </dsp:sp>
    <dsp:sp modelId="{C09205C2-AF00-4DA0-B08F-C58F2FDA6BA7}">
      <dsp:nvSpPr>
        <dsp:cNvPr id="0" name=""/>
        <dsp:cNvSpPr/>
      </dsp:nvSpPr>
      <dsp:spPr>
        <a:xfrm>
          <a:off x="0" y="2493745"/>
          <a:ext cx="4231481" cy="1157130"/>
        </a:xfrm>
        <a:prstGeom prst="roundRect">
          <a:avLst/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This creates an ethical dilemma between loyalty to the company and duty to protect the public.</a:t>
          </a:r>
        </a:p>
      </dsp:txBody>
      <dsp:txXfrm>
        <a:off x="56486" y="2550231"/>
        <a:ext cx="4118509" cy="1044158"/>
      </dsp:txXfrm>
    </dsp:sp>
    <dsp:sp modelId="{DD31FF00-D2FA-4896-A95F-56FE114249CC}">
      <dsp:nvSpPr>
        <dsp:cNvPr id="0" name=""/>
        <dsp:cNvSpPr/>
      </dsp:nvSpPr>
      <dsp:spPr>
        <a:xfrm>
          <a:off x="0" y="3717115"/>
          <a:ext cx="4231481" cy="115713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Highlights the tension between professional ethics and corporate pressure.</a:t>
          </a:r>
        </a:p>
      </dsp:txBody>
      <dsp:txXfrm>
        <a:off x="56486" y="3773601"/>
        <a:ext cx="4118509" cy="10441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05B68B-30AF-48CF-8E0C-CF5A64CB7970}">
      <dsp:nvSpPr>
        <dsp:cNvPr id="0" name=""/>
        <dsp:cNvSpPr/>
      </dsp:nvSpPr>
      <dsp:spPr>
        <a:xfrm>
          <a:off x="0" y="145594"/>
          <a:ext cx="4231481" cy="65450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Greater good</a:t>
          </a:r>
          <a:endParaRPr lang="en-US" sz="1800" kern="1200"/>
        </a:p>
      </dsp:txBody>
      <dsp:txXfrm>
        <a:off x="31950" y="177544"/>
        <a:ext cx="4167581" cy="590605"/>
      </dsp:txXfrm>
    </dsp:sp>
    <dsp:sp modelId="{7C0DB91D-D120-42D6-AC9A-0A444A584CB9}">
      <dsp:nvSpPr>
        <dsp:cNvPr id="0" name=""/>
        <dsp:cNvSpPr/>
      </dsp:nvSpPr>
      <dsp:spPr>
        <a:xfrm>
          <a:off x="0" y="800099"/>
          <a:ext cx="4231481" cy="78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35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Focuses on doing what is right, regardless of the outcome.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John has a moral duty to protect data and act honestly.</a:t>
          </a:r>
        </a:p>
      </dsp:txBody>
      <dsp:txXfrm>
        <a:off x="0" y="800099"/>
        <a:ext cx="4231481" cy="782460"/>
      </dsp:txXfrm>
    </dsp:sp>
    <dsp:sp modelId="{FAE02B02-0DA2-4963-9A8F-3FA9D665CD37}">
      <dsp:nvSpPr>
        <dsp:cNvPr id="0" name=""/>
        <dsp:cNvSpPr/>
      </dsp:nvSpPr>
      <dsp:spPr>
        <a:xfrm>
          <a:off x="0" y="1582559"/>
          <a:ext cx="4231481" cy="654505"/>
        </a:xfrm>
        <a:prstGeom prst="roundRect">
          <a:avLst/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Utilitarianism:</a:t>
          </a:r>
        </a:p>
      </dsp:txBody>
      <dsp:txXfrm>
        <a:off x="31950" y="1614509"/>
        <a:ext cx="4167581" cy="590605"/>
      </dsp:txXfrm>
    </dsp:sp>
    <dsp:sp modelId="{97EF2E16-060A-41B5-A7C6-28C8380775C6}">
      <dsp:nvSpPr>
        <dsp:cNvPr id="0" name=""/>
        <dsp:cNvSpPr/>
      </dsp:nvSpPr>
      <dsp:spPr>
        <a:xfrm>
          <a:off x="0" y="2237065"/>
          <a:ext cx="4231481" cy="614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35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The ethical action produces the greatest good for the greatest number.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Disclosing the vulnerability prevents widespread harm.</a:t>
          </a:r>
        </a:p>
      </dsp:txBody>
      <dsp:txXfrm>
        <a:off x="0" y="2237065"/>
        <a:ext cx="4231481" cy="614790"/>
      </dsp:txXfrm>
    </dsp:sp>
    <dsp:sp modelId="{BD8606D3-1A8C-4F42-A846-A69A123D14AD}">
      <dsp:nvSpPr>
        <dsp:cNvPr id="0" name=""/>
        <dsp:cNvSpPr/>
      </dsp:nvSpPr>
      <dsp:spPr>
        <a:xfrm>
          <a:off x="0" y="2851855"/>
          <a:ext cx="4231481" cy="654505"/>
        </a:xfrm>
        <a:prstGeom prst="roundRect">
          <a:avLst/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Virtue Ethic</a:t>
          </a:r>
          <a:r>
            <a:rPr lang="en-GB" sz="1800" kern="1200"/>
            <a:t>s</a:t>
          </a:r>
          <a:endParaRPr lang="en-US" sz="1800" kern="1200"/>
        </a:p>
      </dsp:txBody>
      <dsp:txXfrm>
        <a:off x="31950" y="2883805"/>
        <a:ext cx="4167581" cy="590605"/>
      </dsp:txXfrm>
    </dsp:sp>
    <dsp:sp modelId="{8955EFDD-D996-417F-B25A-0076D4E1934A}">
      <dsp:nvSpPr>
        <dsp:cNvPr id="0" name=""/>
        <dsp:cNvSpPr/>
      </dsp:nvSpPr>
      <dsp:spPr>
        <a:xfrm>
          <a:off x="0" y="3506360"/>
          <a:ext cx="4231481" cy="614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35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Emphasizes integrity, courage, and professional responsibility.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John should act as a role model for ethical behavior.</a:t>
          </a:r>
        </a:p>
      </dsp:txBody>
      <dsp:txXfrm>
        <a:off x="0" y="3506360"/>
        <a:ext cx="4231481" cy="614790"/>
      </dsp:txXfrm>
    </dsp:sp>
    <dsp:sp modelId="{3666D1F4-2253-44A1-892F-9AFCF01F2DD6}">
      <dsp:nvSpPr>
        <dsp:cNvPr id="0" name=""/>
        <dsp:cNvSpPr/>
      </dsp:nvSpPr>
      <dsp:spPr>
        <a:xfrm>
          <a:off x="0" y="4121150"/>
          <a:ext cx="4231481" cy="654505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Core Ethical Values: Honesty</a:t>
          </a:r>
          <a:r>
            <a:rPr lang="en-GB" sz="1800" kern="1200"/>
            <a:t>,</a:t>
          </a:r>
          <a:r>
            <a:rPr lang="en-US" sz="1800" kern="1200"/>
            <a:t> Integrity</a:t>
          </a:r>
          <a:r>
            <a:rPr lang="en-GB" sz="1800" kern="1200"/>
            <a:t> and</a:t>
          </a:r>
          <a:r>
            <a:rPr lang="en-US" sz="1800" kern="1200"/>
            <a:t> Accountability, </a:t>
          </a:r>
        </a:p>
      </dsp:txBody>
      <dsp:txXfrm>
        <a:off x="31950" y="4153100"/>
        <a:ext cx="4167581" cy="5906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1CD723-EBDE-46F4-BA5F-1A25917ED8A6}">
      <dsp:nvSpPr>
        <dsp:cNvPr id="0" name=""/>
        <dsp:cNvSpPr/>
      </dsp:nvSpPr>
      <dsp:spPr>
        <a:xfrm>
          <a:off x="444841" y="1206544"/>
          <a:ext cx="724570" cy="7245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2AB8B1-F932-4316-9BF7-69BCAFF8E164}">
      <dsp:nvSpPr>
        <dsp:cNvPr id="0" name=""/>
        <dsp:cNvSpPr/>
      </dsp:nvSpPr>
      <dsp:spPr>
        <a:xfrm>
          <a:off x="2048" y="2172752"/>
          <a:ext cx="1610156" cy="644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Ethical responsibility outweighs corporate pressure.</a:t>
          </a:r>
        </a:p>
      </dsp:txBody>
      <dsp:txXfrm>
        <a:off x="2048" y="2172752"/>
        <a:ext cx="1610156" cy="644062"/>
      </dsp:txXfrm>
    </dsp:sp>
    <dsp:sp modelId="{2299A616-6E83-4AC3-9410-9C9BF3110BEB}">
      <dsp:nvSpPr>
        <dsp:cNvPr id="0" name=""/>
        <dsp:cNvSpPr/>
      </dsp:nvSpPr>
      <dsp:spPr>
        <a:xfrm>
          <a:off x="2336775" y="1206544"/>
          <a:ext cx="724570" cy="7245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2E1220-B540-4D62-9D1F-99B5066A749D}">
      <dsp:nvSpPr>
        <dsp:cNvPr id="0" name=""/>
        <dsp:cNvSpPr/>
      </dsp:nvSpPr>
      <dsp:spPr>
        <a:xfrm>
          <a:off x="1893982" y="2172752"/>
          <a:ext cx="1610156" cy="644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Transparency and integrity protect both society and the profession.</a:t>
          </a:r>
        </a:p>
      </dsp:txBody>
      <dsp:txXfrm>
        <a:off x="1893982" y="2172752"/>
        <a:ext cx="1610156" cy="644062"/>
      </dsp:txXfrm>
    </dsp:sp>
    <dsp:sp modelId="{3D2C9177-4DDC-46B2-A6BC-8FAEA807BCA0}">
      <dsp:nvSpPr>
        <dsp:cNvPr id="0" name=""/>
        <dsp:cNvSpPr/>
      </dsp:nvSpPr>
      <dsp:spPr>
        <a:xfrm>
          <a:off x="4228709" y="1206544"/>
          <a:ext cx="724570" cy="7245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4AC97F-BCCF-4A9A-9F95-1B5486525600}">
      <dsp:nvSpPr>
        <dsp:cNvPr id="0" name=""/>
        <dsp:cNvSpPr/>
      </dsp:nvSpPr>
      <dsp:spPr>
        <a:xfrm>
          <a:off x="3785916" y="2172752"/>
          <a:ext cx="1610156" cy="644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Upholding ethics fosters trust, accountability, and sustainable success.</a:t>
          </a:r>
        </a:p>
      </dsp:txBody>
      <dsp:txXfrm>
        <a:off x="3785916" y="2172752"/>
        <a:ext cx="1610156" cy="644062"/>
      </dsp:txXfrm>
    </dsp:sp>
    <dsp:sp modelId="{37F9F916-36D4-484A-A784-3C87FC171B45}">
      <dsp:nvSpPr>
        <dsp:cNvPr id="0" name=""/>
        <dsp:cNvSpPr/>
      </dsp:nvSpPr>
      <dsp:spPr>
        <a:xfrm>
          <a:off x="6120642" y="1206544"/>
          <a:ext cx="724570" cy="7245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874170-6BB4-4D1A-A305-7D0A3F78B96F}">
      <dsp:nvSpPr>
        <dsp:cNvPr id="0" name=""/>
        <dsp:cNvSpPr/>
      </dsp:nvSpPr>
      <dsp:spPr>
        <a:xfrm>
          <a:off x="5677849" y="2172752"/>
          <a:ext cx="1610156" cy="644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John’s case reminds us that doing what is right defines professional integrity.</a:t>
          </a:r>
        </a:p>
      </dsp:txBody>
      <dsp:txXfrm>
        <a:off x="5677849" y="2172752"/>
        <a:ext cx="1610156" cy="6440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350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we can use different moral philosophies to guide us</a:t>
            </a:r>
            <a:r>
              <a:rPr lang="en-GB" dirty="0"/>
              <a:t> in ethics</a:t>
            </a:r>
            <a:r>
              <a:rPr dirty="0"/>
              <a:t>. Let’s start with</a:t>
            </a:r>
            <a:r>
              <a:rPr lang="en-GB" dirty="0"/>
              <a:t> the greater good</a:t>
            </a:r>
            <a:r>
              <a:rPr dirty="0"/>
              <a:t>which is all about doing the right thing no matter the outcome. Under this view, John should act to protect data because it’s his duty.  </a:t>
            </a:r>
          </a:p>
          <a:p>
            <a:r>
              <a:rPr dirty="0"/>
              <a:t>Next is utilitarianism, which focuses on outcomes </a:t>
            </a:r>
            <a:r>
              <a:rPr lang="en-GB" dirty="0"/>
              <a:t>that effect</a:t>
            </a:r>
            <a:r>
              <a:rPr dirty="0"/>
              <a:t> the greatest good for the greatest number. Disclosing the vulnerability could prevent widespread harm.  </a:t>
            </a:r>
          </a:p>
          <a:p>
            <a:r>
              <a:rPr dirty="0"/>
              <a:t>And then virtue ethics, which is about who you are</a:t>
            </a:r>
            <a:r>
              <a:rPr lang="en-GB" dirty="0"/>
              <a:t>,</a:t>
            </a:r>
            <a:r>
              <a:rPr dirty="0"/>
              <a:t> your integrity</a:t>
            </a:r>
            <a:r>
              <a:rPr lang="en-GB" dirty="0"/>
              <a:t> and </a:t>
            </a:r>
            <a:r>
              <a:rPr dirty="0"/>
              <a:t>your character. John should act as </a:t>
            </a:r>
            <a:r>
              <a:rPr lang="en-GB" dirty="0"/>
              <a:t>a</a:t>
            </a:r>
            <a:r>
              <a:rPr dirty="0"/>
              <a:t> professional others can respect and trust.  </a:t>
            </a:r>
          </a:p>
          <a:p>
            <a:r>
              <a:rPr dirty="0"/>
              <a:t>Across all these, we see common values: honesty, integrity, accountability, and the principle of ‘do no harm.’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For society, strong ethical standards protect people’s data and privacy, building trust in digital systems. For businesses, ethics promote transparency, reputation, and credibility.  </a:t>
            </a:r>
          </a:p>
          <a:p>
            <a:r>
              <a:rPr dirty="0"/>
              <a:t>When companies act ethically, they avoid costly lawsuits and keep customers’ trust long-term.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John’s options.  </a:t>
            </a:r>
          </a:p>
          <a:p>
            <a:r>
              <a:rPr dirty="0"/>
              <a:t>Option one: He stays silent. That might protect the contract for now and keep things calm in the short term. But if the vulnerability is exploited later, it could lead to a major data breach, lawsuits, and loss of trust.  </a:t>
            </a:r>
          </a:p>
          <a:p>
            <a:r>
              <a:rPr dirty="0"/>
              <a:t>Option two:</a:t>
            </a:r>
            <a:r>
              <a:rPr lang="en-GB" dirty="0"/>
              <a:t> </a:t>
            </a:r>
            <a:r>
              <a:rPr dirty="0"/>
              <a:t>He discloses the issue responsibly through internal channels or official authorities. That’s riskier short-term — it could upset management — but it protects public trust and follows data protection laws.  </a:t>
            </a:r>
          </a:p>
          <a:p>
            <a:r>
              <a:rPr dirty="0"/>
              <a:t>Ethically, the best move is to disclose responsibly.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For the company, hiding the issue could mean fines, lawsuits, and reputational damage later. If they disclose, they might lose the contract — but they keep credibility and public trust.  </a:t>
            </a:r>
          </a:p>
          <a:p>
            <a:r>
              <a:rPr dirty="0"/>
              <a:t>For John, staying silent might feel safer, but </a:t>
            </a:r>
            <a:r>
              <a:rPr lang="en-GB" dirty="0"/>
              <a:t>he could feel guilt</a:t>
            </a:r>
            <a:r>
              <a:rPr dirty="0"/>
              <a:t> — ethically and legally. Speaking up could cost him his job, but it preserves his integrity and aligns with professional codes of conduct.  </a:t>
            </a:r>
          </a:p>
          <a:p>
            <a:r>
              <a:rPr dirty="0"/>
              <a:t>Legally, silence could even breach GDPR or data protection laws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how can companies prevent ethical dilemmas? strong ethics policies and clear whistleblower protections. Employees should feel safe to speak up. Regular ethics and cybersecurity training help too.  </a:t>
            </a:r>
          </a:p>
          <a:p>
            <a:r>
              <a:rPr dirty="0"/>
              <a:t>Professional organizations also give guidance — like the </a:t>
            </a:r>
            <a:r>
              <a:rPr lang="en-GB" dirty="0"/>
              <a:t>A</a:t>
            </a:r>
            <a:r>
              <a:rPr dirty="0"/>
              <a:t>CM Code: avoid harm, be honest, be trustworthy. The BCS Cod* says to prioritize public interest, and (ISC)² emphasizes protecting society and upholding trust.  </a:t>
            </a:r>
          </a:p>
          <a:p>
            <a:r>
              <a:rPr dirty="0"/>
              <a:t>And compliance with regulations like GDPR, ISO 27001, and the Public Interest Disclosure Act provides a strong  foundation for ethical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So overall </a:t>
            </a:r>
            <a:r>
              <a:rPr dirty="0"/>
              <a:t>ethical responsibility always outweighs corporate pressure. Transparency and integrity aren’t just ideals; they’re what keep both society and the cybersecurity profession safe.  </a:t>
            </a:r>
          </a:p>
          <a:p>
            <a:r>
              <a:rPr dirty="0"/>
              <a:t>John’s case reminds us that doing what’s right defines professional integrity.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835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54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211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377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08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602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872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222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301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968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6CBC06-AFCC-4937-8EA9-F545A2EB0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adlock on computer motherboard">
            <a:extLst>
              <a:ext uri="{FF2B5EF4-FFF2-40B4-BE49-F238E27FC236}">
                <a16:creationId xmlns:a16="http://schemas.microsoft.com/office/drawing/2014/main" id="{D1E3477B-EEEC-29E8-ABCC-4C9730226DD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r="10999" b="-2"/>
          <a:stretch>
            <a:fillRect/>
          </a:stretch>
        </p:blipFill>
        <p:spPr>
          <a:xfrm>
            <a:off x="20" y="975"/>
            <a:ext cx="914398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/>
                </a:solidFill>
              </a:rPr>
              <a:t>Ethical Dilemmas in Cybersecurity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The Case of John at </a:t>
            </a:r>
            <a:r>
              <a:rPr lang="en-GB" dirty="0" err="1">
                <a:solidFill>
                  <a:schemeClr val="tx1"/>
                </a:solidFill>
              </a:rPr>
              <a:t>TechSecure</a:t>
            </a:r>
            <a:r>
              <a:rPr lang="en-GB" dirty="0">
                <a:solidFill>
                  <a:schemeClr val="tx1"/>
                </a:solidFill>
              </a:rPr>
              <a:t> Solutions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D041084-7D34-40AA-ACA7-1EFFC8212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GB" sz="3700">
                <a:solidFill>
                  <a:srgbClr val="FFFFFF"/>
                </a:solidFill>
              </a:rPr>
              <a:t>Introduction: The Ethical Conflict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9C2727-816B-7144-2DDD-C265D66BBD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7686323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Moral Philosophy and Ethical Principles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F66D38-B653-966C-E8F2-AFEBEEBE0A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3653277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GB">
                <a:solidFill>
                  <a:srgbClr val="FFFFFF"/>
                </a:solidFill>
              </a:rPr>
              <a:t>Benefits of Ethics to Society and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/>
              <a:t>For Society:</a:t>
            </a:r>
          </a:p>
          <a:p>
            <a:pPr lvl="1"/>
            <a:r>
              <a:rPr lang="en-GB"/>
              <a:t>Protects citizens’ data, privacy, and safety.</a:t>
            </a:r>
          </a:p>
          <a:p>
            <a:pPr lvl="1"/>
            <a:r>
              <a:rPr lang="en-GB"/>
              <a:t>Builds public trust in digital and cybersecurity systems.</a:t>
            </a:r>
          </a:p>
          <a:p>
            <a:pPr marL="0" indent="0">
              <a:buNone/>
            </a:pPr>
            <a:r>
              <a:rPr lang="en-GB"/>
              <a:t>For Businesses:</a:t>
            </a:r>
          </a:p>
          <a:p>
            <a:pPr lvl="1"/>
            <a:r>
              <a:rPr lang="en-GB"/>
              <a:t>Promotes transparency, reputation, and credibility.</a:t>
            </a:r>
          </a:p>
          <a:p>
            <a:pPr lvl="1"/>
            <a:r>
              <a:rPr lang="en-GB"/>
              <a:t>Prevents costly legal actions and maintains long-term stability.</a:t>
            </a:r>
          </a:p>
          <a:p>
            <a:pPr marL="0" indent="0">
              <a:buNone/>
            </a:pPr>
            <a:r>
              <a:rPr lang="en-GB"/>
              <a:t>Ethical decision-making supports long-term sustainability and social trust.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GB" sz="4100">
                <a:solidFill>
                  <a:srgbClr val="FFFFFF"/>
                </a:solidFill>
              </a:rPr>
              <a:t>Ethical Implications of John’s Choices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/>
              <a:t>Option 1: Stay Silent</a:t>
            </a:r>
          </a:p>
          <a:p>
            <a:pPr lvl="1"/>
            <a:r>
              <a:rPr lang="en-GB"/>
              <a:t>Short-term benefit: preserves the contract and avoids conflict.</a:t>
            </a:r>
          </a:p>
          <a:p>
            <a:pPr lvl="1"/>
            <a:r>
              <a:rPr lang="en-GB"/>
              <a:t>Long-term risk: potential data breach, legal issues, and loss of trust.</a:t>
            </a:r>
          </a:p>
          <a:p>
            <a:pPr marL="0" indent="0">
              <a:buNone/>
            </a:pPr>
            <a:r>
              <a:rPr lang="en-GB"/>
              <a:t>Option 2: Disclose the Vulnerability</a:t>
            </a:r>
          </a:p>
          <a:p>
            <a:pPr lvl="1"/>
            <a:r>
              <a:rPr lang="en-GB"/>
              <a:t>Upholds public trust and complies with data protection laws.</a:t>
            </a:r>
          </a:p>
          <a:p>
            <a:pPr lvl="1"/>
            <a:r>
              <a:rPr lang="en-GB"/>
              <a:t>May risk short-term reputation and create internal tension.</a:t>
            </a:r>
          </a:p>
          <a:p>
            <a:pPr marL="0" indent="0">
              <a:buNone/>
            </a:pPr>
            <a:r>
              <a:rPr lang="en-GB"/>
              <a:t>Ethical Conclusion: John should disclose responsibly through internal or official channels.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GB" sz="3700">
                <a:solidFill>
                  <a:srgbClr val="FFFFFF"/>
                </a:solidFill>
              </a:rPr>
              <a:t>Potential Consequences for All Parties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/>
              <a:t>For the Company:</a:t>
            </a:r>
          </a:p>
          <a:p>
            <a:pPr lvl="1"/>
            <a:r>
              <a:rPr lang="en-GB"/>
              <a:t>Concealment could lead to regulatory fines and reputational damage.</a:t>
            </a:r>
          </a:p>
          <a:p>
            <a:pPr lvl="1"/>
            <a:r>
              <a:rPr lang="en-GB"/>
              <a:t>Disclosure may affect the contract but protects credibility long-term.</a:t>
            </a:r>
          </a:p>
          <a:p>
            <a:pPr marL="0" indent="0">
              <a:buNone/>
            </a:pPr>
            <a:r>
              <a:rPr lang="en-GB"/>
              <a:t>For John:</a:t>
            </a:r>
          </a:p>
          <a:p>
            <a:pPr lvl="1"/>
            <a:r>
              <a:rPr lang="en-GB"/>
              <a:t>Silence may lead to ethical guilt or legal liability.</a:t>
            </a:r>
          </a:p>
          <a:p>
            <a:pPr lvl="1"/>
            <a:r>
              <a:rPr lang="en-GB"/>
              <a:t>Disclosure could risk his job but preserves integrity and professionalism.</a:t>
            </a:r>
          </a:p>
          <a:p>
            <a:pPr marL="0" indent="0">
              <a:buNone/>
            </a:pPr>
            <a:r>
              <a:rPr lang="en-GB"/>
              <a:t>Legal &amp; Ethical Implications:</a:t>
            </a:r>
          </a:p>
          <a:p>
            <a:pPr lvl="1"/>
            <a:r>
              <a:rPr lang="en-GB"/>
              <a:t>Possible breach of GDPR and Data Protection Act obligations.</a:t>
            </a:r>
          </a:p>
          <a:p>
            <a:pPr lvl="1"/>
            <a:r>
              <a:rPr lang="en-GB"/>
              <a:t>Professional misconduct or violation of industry standards.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GB">
                <a:solidFill>
                  <a:srgbClr val="FFFFFF"/>
                </a:solidFill>
              </a:rPr>
              <a:t>Preventing Ethical Dilemmas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/>
              <a:t>Organizational Measures:</a:t>
            </a:r>
          </a:p>
          <a:p>
            <a:pPr lvl="1"/>
            <a:r>
              <a:rPr lang="en-GB"/>
              <a:t>Implement ethics and reporting policies with whistleblower protection.</a:t>
            </a:r>
          </a:p>
          <a:p>
            <a:pPr lvl="1"/>
            <a:r>
              <a:rPr lang="en-GB"/>
              <a:t>Provide regular ethics and cybersecurity training.</a:t>
            </a:r>
          </a:p>
          <a:p>
            <a:pPr marL="0" indent="0">
              <a:buNone/>
            </a:pPr>
            <a:r>
              <a:rPr lang="en-GB"/>
              <a:t>Professional Guidance:</a:t>
            </a:r>
          </a:p>
          <a:p>
            <a:pPr lvl="1"/>
            <a:r>
              <a:rPr lang="en-GB"/>
              <a:t>ACM Code: 'Avoid harm, be honest, be trustworthy.'</a:t>
            </a:r>
          </a:p>
          <a:p>
            <a:pPr lvl="1"/>
            <a:r>
              <a:rPr lang="en-GB"/>
              <a:t>BCS Code: 'Prioritize public interest.'</a:t>
            </a:r>
          </a:p>
          <a:p>
            <a:pPr lvl="1"/>
            <a:r>
              <a:rPr lang="en-GB"/>
              <a:t>(ISC)² Code: 'Protect society and uphold public trust.'</a:t>
            </a:r>
          </a:p>
          <a:p>
            <a:pPr marL="0" indent="0">
              <a:buNone/>
            </a:pPr>
            <a:r>
              <a:rPr lang="en-GB"/>
              <a:t>Compliance &amp; Legislation:</a:t>
            </a:r>
          </a:p>
          <a:p>
            <a:pPr lvl="1"/>
            <a:r>
              <a:rPr lang="en-GB"/>
              <a:t>GDPR, ISO 27001, Data Protection Act, Public Interest Disclosure 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Conclusion and Reflection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9C98BD-C692-D0CF-F7F8-EE923CE5C9F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8096" y="2286000"/>
          <a:ext cx="7290055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</TotalTime>
  <Words>970</Words>
  <Application>Microsoft Office PowerPoint</Application>
  <PresentationFormat>On-screen Show (4:3)</PresentationFormat>
  <Paragraphs>77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Tw Cen MT</vt:lpstr>
      <vt:lpstr>Tw Cen MT Condensed</vt:lpstr>
      <vt:lpstr>Wingdings 3</vt:lpstr>
      <vt:lpstr>Integral</vt:lpstr>
      <vt:lpstr>Ethical Dilemmas in Cybersecurity</vt:lpstr>
      <vt:lpstr>Introduction: The Ethical Conflict</vt:lpstr>
      <vt:lpstr>Moral Philosophy and Ethical Principles</vt:lpstr>
      <vt:lpstr>Benefits of Ethics to Society and Business</vt:lpstr>
      <vt:lpstr>Ethical Implications of John’s Choices</vt:lpstr>
      <vt:lpstr>Potential Consequences for All Parties</vt:lpstr>
      <vt:lpstr>Preventing Ethical Dilemmas</vt:lpstr>
      <vt:lpstr>Conclusion and Reflection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Connor</dc:creator>
  <cp:keywords/>
  <dc:description>generated using python-pptx</dc:description>
  <cp:lastModifiedBy>Lindsey Vaclavik</cp:lastModifiedBy>
  <cp:revision>3</cp:revision>
  <dcterms:created xsi:type="dcterms:W3CDTF">2013-01-27T09:14:16Z</dcterms:created>
  <dcterms:modified xsi:type="dcterms:W3CDTF">2025-11-11T01:52:48Z</dcterms:modified>
  <cp:category/>
</cp:coreProperties>
</file>