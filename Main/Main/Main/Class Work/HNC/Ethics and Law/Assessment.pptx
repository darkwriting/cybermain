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87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41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3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4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8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3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45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2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43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9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Ethical Dilemmas in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Case</a:t>
            </a:r>
            <a:r>
              <a:rPr lang="en-GB" dirty="0"/>
              <a:t>: John </a:t>
            </a:r>
            <a:r>
              <a:rPr dirty="0"/>
              <a:t>at </a:t>
            </a:r>
            <a:r>
              <a:rPr dirty="0" err="1"/>
              <a:t>TechSecure</a:t>
            </a:r>
            <a:r>
              <a:rPr dirty="0"/>
              <a:t>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Ethical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John discovers a critical vulnerability that could expose sensitive customer data.</a:t>
            </a:r>
          </a:p>
          <a:p>
            <a:r>
              <a:rPr dirty="0"/>
              <a:t>His supervisor instructs him to stay silent until a government contract is signed.</a:t>
            </a:r>
          </a:p>
          <a:p>
            <a:r>
              <a:rPr dirty="0"/>
              <a:t>This creates an ethical dilemma between loyalty to the company and duty to protect the 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/>
              <a:t>Moral Philosophy and Ethical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Ethics (Duty-based):</a:t>
            </a:r>
          </a:p>
          <a:p>
            <a:pPr lvl="1"/>
            <a:r>
              <a:rPr sz="1800" dirty="0"/>
              <a:t>Focuses on doing what is right, regardless of the outcome.</a:t>
            </a:r>
          </a:p>
          <a:p>
            <a:pPr lvl="1"/>
            <a:r>
              <a:rPr sz="1800" dirty="0"/>
              <a:t>John has a moral duty to protect data and act honestly.</a:t>
            </a:r>
          </a:p>
          <a:p>
            <a:pPr marL="0" indent="0">
              <a:buNone/>
            </a:pPr>
            <a:r>
              <a:rPr sz="2000" dirty="0"/>
              <a:t>Utilitarianism (Outcome-based):</a:t>
            </a:r>
          </a:p>
          <a:p>
            <a:pPr lvl="1"/>
            <a:r>
              <a:rPr sz="1800" dirty="0"/>
              <a:t>The ethical action produces the greatest good for the greatest number.</a:t>
            </a:r>
          </a:p>
          <a:p>
            <a:pPr lvl="1"/>
            <a:r>
              <a:rPr sz="1800" dirty="0"/>
              <a:t>Disclosing the vulnerability prevents widespread harm.</a:t>
            </a:r>
          </a:p>
          <a:p>
            <a:pPr marL="0" indent="0">
              <a:buNone/>
            </a:pPr>
            <a:r>
              <a:rPr sz="2000" dirty="0"/>
              <a:t>Virtue (Character-based):</a:t>
            </a:r>
          </a:p>
          <a:p>
            <a:pPr lvl="1"/>
            <a:r>
              <a:rPr sz="1800" dirty="0"/>
              <a:t>Emphasizes integrity, courage, and professional responsibility.</a:t>
            </a:r>
          </a:p>
          <a:p>
            <a:pPr lvl="1"/>
            <a:r>
              <a:rPr sz="1800" dirty="0"/>
              <a:t>John should act as a role model for ethical behavior.</a:t>
            </a:r>
          </a:p>
          <a:p>
            <a:pPr marL="0" indent="0">
              <a:buNone/>
            </a:pPr>
            <a:r>
              <a:rPr sz="2000" dirty="0"/>
              <a:t>Ethical Values: Honesty, Integrity</a:t>
            </a:r>
            <a:r>
              <a:rPr lang="en-GB" sz="2000" dirty="0"/>
              <a:t> and</a:t>
            </a:r>
            <a:r>
              <a:rPr sz="2000" dirty="0"/>
              <a:t> Accountability,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Benefits of Ethics to Society and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For Society:</a:t>
            </a:r>
          </a:p>
          <a:p>
            <a:pPr lvl="1"/>
            <a:r>
              <a:rPr sz="2000" dirty="0"/>
              <a:t>Protects citizens’ data, privacy, and safety.</a:t>
            </a:r>
          </a:p>
          <a:p>
            <a:pPr lvl="1"/>
            <a:r>
              <a:rPr sz="2000" dirty="0"/>
              <a:t>Builds public trust in digital and cybersecurity systems.</a:t>
            </a:r>
          </a:p>
          <a:p>
            <a:pPr marL="0" indent="0">
              <a:buNone/>
            </a:pPr>
            <a:r>
              <a:rPr sz="2400" dirty="0"/>
              <a:t>For Businesses:</a:t>
            </a:r>
          </a:p>
          <a:p>
            <a:pPr lvl="1"/>
            <a:r>
              <a:rPr sz="2000" dirty="0"/>
              <a:t>Promotes transparency, reputation, and credibility.</a:t>
            </a:r>
          </a:p>
          <a:p>
            <a:pPr lvl="1"/>
            <a:r>
              <a:rPr sz="2000" dirty="0"/>
              <a:t>Prevents costly legal actions and maintains long-term stability.</a:t>
            </a:r>
          </a:p>
          <a:p>
            <a:pPr marL="0" indent="0">
              <a:buNone/>
            </a:pPr>
            <a:r>
              <a:rPr sz="2400" dirty="0"/>
              <a:t>Ethical decision-making supports long-term sustainability and social responsibility.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Ethical Implications of John’s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Option 1: Stay Silent</a:t>
            </a:r>
          </a:p>
          <a:p>
            <a:pPr lvl="1"/>
            <a:r>
              <a:rPr sz="2000" dirty="0"/>
              <a:t>Short-term benefit: preserves the contract and avoids conflict.</a:t>
            </a:r>
          </a:p>
          <a:p>
            <a:pPr lvl="1"/>
            <a:r>
              <a:rPr sz="2000" dirty="0"/>
              <a:t>Long-term risk: potential data breach, legal issues, and loss of trust.</a:t>
            </a:r>
          </a:p>
          <a:p>
            <a:pPr marL="0" indent="0">
              <a:buNone/>
            </a:pPr>
            <a:r>
              <a:rPr sz="2400" dirty="0"/>
              <a:t>Option 2: Disclose the Vulnerability</a:t>
            </a:r>
          </a:p>
          <a:p>
            <a:pPr lvl="1"/>
            <a:r>
              <a:rPr sz="2000" dirty="0"/>
              <a:t>Upholds public trust and complies with data protection laws.</a:t>
            </a:r>
          </a:p>
          <a:p>
            <a:pPr lvl="1"/>
            <a:r>
              <a:rPr sz="2000" dirty="0"/>
              <a:t>May risk short-term reputation and create internal tension.</a:t>
            </a:r>
          </a:p>
          <a:p>
            <a:r>
              <a:rPr sz="2400" dirty="0"/>
              <a:t>Ethical Conclusion: John should disclose responsibly through internal or official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Potential Consequences for All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For the Company:</a:t>
            </a:r>
          </a:p>
          <a:p>
            <a:pPr lvl="1"/>
            <a:r>
              <a:rPr sz="2000" dirty="0"/>
              <a:t>Concealment could lead to regulatory fines and reputational damage.</a:t>
            </a:r>
          </a:p>
          <a:p>
            <a:pPr lvl="1"/>
            <a:r>
              <a:rPr sz="2000" dirty="0"/>
              <a:t>Disclosure may affect the contract but protects credibility long-term.</a:t>
            </a:r>
          </a:p>
          <a:p>
            <a:pPr marL="0" indent="0">
              <a:buNone/>
            </a:pPr>
            <a:r>
              <a:rPr sz="2400" dirty="0"/>
              <a:t>For John:</a:t>
            </a:r>
          </a:p>
          <a:p>
            <a:pPr lvl="1"/>
            <a:r>
              <a:rPr sz="2000" dirty="0"/>
              <a:t>Silence may lead to guilt or legal liability.</a:t>
            </a:r>
          </a:p>
          <a:p>
            <a:pPr lvl="1"/>
            <a:r>
              <a:rPr sz="2000" dirty="0"/>
              <a:t>Disclosure could risk his job but preserves integrity and professionalism.</a:t>
            </a:r>
          </a:p>
          <a:p>
            <a:pPr marL="0" indent="0">
              <a:buNone/>
            </a:pPr>
            <a:r>
              <a:rPr sz="2400" dirty="0"/>
              <a:t>Legal &amp; Ethical Implications:</a:t>
            </a:r>
          </a:p>
          <a:p>
            <a:pPr lvl="1"/>
            <a:r>
              <a:rPr sz="2000" dirty="0"/>
              <a:t>Possible breach of GDPR and</a:t>
            </a:r>
            <a:r>
              <a:rPr lang="en-GB" sz="2000" dirty="0"/>
              <a:t> the</a:t>
            </a:r>
            <a:r>
              <a:rPr sz="2000" dirty="0"/>
              <a:t> Data Protection Act</a:t>
            </a:r>
            <a:r>
              <a:rPr lang="en-GB" sz="2000" dirty="0"/>
              <a:t>.</a:t>
            </a:r>
          </a:p>
          <a:p>
            <a:pPr lvl="1"/>
            <a:r>
              <a:rPr sz="2000" dirty="0"/>
              <a:t>misconduct or violation of industry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Preventing Ethical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Organizational Measures:</a:t>
            </a:r>
          </a:p>
          <a:p>
            <a:pPr lvl="1"/>
            <a:r>
              <a:rPr sz="2000" dirty="0"/>
              <a:t>Implement ethics and reporting policies with whistleblower protection.</a:t>
            </a:r>
          </a:p>
          <a:p>
            <a:pPr lvl="1"/>
            <a:r>
              <a:rPr sz="2000" dirty="0"/>
              <a:t>Provide regular ethic</a:t>
            </a:r>
            <a:r>
              <a:rPr lang="en-GB" sz="2000" dirty="0"/>
              <a:t> </a:t>
            </a:r>
            <a:r>
              <a:rPr sz="2000" dirty="0"/>
              <a:t>training.</a:t>
            </a:r>
          </a:p>
          <a:p>
            <a:pPr marL="0" indent="0">
              <a:buNone/>
            </a:pPr>
            <a:r>
              <a:rPr lang="en-GB" sz="2000" dirty="0"/>
              <a:t>professional bodies</a:t>
            </a:r>
            <a:r>
              <a:rPr sz="2000" dirty="0"/>
              <a:t> Guidance:</a:t>
            </a:r>
          </a:p>
          <a:p>
            <a:pPr lvl="1"/>
            <a:r>
              <a:rPr sz="2000" dirty="0"/>
              <a:t>ACM Code: 'Avoid harm, be honest, be trustworthy.'</a:t>
            </a:r>
          </a:p>
          <a:p>
            <a:pPr lvl="1"/>
            <a:r>
              <a:rPr sz="2000" dirty="0"/>
              <a:t>BCS Code: 'Prioritize public interest.'</a:t>
            </a:r>
          </a:p>
          <a:p>
            <a:pPr lvl="1"/>
            <a:r>
              <a:rPr sz="2000" dirty="0"/>
              <a:t>(ISC)² Code: 'Protect society and uphold public trust.'</a:t>
            </a:r>
          </a:p>
          <a:p>
            <a:pPr marL="0" indent="0">
              <a:buNone/>
            </a:pPr>
            <a:r>
              <a:rPr sz="2000" dirty="0"/>
              <a:t>Compliance &amp; Legislation:</a:t>
            </a:r>
          </a:p>
          <a:p>
            <a:pPr lvl="1"/>
            <a:r>
              <a:rPr sz="2000" dirty="0"/>
              <a:t>GDPR, ISO 27001, Data Protection Act, Public Interest Disclosure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Ethical responsibility outweighs corporate pressure.</a:t>
            </a:r>
          </a:p>
          <a:p>
            <a:r>
              <a:rPr dirty="0"/>
              <a:t>Transparency and integrity protect both society and the profession.</a:t>
            </a:r>
          </a:p>
          <a:p>
            <a:r>
              <a:rPr dirty="0"/>
              <a:t>Upholding ethics </a:t>
            </a:r>
            <a:r>
              <a:rPr lang="en-GB" dirty="0"/>
              <a:t>creates</a:t>
            </a:r>
            <a:r>
              <a:rPr dirty="0"/>
              <a:t> trust, accountability, and sustainable success.</a:t>
            </a:r>
          </a:p>
          <a:p>
            <a:r>
              <a:rPr dirty="0"/>
              <a:t>John’s case reminds us that doing what is right defines professional integrity.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469</Words>
  <Application>Microsoft Office PowerPoint</Application>
  <PresentationFormat>On-screen Show (4:3)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Ethical Dilemmas in Cybersecurity</vt:lpstr>
      <vt:lpstr>Introduction: The Ethical Conflict</vt:lpstr>
      <vt:lpstr>Moral Philosophy and Ethical Principles</vt:lpstr>
      <vt:lpstr>Benefits of Ethics to Society and Business</vt:lpstr>
      <vt:lpstr>Ethical Implications of John’s Choices</vt:lpstr>
      <vt:lpstr>Potential Consequences for All Parties</vt:lpstr>
      <vt:lpstr>Preventing Ethical Dilemmas</vt:lpstr>
      <vt:lpstr>Conclusion and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Connor</dc:creator>
  <cp:keywords/>
  <dc:description>generated using python-pptx</dc:description>
  <cp:lastModifiedBy>Lindsey Vaclavik</cp:lastModifiedBy>
  <cp:revision>2</cp:revision>
  <dcterms:created xsi:type="dcterms:W3CDTF">2013-01-27T09:14:16Z</dcterms:created>
  <dcterms:modified xsi:type="dcterms:W3CDTF">2025-11-10T02:01:34Z</dcterms:modified>
  <cp:category/>
</cp:coreProperties>
</file>