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Tunnicliffe" userId="d6837b3d-8b57-406d-a8e4-876ef820a90e" providerId="ADAL" clId="{A4F5B657-CCB1-4582-B24E-179FBDA5961A}"/>
    <pc:docChg chg="custSel modSld">
      <pc:chgData name="Ross Tunnicliffe" userId="d6837b3d-8b57-406d-a8e4-876ef820a90e" providerId="ADAL" clId="{A4F5B657-CCB1-4582-B24E-179FBDA5961A}" dt="2026-08-01T14:10:38.132" v="9" actId="122"/>
      <pc:docMkLst>
        <pc:docMk/>
      </pc:docMkLst>
      <pc:sldChg chg="modSp mod">
        <pc:chgData name="Ross Tunnicliffe" userId="d6837b3d-8b57-406d-a8e4-876ef820a90e" providerId="ADAL" clId="{A4F5B657-CCB1-4582-B24E-179FBDA5961A}" dt="2026-08-01T14:09:36.488" v="1" actId="255"/>
        <pc:sldMkLst>
          <pc:docMk/>
          <pc:sldMk cId="0" sldId="256"/>
        </pc:sldMkLst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24.691" v="0" actId="271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09:36.488" v="1" actId="255"/>
          <ac:spMkLst>
            <pc:docMk/>
            <pc:sldMk cId="0" sldId="256"/>
            <ac:spMk id="11" creationId="{00000000-0000-0000-0000-000000000000}"/>
          </ac:spMkLst>
        </pc:spChg>
      </pc:sldChg>
      <pc:sldChg chg="delSp mod">
        <pc:chgData name="Ross Tunnicliffe" userId="d6837b3d-8b57-406d-a8e4-876ef820a90e" providerId="ADAL" clId="{A4F5B657-CCB1-4582-B24E-179FBDA5961A}" dt="2026-08-01T14:09:56.383" v="3" actId="478"/>
        <pc:sldMkLst>
          <pc:docMk/>
          <pc:sldMk cId="0" sldId="258"/>
        </pc:sldMkLst>
        <pc:spChg chg="del">
          <ac:chgData name="Ross Tunnicliffe" userId="d6837b3d-8b57-406d-a8e4-876ef820a90e" providerId="ADAL" clId="{A4F5B657-CCB1-4582-B24E-179FBDA5961A}" dt="2026-08-01T14:09:54.339" v="2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Ross Tunnicliffe" userId="d6837b3d-8b57-406d-a8e4-876ef820a90e" providerId="ADAL" clId="{A4F5B657-CCB1-4582-B24E-179FBDA5961A}" dt="2026-08-01T14:09:56.383" v="3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Ross Tunnicliffe" userId="d6837b3d-8b57-406d-a8e4-876ef820a90e" providerId="ADAL" clId="{A4F5B657-CCB1-4582-B24E-179FBDA5961A}" dt="2026-08-01T14:09:56.383" v="3" actId="478"/>
          <ac:spMkLst>
            <pc:docMk/>
            <pc:sldMk cId="0" sldId="258"/>
            <ac:spMk id="36" creationId="{00000000-0000-0000-0000-000000000000}"/>
          </ac:spMkLst>
        </pc:spChg>
      </pc:sldChg>
      <pc:sldChg chg="delSp modSp mod">
        <pc:chgData name="Ross Tunnicliffe" userId="d6837b3d-8b57-406d-a8e4-876ef820a90e" providerId="ADAL" clId="{A4F5B657-CCB1-4582-B24E-179FBDA5961A}" dt="2026-08-01T14:10:14.338" v="7" actId="255"/>
        <pc:sldMkLst>
          <pc:docMk/>
          <pc:sldMk cId="0" sldId="259"/>
        </pc:sldMkLst>
        <pc:spChg chg="del">
          <ac:chgData name="Ross Tunnicliffe" userId="d6837b3d-8b57-406d-a8e4-876ef820a90e" providerId="ADAL" clId="{A4F5B657-CCB1-4582-B24E-179FBDA5961A}" dt="2026-08-01T14:10:02.634" v="5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14.338" v="7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10.284" v="6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14.338" v="7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10.284" v="6" actId="255"/>
          <ac:spMkLst>
            <pc:docMk/>
            <pc:sldMk cId="0" sldId="259"/>
            <ac:spMk id="16" creationId="{00000000-0000-0000-0000-000000000000}"/>
          </ac:spMkLst>
        </pc:spChg>
        <pc:spChg chg="del">
          <ac:chgData name="Ross Tunnicliffe" userId="d6837b3d-8b57-406d-a8e4-876ef820a90e" providerId="ADAL" clId="{A4F5B657-CCB1-4582-B24E-179FBDA5961A}" dt="2026-08-01T14:09:59.999" v="4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Ross Tunnicliffe" userId="d6837b3d-8b57-406d-a8e4-876ef820a90e" providerId="ADAL" clId="{A4F5B657-CCB1-4582-B24E-179FBDA5961A}" dt="2026-08-01T14:09:59.999" v="4" actId="478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Ross Tunnicliffe" userId="d6837b3d-8b57-406d-a8e4-876ef820a90e" providerId="ADAL" clId="{A4F5B657-CCB1-4582-B24E-179FBDA5961A}" dt="2026-08-01T14:10:38.132" v="9" actId="122"/>
        <pc:sldMkLst>
          <pc:docMk/>
          <pc:sldMk cId="0" sldId="260"/>
        </pc:sldMkLst>
        <pc:spChg chg="mod">
          <ac:chgData name="Ross Tunnicliffe" userId="d6837b3d-8b57-406d-a8e4-876ef820a90e" providerId="ADAL" clId="{A4F5B657-CCB1-4582-B24E-179FBDA5961A}" dt="2026-08-01T14:10:38.132" v="9" actId="12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38.132" v="9" actId="122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oss Tunnicliffe" userId="d6837b3d-8b57-406d-a8e4-876ef820a90e" providerId="ADAL" clId="{A4F5B657-CCB1-4582-B24E-179FBDA5961A}" dt="2026-08-01T14:10:38.132" v="9" actId="122"/>
          <ac:spMkLst>
            <pc:docMk/>
            <pc:sldMk cId="0" sldId="26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08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eek01_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48640"/>
            <a:ext cx="608076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577840" y="0"/>
            <a:ext cx="109728" cy="685800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GB" sz="25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Server Administration</a:t>
            </a:r>
            <a:endParaRPr lang="en-GB" sz="2500" noProof="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GB" sz="25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for Cyber Security</a:t>
            </a:r>
            <a:endParaRPr lang="en-GB" sz="2500" noProof="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5488" y="23317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50" noProof="0" dirty="0">
                <a:solidFill>
                  <a:srgbClr val="DBEAFE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Week 1: Server operating systems and secure infrastructure foundations</a:t>
            </a:r>
            <a:endParaRPr lang="en-GB" sz="1250" noProof="0" dirty="0">
              <a:latin typeface="Garamond" panose="020204040303010108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5488" y="303580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5216" y="31089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64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SCQF Level 8 / HND</a:t>
            </a:r>
            <a:endParaRPr lang="en-GB" sz="640" noProof="0" dirty="0">
              <a:latin typeface="Garamond" panose="020204040303010108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83080" y="3035808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20240" y="31089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64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J27P 35</a:t>
            </a:r>
            <a:endParaRPr lang="en-GB" sz="640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5488" y="626364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200" noProof="0" dirty="0">
                <a:solidFill>
                  <a:srgbClr val="94A3B8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Freeman Industries Secure Infrastructure Project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Why this unit matters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unit is about designing, implementing and maintaining secure server infrastructure.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week01_media/image-2-1.png"/>
          <p:cNvPicPr>
            <a:picLocks noChangeAspect="1"/>
          </p:cNvPicPr>
          <p:nvPr/>
        </p:nvPicPr>
        <p:blipFill>
          <a:blip r:embed="rId3"/>
          <a:srcRect l="16617" r="16617"/>
          <a:stretch/>
        </p:blipFill>
        <p:spPr>
          <a:xfrm>
            <a:off x="539496" y="1636776"/>
            <a:ext cx="3493008" cy="2944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15727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050" b="1" noProof="0" dirty="0">
                <a:solidFill>
                  <a:srgbClr val="C75B12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administration is security work</a:t>
            </a:r>
            <a:endParaRPr lang="en-GB" sz="1050" noProof="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0" y="1901952"/>
            <a:ext cx="67208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4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Servers hold the services that users depend on: identity, files, applications, network services and logs.</a:t>
            </a:r>
            <a:endParaRPr lang="en-GB" sz="1420" noProof="0" dirty="0">
              <a:latin typeface="Garamond" panose="02020404030301010803" pitchFamily="18" charset="0"/>
            </a:endParaRPr>
          </a:p>
          <a:p>
            <a:r>
              <a:rPr lang="en-GB" sz="14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poorly designed server estate can make a business fragile even when individual machines appear to work.</a:t>
            </a:r>
            <a:endParaRPr lang="en-GB" sz="1420" noProof="0" dirty="0">
              <a:latin typeface="Garamond" panose="02020404030301010803" pitchFamily="18" charset="0"/>
            </a:endParaRPr>
          </a:p>
          <a:p>
            <a:r>
              <a:rPr lang="en-GB" sz="14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 must be planned before installation, because later fixes are usually less reliable and harder to prove.</a:t>
            </a:r>
            <a:endParaRPr lang="en-GB" sz="1420" noProof="0" dirty="0">
              <a:latin typeface="Garamond" panose="02020404030301010803" pitchFamily="18" charset="0"/>
            </a:endParaRPr>
          </a:p>
          <a:p>
            <a:r>
              <a:rPr lang="en-GB" sz="14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At Level 8, the aim is not only to configure settings, but to justify, test and evaluate professional choices.</a:t>
            </a:r>
            <a:endParaRPr lang="en-GB" sz="142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0" y="4617720"/>
            <a:ext cx="6355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0" y="461772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36592" y="4736592"/>
            <a:ext cx="6126480" cy="28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Core unit themes: Design securely → Implement carefully → Maintain and improve.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The server administrator’s role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administrator manages business outcomes, not just machines.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8F7FF"/>
          </a:solidFill>
          <a:ln w="12700">
            <a:solidFill>
              <a:srgbClr val="2368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" y="17099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98448" y="168249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Availability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8448" y="1892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Keep services usable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6324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EF7F2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72968" y="17099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21608" y="168249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Identity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21608" y="1892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Control who can sign in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596128" y="17099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44768" y="168249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Data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44768" y="1892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Protect storage and access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0956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1F5FF"/>
          </a:solidFill>
          <a:ln w="12700">
            <a:solidFill>
              <a:srgbClr val="22C7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9288" y="17099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2C7B8"/>
          </a:solidFill>
          <a:ln w="12700">
            <a:solidFill>
              <a:srgbClr val="22C7B8"/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67928" y="168249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Evidence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67928" y="1892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Record what changed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06040" y="191109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0" y="191109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52360" y="191109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" y="29718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" y="3099816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Day-to-day responsibilities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3383280"/>
            <a:ext cx="47548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Configure roles and features safely.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Apply updates and review logs.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Manage accounts, permissions and access.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Test backup, restore and service health.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29718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28232" y="3099816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Professional judgement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46520" y="3383280"/>
            <a:ext cx="47548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least privilege and change control.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Identify risks before implementing changes.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Select appropriate tools rather than the easiest tool.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Explain technical decisions to others.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5559552"/>
            <a:ext cx="10698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5800" y="5559552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392" y="5678423"/>
            <a:ext cx="10469880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role combines technical skill, risk awareness, communication and accountability.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What makes a server a server?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provides a service that other systems depend 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a_detailed_isometric_3d_cybersecurity_it_network.png"/>
          <p:cNvPicPr>
            <a:picLocks noChangeAspect="1"/>
          </p:cNvPicPr>
          <p:nvPr/>
        </p:nvPicPr>
        <p:blipFill>
          <a:blip r:embed="rId3"/>
          <a:srcRect l="10586" r="10586"/>
          <a:stretch/>
        </p:blipFill>
        <p:spPr>
          <a:xfrm>
            <a:off x="7534656" y="1453896"/>
            <a:ext cx="3995928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417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C75B12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is defined by its role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43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listens for requests from clients or other servers.</a:t>
            </a:r>
          </a:p>
          <a:p>
            <a:endParaRPr lang="en-GB" sz="1430" noProof="0" dirty="0">
              <a:latin typeface="Garamond" panose="02020404030301010803" pitchFamily="18" charset="0"/>
            </a:endParaRPr>
          </a:p>
          <a:p>
            <a:r>
              <a:rPr lang="en-GB" sz="143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often runs background services without a user sitting at the keyboard.</a:t>
            </a:r>
          </a:p>
          <a:p>
            <a:endParaRPr lang="en-GB" sz="1430" noProof="0" dirty="0">
              <a:latin typeface="Garamond" panose="02020404030301010803" pitchFamily="18" charset="0"/>
            </a:endParaRPr>
          </a:p>
          <a:p>
            <a:r>
              <a:rPr lang="en-GB" sz="143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supports many users or systems at the same time.</a:t>
            </a:r>
          </a:p>
          <a:p>
            <a:endParaRPr lang="en-GB" sz="1430" noProof="0" dirty="0">
              <a:latin typeface="Garamond" panose="02020404030301010803" pitchFamily="18" charset="0"/>
            </a:endParaRPr>
          </a:p>
          <a:p>
            <a:r>
              <a:rPr lang="en-GB" sz="143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should be managed, monitored, backed up and secured as a critical asset.</a:t>
            </a:r>
            <a:endParaRPr lang="en-GB" sz="143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42976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44256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Client example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46817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laptop requests a file, web page, IP address or authentication token.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60520" y="42976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25112" y="44256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example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43400" y="46817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domain controller, DNS server, file server or web server supplies the service.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1520" y="5669280"/>
            <a:ext cx="10424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1520" y="566928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96112" y="578815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Important: a “server” can be physical, virtual or cloud-hosted. The role matters more than the box.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Client/server architecture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Most business networks are built around clients requesting services from central systems.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2717321" cy="0"/>
          </a:xfrm>
          <a:prstGeom prst="line">
            <a:avLst/>
          </a:prstGeom>
          <a:noFill/>
          <a:ln w="19050">
            <a:solidFill>
              <a:srgbClr val="2368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2834640"/>
            <a:ext cx="2311879" cy="0"/>
          </a:xfrm>
          <a:prstGeom prst="line">
            <a:avLst/>
          </a:prstGeom>
          <a:noFill/>
          <a:ln w="19050">
            <a:solidFill>
              <a:srgbClr val="1E9E6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875520" y="3703320"/>
            <a:ext cx="0" cy="0"/>
          </a:xfrm>
          <a:prstGeom prst="line">
            <a:avLst/>
          </a:prstGeom>
          <a:noFill/>
          <a:ln w="19050">
            <a:solidFill>
              <a:srgbClr val="22C7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" y="200253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Client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07008" y="2514600"/>
            <a:ext cx="822960" cy="502920"/>
          </a:xfrm>
          <a:prstGeom prst="rect">
            <a:avLst/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07592" y="3090672"/>
            <a:ext cx="621792" cy="109728"/>
          </a:xfrm>
          <a:prstGeom prst="rect">
            <a:avLst/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User workstation</a:t>
            </a:r>
            <a:endParaRPr lang="en-GB" sz="14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or application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0" y="187452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85232" y="200253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service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15000" y="2432304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0B2336"/>
          </a:solidFill>
          <a:ln w="12700">
            <a:solidFill>
              <a:srgbClr val="0B2336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70448" y="2606040"/>
            <a:ext cx="694944" cy="54864"/>
          </a:xfrm>
          <a:prstGeom prst="rect">
            <a:avLst/>
          </a:prstGeom>
          <a:solidFill>
            <a:srgbClr val="28B7FF"/>
          </a:solidFill>
          <a:ln w="12700">
            <a:solidFill>
              <a:srgbClr val="28B7F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0448" y="2871216"/>
            <a:ext cx="694944" cy="54864"/>
          </a:xfrm>
          <a:prstGeom prst="rect">
            <a:avLst/>
          </a:prstGeom>
          <a:solidFill>
            <a:srgbClr val="28B7FF"/>
          </a:solidFill>
          <a:ln w="12700">
            <a:solidFill>
              <a:srgbClr val="28B7F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70448" y="3136392"/>
            <a:ext cx="694944" cy="54864"/>
          </a:xfrm>
          <a:prstGeom prst="rect">
            <a:avLst/>
          </a:prstGeom>
          <a:solidFill>
            <a:srgbClr val="28B7FF"/>
          </a:solidFill>
          <a:ln w="12700">
            <a:solidFill>
              <a:srgbClr val="28B7FF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35295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DNS, files, identity,</a:t>
            </a:r>
            <a:endParaRPr lang="en-GB" sz="14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web or database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92640" y="18745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57232" y="200253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Result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1268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Allowed response,</a:t>
            </a:r>
            <a:endParaRPr lang="en-GB" sz="14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denied request,</a:t>
            </a:r>
            <a:endParaRPr lang="en-GB" sz="1400" noProof="0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or logged event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C75B12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Typical flow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" y="4892040"/>
            <a:ext cx="6949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r>
              <a:rPr lang="en-GB" sz="128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1. Client sends a request.</a:t>
            </a:r>
            <a:br>
              <a:rPr lang="en-GB" sz="128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</a:br>
            <a:endParaRPr lang="en-GB" sz="1280" noProof="0" dirty="0">
              <a:latin typeface="Garamond" panose="02020404030301010803" pitchFamily="18" charset="0"/>
            </a:endParaRPr>
          </a:p>
          <a:p>
            <a:r>
              <a:rPr lang="en-GB" sz="128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2. Server checks identity, permissions, policy and service state.</a:t>
            </a:r>
            <a:br>
              <a:rPr lang="en-GB" sz="128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</a:br>
            <a:endParaRPr lang="en-GB" sz="1280" noProof="0" dirty="0">
              <a:latin typeface="Garamond" panose="02020404030301010803" pitchFamily="18" charset="0"/>
            </a:endParaRPr>
          </a:p>
          <a:p>
            <a:r>
              <a:rPr lang="en-GB" sz="128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3. Server responds and records useful log evidence.</a:t>
            </a:r>
            <a:endParaRPr lang="en-GB" sz="1280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85800" y="5989320"/>
            <a:ext cx="9692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5800" y="598932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" y="6108192"/>
            <a:ext cx="9464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 question: should this request be allowed, blocked, limited, logged or investigated?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Server operating systems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OS is built to host services, enforce policy and support remote administration.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3794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a_high_detail_isometric_3d_cyber_it_operations_das.png"/>
          <p:cNvPicPr>
            <a:picLocks noChangeAspect="1"/>
          </p:cNvPicPr>
          <p:nvPr/>
        </p:nvPicPr>
        <p:blipFill>
          <a:blip r:embed="rId3"/>
          <a:srcRect l="13292" r="13292"/>
          <a:stretch/>
        </p:blipFill>
        <p:spPr>
          <a:xfrm>
            <a:off x="7626096" y="1453896"/>
            <a:ext cx="3721608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00200"/>
            <a:ext cx="64922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35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Roles and features allow the same OS to act as a domain controller, DNS server, DHCP server, file server, web server, certificate authority or virtualisation host.</a:t>
            </a:r>
          </a:p>
          <a:p>
            <a:endParaRPr lang="en-GB" sz="1350" noProof="0" dirty="0">
              <a:latin typeface="Garamond" panose="02020404030301010803" pitchFamily="18" charset="0"/>
            </a:endParaRPr>
          </a:p>
          <a:p>
            <a:r>
              <a:rPr lang="en-GB" sz="135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Services run in the background and should be configured to start, stop, log and recover predictably.</a:t>
            </a:r>
          </a:p>
          <a:p>
            <a:endParaRPr lang="en-GB" sz="1350" noProof="0" dirty="0">
              <a:latin typeface="Garamond" panose="02020404030301010803" pitchFamily="18" charset="0"/>
            </a:endParaRPr>
          </a:p>
          <a:p>
            <a:r>
              <a:rPr lang="en-GB" sz="135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Remote management is normal, so firewall rules, trusted credentials and encrypted protocols matter.</a:t>
            </a:r>
          </a:p>
          <a:p>
            <a:endParaRPr lang="en-GB" sz="1350" noProof="0" dirty="0">
              <a:latin typeface="Garamond" panose="02020404030301010803" pitchFamily="18" charset="0"/>
            </a:endParaRPr>
          </a:p>
          <a:p>
            <a:r>
              <a:rPr lang="en-GB" sz="135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Logs, updates, scheduled tasks and baselines are part of the operating system’s security lifecycle.</a:t>
            </a:r>
            <a:endParaRPr lang="en-GB" sz="135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" y="4572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" y="47000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Desktop OS focus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8680" y="4956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Interactive user experience, local apps and personal productivity.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77640" y="4572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42232" y="47000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OS focus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60520" y="4956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 reliability, remote administration, roles, logs and central security.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Workgroup vs centrally managed infrastructure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Freeman Industries is moving from inconsistent local control to centralised, auditable management.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D94B4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Workgroup-style environment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191109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Problems this often creates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148839"/>
            <a:ext cx="4480560" cy="16036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Local accounts are managed separately on each machine.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Password settings and administrator access are inconsistent.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is difficult to disable a leaver everywhere.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Support actions can be hard to audit.</a:t>
            </a:r>
            <a:endParaRPr lang="en-GB" sz="126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1E9E61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Domain-managed environment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56832" y="191109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Improvements when designed well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0" y="2148840"/>
            <a:ext cx="4480560" cy="16036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Central identity and authentication.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Group Policy for users and computers.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Role-based access and delegated administration.</a:t>
            </a:r>
          </a:p>
          <a:p>
            <a:endParaRPr lang="en-GB" sz="1260" noProof="0" dirty="0">
              <a:latin typeface="Garamond" panose="02020404030301010803" pitchFamily="18" charset="0"/>
            </a:endParaRPr>
          </a:p>
          <a:p>
            <a:r>
              <a:rPr lang="en-GB" sz="126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Consistent logging, review and account lifecycle control.</a:t>
            </a:r>
            <a:endParaRPr lang="en-GB" sz="126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97880" y="2743200"/>
            <a:ext cx="457200" cy="0"/>
          </a:xfrm>
          <a:prstGeom prst="line">
            <a:avLst/>
          </a:prstGeom>
          <a:noFill/>
          <a:ln w="19050">
            <a:solidFill>
              <a:srgbClr val="C75B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4754880"/>
            <a:ext cx="10241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475488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8992" y="4873752"/>
            <a:ext cx="10012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Central management does not automatically make a network secure. It gives administrators better controls to design, apply, test and review.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Common server roles in this project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Each role provides a different business service and creates different security responsibilities.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2368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416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416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Identity, authentication and directory structure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22C7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2C7B8"/>
          </a:solidFill>
          <a:ln w="12700">
            <a:solidFill>
              <a:srgbClr val="22C7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6772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DNS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6772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Name resolution and service location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" y="253288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250545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DHCP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4168" y="271576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Managed IP addressing and options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3774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9088" y="253288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67728" y="250545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File Services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67728" y="271576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Shared data, permissions and auditing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33375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2368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5528" y="349300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44168" y="346557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IIS / Web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44168" y="367588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Application hosting, bindings and logs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09360" y="33375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22C7B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19088" y="349300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22C7B8"/>
          </a:solidFill>
          <a:ln w="12700">
            <a:solidFill>
              <a:srgbClr val="22C7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67728" y="346557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PKI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67728" y="367588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Certificates, trust and encrypted services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5800" y="42976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95528" y="44531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44168" y="442569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Hyper-V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344168" y="46360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Virtual machines and isolated networks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09360" y="42976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8FBFF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19088" y="44531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67728" y="442569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Monitoring / Backup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67728" y="46360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Maintenance, recovery and assurance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1520" y="5623560"/>
            <a:ext cx="9692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1520" y="562356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6112" y="5742431"/>
            <a:ext cx="9464040" cy="28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 question: which services should be together, separated, replicated or protected more heavily?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Physical, virtual and cloud-hosted servers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same service can be delivered through different infrastructure models.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0" y="1325880"/>
            <a:ext cx="4114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week01_media/image-7-1.png"/>
          <p:cNvPicPr>
            <a:picLocks noChangeAspect="1"/>
          </p:cNvPicPr>
          <p:nvPr/>
        </p:nvPicPr>
        <p:blipFill>
          <a:blip r:embed="rId3"/>
          <a:srcRect l="11964" r="11964"/>
          <a:stretch/>
        </p:blipFill>
        <p:spPr>
          <a:xfrm>
            <a:off x="7351776" y="1362456"/>
            <a:ext cx="4041648" cy="2990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41732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0392" y="1545336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Physical server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Dedicated hardware. Clear boundaries, but hardware failure affects services unless resilience is planned.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85800" y="265176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0392" y="2779776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Virtual machine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30175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server running on a hypervisor. Easy to test, copy and recover, but depends on host security and storage.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85800" y="3886200"/>
            <a:ext cx="5806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0392" y="4014216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Cloud-hosted service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" y="4251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Runs on someone else’s platform. Scales well, but still needs identity, access, configuration and monitoring.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1520" y="5394960"/>
            <a:ext cx="10332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31520" y="539496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96112" y="551383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Virtualisation is useful for learning because it lets you build a realistic server estate without changing the real college network.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The safe virtual lab environment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All practical server work must stay inside an isolated lab environment.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week01_media/image-14-1.png"/>
          <p:cNvPicPr>
            <a:picLocks noChangeAspect="1"/>
          </p:cNvPicPr>
          <p:nvPr/>
        </p:nvPicPr>
        <p:blipFill>
          <a:blip r:embed="rId3"/>
          <a:srcRect l="14645" r="14645"/>
          <a:stretch/>
        </p:blipFill>
        <p:spPr>
          <a:xfrm>
            <a:off x="7580376" y="1453896"/>
            <a:ext cx="3584448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45920"/>
            <a:ext cx="64922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isolated virtual networks so testing does not affect real users or production systems.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the project namespace corp.freemanindustries.com for the domain and server names.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Save virtual machines and virtual-lab files to your own personal SSD, not to college computer drives.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fictional users, test files and lab-only credentials. Never capture passwords, private keys or recovery keys in documentation.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7552" y="4700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Internal virtual switch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05840" y="4919472"/>
            <a:ext cx="2331720" cy="40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Used for systems that should only communicate inside the lab.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86200" y="45720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50792" y="470001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External access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69080" y="4919472"/>
            <a:ext cx="2331720" cy="40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with care. Decide exactly what traffic should leave the lab.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Secure infrastructure design mindset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 is not one feature. It is a chain of design decisions.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1920240" cy="1920240"/>
          </a:xfrm>
          <a:prstGeom prst="ellipse">
            <a:avLst/>
          </a:prstGeom>
          <a:solidFill>
            <a:srgbClr val="2368B8">
              <a:alpha val="88000"/>
            </a:srgbClr>
          </a:solidFill>
          <a:ln w="1524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43584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Confidentiality</a:t>
            </a:r>
            <a:endParaRPr lang="en-GB" sz="1400" b="1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25880" y="2404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EAF2F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Only authorised access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1920240" cy="1920240"/>
          </a:xfrm>
          <a:prstGeom prst="ellipse">
            <a:avLst/>
          </a:prstGeom>
          <a:solidFill>
            <a:srgbClr val="C75B12">
              <a:alpha val="88000"/>
            </a:srgbClr>
          </a:solidFill>
          <a:ln w="1524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92624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Integrity</a:t>
            </a:r>
            <a:endParaRPr lang="en-GB" sz="1400" b="1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920" y="2404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EAF2F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Accurate and trusted data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95360" y="1554480"/>
            <a:ext cx="1920240" cy="1920240"/>
          </a:xfrm>
          <a:prstGeom prst="ellipse">
            <a:avLst/>
          </a:prstGeom>
          <a:solidFill>
            <a:srgbClr val="1E9E61">
              <a:alpha val="88000"/>
            </a:srgbClr>
          </a:solidFill>
          <a:ln w="1524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41664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Availability</a:t>
            </a:r>
            <a:endParaRPr lang="en-GB" sz="1400" b="1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3960" y="2404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EAF2F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Services work when needed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10241280" cy="2414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Reduce attack surface by removing unnecessary roles, protocols, permissions and exposure.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Separate roles so that compromise of one service does not automatically compromise everything.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least privilege for users, administrators, service accounts and delegated tasks.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Build defence in depth so monitoring, permissions, backups and network boundaries work together.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The layered view of a secure server estate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resilient design has several controls, not a single “security box”.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368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159105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Users and endpoints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9842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Standard accounts, patching, device policies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75B1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99432" y="159105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Identity and policy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19842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DS, groups, OU design, GPOs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463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9E6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48472" y="159105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Network services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66760" y="19842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DNS, DHCP, routing, segmentation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368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392" y="346557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roles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3858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File, web, PKI, monitoring, Hyper-V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34840" y="33375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75B1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99432" y="346557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Data and recovery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17720" y="3858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Permissions, quotas, backups, restore tests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83880" y="33375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9E6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48472" y="346557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Operations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6760" y="38587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Logs, change control, incident response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" y="5742431"/>
            <a:ext cx="10378440" cy="28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strong design assumes that one control may fail and plans how the next layer will limit damage.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Freeman Industries scenario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scenario provides business context for design decisions throughout the unit.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06640" y="1371600"/>
            <a:ext cx="38862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a_wide_cinematic_high_tech_classroom_operations_c.png"/>
          <p:cNvPicPr>
            <a:picLocks noChangeAspect="1"/>
          </p:cNvPicPr>
          <p:nvPr/>
        </p:nvPicPr>
        <p:blipFill>
          <a:blip r:embed="rId3"/>
          <a:srcRect l="12983" r="12983"/>
          <a:stretch/>
        </p:blipFill>
        <p:spPr>
          <a:xfrm>
            <a:off x="7443216" y="1408176"/>
            <a:ext cx="3813048" cy="28986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00200"/>
            <a:ext cx="64008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Freeman Industries is a growing Scottish engineering and technology company based in Livingston.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 designs specialist products, supports business customers and operates a small customer information website.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company has approximately 75 staff and is expected to grow to around 100 staff over the next two years.</a:t>
            </a:r>
          </a:p>
          <a:p>
            <a:endParaRPr lang="en-GB" sz="1200" noProof="0" dirty="0">
              <a:latin typeface="Garamond" panose="02020404030301010803" pitchFamily="18" charset="0"/>
            </a:endParaRPr>
          </a:p>
          <a:p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David Freeman, IT Manager, needs a secure Windows Server 2025 infrastructure tested inside an isolated virtual lab.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4800600"/>
            <a:ext cx="10241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480060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4919472"/>
            <a:ext cx="1001268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scenario deliberately gives requirements, not a single fixed build. Professional choices must be justified.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Business departments create different security needs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Access should reflect job role, business requirement and sensitivity of data.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Executive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8138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26080" y="1481328"/>
            <a:ext cx="7680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Management reports, confidential information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19659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1671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Finance / HR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0" y="2057400"/>
            <a:ext cx="81381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2167128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Restricted personnel and financial records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274320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28529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Engineering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0" y="2743200"/>
            <a:ext cx="8138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26080" y="2852928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Large project files, controlled software, reliable storage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7240" y="3429000"/>
            <a:ext cx="19659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Sales / Customer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0" y="3429000"/>
            <a:ext cx="81381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26080" y="3538728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Shared customer documents and website access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4114800"/>
            <a:ext cx="1965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42245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Operations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0" y="4114800"/>
            <a:ext cx="8138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26080" y="4224527"/>
            <a:ext cx="7680960" cy="208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Operational records and limited workstation privileges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77240" y="4800600"/>
            <a:ext cx="19659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491032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0" y="4800600"/>
            <a:ext cx="81381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CBD8E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26080" y="4910327"/>
            <a:ext cx="7680960" cy="18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Tiered administration, monitoring and recovery access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77240" y="5715000"/>
            <a:ext cx="9966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71500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41832" y="5833871"/>
            <a:ext cx="9738360" cy="2806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Good infrastructure design converts business structure into groups, permissions, policies and documentation.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Current risk picture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Every identified problem should become a design requirement or control.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416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Local accounts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416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Weak accountability and inconsistent passwords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6772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Shared admin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6772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No clear audit trail and excessive privilege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2560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" y="2715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2688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Flat network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4168" y="2898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Compromise can spread more easily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560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9088" y="2715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67728" y="2688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Uncontrolled files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67728" y="2898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Permissions and recovery become unreliable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3703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5528" y="3858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44168" y="3831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Irregular backups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44168" y="4041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Restore may fail when needed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09360" y="3703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4B4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19088" y="3858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67728" y="3831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Weak documentation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67728" y="4041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Unsafe changes and information leakage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1520" y="539496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" y="539496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6112" y="5513832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Risk thinking: What can go wrong? How likely is it? What is the impact? What control reduces the risk?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From business requirements to technical requirements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requirements register helps turn vague problems into testable design decisions.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0789920" cy="32004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Need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66160" y="14813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Risk if ignored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3640" y="14813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Likely control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0" y="148132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FFFFFF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How to test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1837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Central logon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66160" y="1837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Accounts remain inconsistent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837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AD DS with clear naming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0" y="1837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Join client and authenticate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2468880"/>
            <a:ext cx="10789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Reliable names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6616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Services become hard to find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DNS zones and records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Forward/reverse lookups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5800" y="32461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3392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Controlled software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66160" y="3392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Malware and support risk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3392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GPO/application control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961120" y="3392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Attempt standard-user install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5800" y="4023360"/>
            <a:ext cx="10789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CBD8E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4169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Protected files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66160" y="4169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Sensitive data exposure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4169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Group-based permissions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61120" y="4169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Positive/negative access tests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5532120"/>
            <a:ext cx="10469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5800" y="553212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392" y="5650991"/>
            <a:ext cx="10241280" cy="27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At HND level, a setting is stronger evidence when it is linked to a requirement and supported by a test result.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Professional documentation and technical evidence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Documentation is part of secure administration, not an afterthought.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749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week01_media/image-11-1.png"/>
          <p:cNvPicPr>
            <a:picLocks noChangeAspect="1"/>
          </p:cNvPicPr>
          <p:nvPr/>
        </p:nvPicPr>
        <p:blipFill>
          <a:blip r:embed="rId3"/>
          <a:srcRect l="13152" r="13152"/>
          <a:stretch/>
        </p:blipFill>
        <p:spPr>
          <a:xfrm>
            <a:off x="7671816" y="1453896"/>
            <a:ext cx="3675888" cy="2807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00200"/>
            <a:ext cx="64922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3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Record what was changed, why it was changed, who or what account performed the change and how it was tested.</a:t>
            </a:r>
          </a:p>
          <a:p>
            <a:endParaRPr lang="en-GB" sz="1320" noProof="0" dirty="0">
              <a:latin typeface="Garamond" panose="02020404030301010803" pitchFamily="18" charset="0"/>
            </a:endParaRPr>
          </a:p>
          <a:p>
            <a:r>
              <a:rPr lang="en-GB" sz="13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diagrams, naming standards, configuration records, scripts, logs and clear explanations.</a:t>
            </a:r>
          </a:p>
          <a:p>
            <a:endParaRPr lang="en-GB" sz="1320" noProof="0" dirty="0">
              <a:latin typeface="Garamond" panose="02020404030301010803" pitchFamily="18" charset="0"/>
            </a:endParaRPr>
          </a:p>
          <a:p>
            <a:r>
              <a:rPr lang="en-GB" sz="13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Screenshots are useful only when annotated and linked to a decision, configuration or test result.</a:t>
            </a:r>
          </a:p>
          <a:p>
            <a:endParaRPr lang="en-GB" sz="1320" noProof="0" dirty="0">
              <a:latin typeface="Garamond" panose="02020404030301010803" pitchFamily="18" charset="0"/>
            </a:endParaRPr>
          </a:p>
          <a:p>
            <a:r>
              <a:rPr lang="en-GB" sz="132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Store sensitive technical documentation securely and avoid capturing passwords, private keys, recovery keys or real personal data.</a:t>
            </a:r>
            <a:endParaRPr lang="en-GB" sz="132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5074920"/>
            <a:ext cx="10332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507492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5193792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Good evidence lets another administrator understand, reproduce and safely maintain the environment.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Ethics, boundaries and professional responsibility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 secure lab must be treated as though it contained real business systems.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552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416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Lab boundary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416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Do not scan, test or reconfigure the college production network.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67728" y="154533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Test data only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67728" y="175564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fictional accounts and files. Keep real personal or business data out of the lab.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C75B1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528" y="26243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259689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Secrets stay secret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4168" y="28072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Do not record passwords, private keys, recovery keys or live credentials.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EF7F2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9088" y="262432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67728" y="259689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Least privilege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67728" y="280720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the minimum access required and keep standard and elevated use separate.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35204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EF7F2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5528" y="367588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44168" y="364845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Accountability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44168" y="385876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Record meaningful changes and use named accounts wherever possible.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09360" y="35204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EEF7F2"/>
          </a:solidFill>
          <a:ln w="12700">
            <a:solidFill>
              <a:srgbClr val="1E9E6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19088" y="3675888"/>
            <a:ext cx="438912" cy="402336"/>
          </a:xfrm>
          <a:prstGeom prst="roundRect">
            <a:avLst>
              <a:gd name="adj" fmla="val 13636"/>
            </a:avLst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67728" y="3648456"/>
            <a:ext cx="4343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Careful communication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67728" y="385876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Explain risks without exposing sensitive technical details unnecessarily.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1520" y="5577840"/>
            <a:ext cx="10332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" y="557784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6112" y="5696711"/>
            <a:ext cx="10104120" cy="2607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 professionalism is shown by what you avoid doing as much as by what you configure.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Thinking at SCQF Level 8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Level 8 work involves explanation, judgement and evaluation.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482897"/>
            <a:ext cx="411480" cy="411480"/>
          </a:xfrm>
          <a:prstGeom prst="ellipse">
            <a:avLst/>
          </a:prstGeom>
          <a:solidFill>
            <a:srgbClr val="2368B8"/>
          </a:solidFill>
          <a:ln w="12700">
            <a:solidFill>
              <a:srgbClr val="2368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546905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Describe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0" y="1546905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Explain the scope and main features of the technology.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305857"/>
            <a:ext cx="411480" cy="411480"/>
          </a:xfrm>
          <a:prstGeom prst="ellipse">
            <a:avLst/>
          </a:prstGeom>
          <a:solidFill>
            <a:srgbClr val="1E9E61"/>
          </a:solidFill>
          <a:ln w="12700">
            <a:solidFill>
              <a:srgbClr val="1E9E61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2369865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Apply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63240" y="2369865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Use professional tools and techniques in a realistic scenario.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128817"/>
            <a:ext cx="411480" cy="411480"/>
          </a:xfrm>
          <a:prstGeom prst="ellipse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17320" y="3192825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Justify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63240" y="3192825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Give reasons for design choices and alternatives.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951777"/>
            <a:ext cx="411480" cy="411480"/>
          </a:xfrm>
          <a:prstGeom prst="ellipse">
            <a:avLst/>
          </a:prstGeom>
          <a:solidFill>
            <a:srgbClr val="22C7B8"/>
          </a:solidFill>
          <a:ln w="12700">
            <a:solidFill>
              <a:srgbClr val="22C7B8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320" y="4015785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Evaluate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63240" y="4015785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Test, interpret results and identify limitations or residual risk.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" y="4774737"/>
            <a:ext cx="411480" cy="411480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4838745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Communicate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63240" y="4838745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Present complex information clearly to technical and non-technical audiences.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5760720"/>
            <a:ext cx="9966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960" y="576072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" y="5879592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Aim for professional reasoning: “I chose this because… I tested it by… The limitation is…”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Week 1 concept map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The first week connects business context to the technical work that follows.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368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Scenario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280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2368B8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172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5B1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9631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Risks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What could go wrong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872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C75B12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7764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9E6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4223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Roles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6908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Services needed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8464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1E9E61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2356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2C7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8815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1500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Decisions and controls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3056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22C7B8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6948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368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3407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Build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23976" y="24048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Implementation choices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7648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2368B8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91540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5B1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7999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Test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0684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Evidence and assurance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122408" y="222199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500" b="1" noProof="0" dirty="0">
                <a:solidFill>
                  <a:srgbClr val="C75B12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GB" sz="1500" noProof="0" dirty="0">
              <a:latin typeface="Garamond" panose="020204040303010108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561320" y="196596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9E6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725912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Maintain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652760" y="2404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Ongoing security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68680" y="3749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33272" y="387705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Understand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10857" y="414223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Analyse the organisation, users, risks and operating constraints.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0" y="3749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36592" y="387705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Design and configure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82312" y="413308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Select services, placements and controls that match the business need.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75320" y="3749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8E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39912" y="387705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4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Prove and maintain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485632" y="413308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Test expected and blocked behaviour, then document maintenance decisions.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" y="5623560"/>
            <a:ext cx="10287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68680" y="562356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33272" y="57424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Server administration is a cycle: understand the business, design controls, configure systems, prove the result and keep improving.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20624"/>
            <a:ext cx="12191695" cy="457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2100" b="1" noProof="0" dirty="0">
                <a:solidFill>
                  <a:srgbClr val="071827"/>
                </a:solidFill>
                <a:latin typeface="Garamond" panose="02020404030301010803" pitchFamily="18" charset="0"/>
                <a:ea typeface="Aptos Display" pitchFamily="34" charset="-122"/>
                <a:cs typeface="Aptos Display" pitchFamily="34" charset="-120"/>
              </a:rPr>
              <a:t>Moving into Week 2</a:t>
            </a:r>
            <a:endParaRPr lang="en-GB" sz="2100" noProof="0" dirty="0">
              <a:latin typeface="Garamond" panose="020204040303010108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5156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64748B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Next, the focus moves from foundation knowledge to secure infrastructure design and server placement.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3657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pic>
        <p:nvPicPr>
          <p:cNvPr id="8" name="Image 0" descr="/mnt/data/week01_media/image-18-1.png"/>
          <p:cNvPicPr>
            <a:picLocks noChangeAspect="1"/>
          </p:cNvPicPr>
          <p:nvPr/>
        </p:nvPicPr>
        <p:blipFill>
          <a:blip r:embed="rId3"/>
          <a:srcRect l="13474" r="13474"/>
          <a:stretch/>
        </p:blipFill>
        <p:spPr>
          <a:xfrm>
            <a:off x="7626096" y="1453896"/>
            <a:ext cx="3584448" cy="2761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91640"/>
            <a:ext cx="64922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Security-by-design and the CIA triad in infrastructure planning.</a:t>
            </a:r>
          </a:p>
          <a:p>
            <a:endParaRPr lang="en-GB" sz="1400" noProof="0" dirty="0">
              <a:latin typeface="Garamond" panose="02020404030301010803" pitchFamily="18" charset="0"/>
            </a:endParaRPr>
          </a:p>
          <a:p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Physical and logical server placement decisions.</a:t>
            </a:r>
          </a:p>
          <a:p>
            <a:endParaRPr lang="en-GB" sz="1400" noProof="0" dirty="0">
              <a:latin typeface="Garamond" panose="02020404030301010803" pitchFamily="18" charset="0"/>
            </a:endParaRPr>
          </a:p>
          <a:p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Network segmentation, perimeter concepts and attack surface reduction.</a:t>
            </a:r>
          </a:p>
          <a:p>
            <a:endParaRPr lang="en-GB" sz="1400" noProof="0" dirty="0">
              <a:latin typeface="Garamond" panose="02020404030301010803" pitchFamily="18" charset="0"/>
            </a:endParaRPr>
          </a:p>
          <a:p>
            <a:r>
              <a:rPr lang="en-GB" sz="14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First version of the Freeman Industries server estate, risk register and placement rationale.</a:t>
            </a:r>
            <a:endParaRPr lang="en-GB" sz="1400" noProof="0" dirty="0">
              <a:latin typeface="Garamond" panose="020204040303010108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4892040"/>
            <a:ext cx="10241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4892040"/>
            <a:ext cx="73152" cy="502920"/>
          </a:xfrm>
          <a:prstGeom prst="rect">
            <a:avLst/>
          </a:prstGeom>
          <a:solidFill>
            <a:srgbClr val="C75B12"/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GB" noProof="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5010912"/>
            <a:ext cx="10012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GB" sz="1200" noProof="0" dirty="0">
                <a:solidFill>
                  <a:srgbClr val="253246"/>
                </a:solidFill>
                <a:latin typeface="Garamond" panose="02020404030301010803" pitchFamily="18" charset="0"/>
                <a:ea typeface="Aptos" pitchFamily="34" charset="-122"/>
                <a:cs typeface="Aptos" pitchFamily="34" charset="-120"/>
              </a:rPr>
              <a:t>Keep thinking like a professional administrator: every placement decision should have a security and operational reason.</a:t>
            </a:r>
            <a:endParaRPr lang="en-GB" sz="1200" noProof="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2133</Words>
  <Application>Microsoft Office PowerPoint</Application>
  <PresentationFormat>Widescreen</PresentationFormat>
  <Paragraphs>339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 Lothian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01 - Introduction</dc:title>
  <dc:subject>J27P 35 | Server Administration for Cyber Security | SCQF Level 8</dc:subject>
  <dc:creator>Ross Tunnicliffe</dc:creator>
  <cp:lastModifiedBy>Ross Tunnicliffe</cp:lastModifiedBy>
  <cp:revision>10</cp:revision>
  <dcterms:created xsi:type="dcterms:W3CDTF">2026-07-02T13:12:39Z</dcterms:created>
  <dcterms:modified xsi:type="dcterms:W3CDTF">2026-08-01T14:10:45Z</dcterms:modified>
</cp:coreProperties>
</file>