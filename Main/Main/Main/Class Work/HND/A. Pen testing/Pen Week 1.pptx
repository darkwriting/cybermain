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4"/>
  </p:notesMasterIdLst>
  <p:handoutMasterIdLst>
    <p:handoutMasterId r:id="rId25"/>
  </p:handoutMasterIdLst>
  <p:sldIdLst>
    <p:sldId id="256" r:id="rId5"/>
    <p:sldId id="257" r:id="rId6"/>
    <p:sldId id="258" r:id="rId7"/>
    <p:sldId id="259" r:id="rId8"/>
    <p:sldId id="261" r:id="rId9"/>
    <p:sldId id="262" r:id="rId10"/>
    <p:sldId id="265" r:id="rId11"/>
    <p:sldId id="267" r:id="rId12"/>
    <p:sldId id="268" r:id="rId13"/>
    <p:sldId id="269" r:id="rId14"/>
    <p:sldId id="270" r:id="rId15"/>
    <p:sldId id="271" r:id="rId16"/>
    <p:sldId id="272" r:id="rId17"/>
    <p:sldId id="273" r:id="rId18"/>
    <p:sldId id="274" r:id="rId19"/>
    <p:sldId id="276" r:id="rId20"/>
    <p:sldId id="277" r:id="rId21"/>
    <p:sldId id="278" r:id="rId22"/>
    <p:sldId id="260" r:id="rId23"/>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33" autoAdjust="0"/>
    <p:restoredTop sz="94648" autoAdjust="0"/>
  </p:normalViewPr>
  <p:slideViewPr>
    <p:cSldViewPr snapToGrid="0">
      <p:cViewPr varScale="1">
        <p:scale>
          <a:sx n="79" d="100"/>
          <a:sy n="79" d="100"/>
        </p:scale>
        <p:origin x="619" y="72"/>
      </p:cViewPr>
      <p:guideLst/>
    </p:cSldViewPr>
  </p:slideViewPr>
  <p:notesTextViewPr>
    <p:cViewPr>
      <p:scale>
        <a:sx n="1" d="1"/>
        <a:sy n="1" d="1"/>
      </p:scale>
      <p:origin x="0" y="0"/>
    </p:cViewPr>
  </p:notesTextViewPr>
  <p:notesViewPr>
    <p:cSldViewPr snapToGrid="0">
      <p:cViewPr varScale="1">
        <p:scale>
          <a:sx n="89" d="100"/>
          <a:sy n="89" d="100"/>
        </p:scale>
        <p:origin x="378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B7AE42-9966-454B-AE61-33561B8478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29D10DF-3446-4A6E-87C5-D3D5079E2F9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3C6EB4-708D-49DB-8150-98B808649F61}" type="datetime1">
              <a:rPr lang="en-GB" smtClean="0"/>
              <a:t>25/08/2024</a:t>
            </a:fld>
            <a:endParaRPr lang="en-GB"/>
          </a:p>
        </p:txBody>
      </p:sp>
      <p:sp>
        <p:nvSpPr>
          <p:cNvPr id="4" name="Footer Placeholder 3">
            <a:extLst>
              <a:ext uri="{FF2B5EF4-FFF2-40B4-BE49-F238E27FC236}">
                <a16:creationId xmlns:a16="http://schemas.microsoft.com/office/drawing/2014/main" id="{E15D3571-CF4C-42E0-820E-9F5FA706F5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DD6A7D2-0193-4DF6-A173-F4A7E0DCBD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277BB6-1717-40CC-88C2-EC11E63011DB}" type="slidenum">
              <a:rPr lang="en-GB" smtClean="0"/>
              <a:t>‹#›</a:t>
            </a:fld>
            <a:endParaRPr lang="en-GB"/>
          </a:p>
        </p:txBody>
      </p:sp>
    </p:spTree>
    <p:extLst>
      <p:ext uri="{BB962C8B-B14F-4D97-AF65-F5344CB8AC3E}">
        <p14:creationId xmlns:p14="http://schemas.microsoft.com/office/powerpoint/2010/main" val="2442398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90089-21A2-4CCB-ACDC-00A9E1B89951}" type="datetime1">
              <a:rPr lang="en-GB" noProof="0" smtClean="0"/>
              <a:t>25/08/2024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EB83-F3B6-4F57-BF6B-C140FF7219F8}" type="slidenum">
              <a:rPr lang="en-GB" noProof="0" smtClean="0"/>
              <a:t>‹#›</a:t>
            </a:fld>
            <a:endParaRPr lang="en-GB" noProof="0"/>
          </a:p>
        </p:txBody>
      </p:sp>
    </p:spTree>
    <p:extLst>
      <p:ext uri="{BB962C8B-B14F-4D97-AF65-F5344CB8AC3E}">
        <p14:creationId xmlns:p14="http://schemas.microsoft.com/office/powerpoint/2010/main" val="36590857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DFAEB83-F3B6-4F57-BF6B-C140FF7219F8}" type="slidenum">
              <a:rPr lang="en-GB" smtClean="0"/>
              <a:t>1</a:t>
            </a:fld>
            <a:endParaRPr lang="en-GB"/>
          </a:p>
        </p:txBody>
      </p:sp>
    </p:spTree>
    <p:extLst>
      <p:ext uri="{BB962C8B-B14F-4D97-AF65-F5344CB8AC3E}">
        <p14:creationId xmlns:p14="http://schemas.microsoft.com/office/powerpoint/2010/main" val="409349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FAEB83-F3B6-4F57-BF6B-C140FF7219F8}" type="slidenum">
              <a:rPr lang="en-GB" noProof="0" smtClean="0"/>
              <a:t>8</a:t>
            </a:fld>
            <a:endParaRPr lang="en-GB" noProof="0"/>
          </a:p>
        </p:txBody>
      </p:sp>
    </p:spTree>
    <p:extLst>
      <p:ext uri="{BB962C8B-B14F-4D97-AF65-F5344CB8AC3E}">
        <p14:creationId xmlns:p14="http://schemas.microsoft.com/office/powerpoint/2010/main" val="3416404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DFAEB83-F3B6-4F57-BF6B-C140FF7219F8}" type="slidenum">
              <a:rPr lang="en-GB" smtClean="0"/>
              <a:t>19</a:t>
            </a:fld>
            <a:endParaRPr lang="en-GB"/>
          </a:p>
        </p:txBody>
      </p:sp>
    </p:spTree>
    <p:extLst>
      <p:ext uri="{BB962C8B-B14F-4D97-AF65-F5344CB8AC3E}">
        <p14:creationId xmlns:p14="http://schemas.microsoft.com/office/powerpoint/2010/main" val="395441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noProof="0"/>
              <a:t>Click to edit Master subtitle style</a:t>
            </a:r>
            <a:endParaRPr lang="en-GB" noProof="0"/>
          </a:p>
        </p:txBody>
      </p:sp>
      <p:sp>
        <p:nvSpPr>
          <p:cNvPr id="4" name="Date Placeholder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A931DB65-6916-4097-ADBF-CF31AF687306}" type="datetime1">
              <a:rPr lang="en-GB" noProof="0" smtClean="0"/>
              <a:t>25/08/2024</a:t>
            </a:fld>
            <a:endParaRPr lang="en-GB" noProof="0"/>
          </a:p>
        </p:txBody>
      </p:sp>
      <p:sp>
        <p:nvSpPr>
          <p:cNvPr id="5" name="Footer Placeholder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Content Placeholder 2"/>
          <p:cNvSpPr>
            <a:spLocks noGrp="1"/>
          </p:cNvSpPr>
          <p:nvPr>
            <p:ph idx="1"/>
          </p:nvPr>
        </p:nvSpPr>
        <p:spPr>
          <a:xfrm>
            <a:off x="581192" y="2180496"/>
            <a:ext cx="11029615" cy="3678303"/>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8B3B58C2-D057-4009-9B41-927D01CCFE45}" type="datetime1">
              <a:rPr lang="en-GB" noProof="0" smtClean="0"/>
              <a:t>25/08/2024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n-US" noProof="0"/>
              <a:t>Click to edit Master title style</a:t>
            </a:r>
            <a:endParaRPr lang="en-GB" noProof="0"/>
          </a:p>
        </p:txBody>
      </p:sp>
      <p:sp>
        <p:nvSpPr>
          <p:cNvPr id="3" name="Text Placeholder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4" name="Date Placeholder 3"/>
          <p:cNvSpPr>
            <a:spLocks noGrp="1"/>
          </p:cNvSpPr>
          <p:nvPr>
            <p:ph type="dt" sz="half" idx="10"/>
          </p:nvPr>
        </p:nvSpPr>
        <p:spPr/>
        <p:txBody>
          <a:bodyPr rtlCol="0"/>
          <a:lstStyle>
            <a:lvl1pPr>
              <a:defRPr>
                <a:solidFill>
                  <a:schemeClr val="accent1">
                    <a:lumMod val="75000"/>
                    <a:lumOff val="25000"/>
                  </a:schemeClr>
                </a:solidFill>
              </a:defRPr>
            </a:lvl1pPr>
          </a:lstStyle>
          <a:p>
            <a:pPr rtl="0"/>
            <a:fld id="{E358E1AA-DB2E-4D35-8009-15548E43663B}" type="datetime1">
              <a:rPr lang="en-GB" noProof="0" smtClean="0"/>
              <a:t>25/08/2024</a:t>
            </a:fld>
            <a:endParaRPr lang="en-GB" noProof="0"/>
          </a:p>
        </p:txBody>
      </p:sp>
      <p:sp>
        <p:nvSpPr>
          <p:cNvPr id="5" name="Footer Placeholder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Content Placeholder 2"/>
          <p:cNvSpPr>
            <a:spLocks noGrp="1"/>
          </p:cNvSpPr>
          <p:nvPr>
            <p:ph sz="half" idx="1"/>
          </p:nvPr>
        </p:nvSpPr>
        <p:spPr>
          <a:xfrm>
            <a:off x="581193" y="2228003"/>
            <a:ext cx="5422390" cy="3633047"/>
          </a:xfrm>
        </p:spPr>
        <p:txBody>
          <a:bodyPr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p:cNvSpPr>
            <a:spLocks noGrp="1"/>
          </p:cNvSpPr>
          <p:nvPr>
            <p:ph sz="half" idx="2"/>
          </p:nvPr>
        </p:nvSpPr>
        <p:spPr>
          <a:xfrm>
            <a:off x="6188417" y="2228003"/>
            <a:ext cx="5422392" cy="3633047"/>
          </a:xfrm>
        </p:spPr>
        <p:txBody>
          <a:bodyPr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Date Placeholder 4"/>
          <p:cNvSpPr>
            <a:spLocks noGrp="1"/>
          </p:cNvSpPr>
          <p:nvPr>
            <p:ph type="dt" sz="half" idx="10"/>
          </p:nvPr>
        </p:nvSpPr>
        <p:spPr/>
        <p:txBody>
          <a:bodyPr rtlCol="0"/>
          <a:lstStyle/>
          <a:p>
            <a:pPr rtl="0"/>
            <a:fld id="{888330EF-0828-4728-BF8A-E3CA17293BE3}" type="datetime1">
              <a:rPr lang="en-GB" noProof="0" smtClean="0"/>
              <a:t>25/08/2024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Text Placeholder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p:cNvSpPr>
            <a:spLocks noGrp="1"/>
          </p:cNvSpPr>
          <p:nvPr>
            <p:ph sz="half" idx="2"/>
          </p:nvPr>
        </p:nvSpPr>
        <p:spPr>
          <a:xfrm>
            <a:off x="581194" y="2926052"/>
            <a:ext cx="5393100" cy="2934999"/>
          </a:xfrm>
        </p:spPr>
        <p:txBody>
          <a:bodyPr rtlCol="0" anchor="t">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p:cNvSpPr>
            <a:spLocks noGrp="1"/>
          </p:cNvSpPr>
          <p:nvPr>
            <p:ph sz="quarter" idx="4"/>
          </p:nvPr>
        </p:nvSpPr>
        <p:spPr>
          <a:xfrm>
            <a:off x="6217709" y="2926052"/>
            <a:ext cx="5393100" cy="2934999"/>
          </a:xfrm>
        </p:spPr>
        <p:txBody>
          <a:bodyPr rtlCol="0" anchor="t">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p:cNvSpPr>
            <a:spLocks noGrp="1"/>
          </p:cNvSpPr>
          <p:nvPr>
            <p:ph type="dt" sz="half" idx="10"/>
          </p:nvPr>
        </p:nvSpPr>
        <p:spPr/>
        <p:txBody>
          <a:bodyPr rtlCol="0"/>
          <a:lstStyle/>
          <a:p>
            <a:pPr rtl="0"/>
            <a:fld id="{1629C053-9F8D-46E6-9B7E-2370AE6C605C}" type="datetime1">
              <a:rPr lang="en-GB" noProof="0" smtClean="0"/>
              <a:t>25/08/2024</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rtlCol="0"/>
          <a:lstStyle/>
          <a:p>
            <a:pPr rtl="0"/>
            <a:fld id="{B7880DE2-737C-445E-A467-CE1EE7238B4E}" type="datetime1">
              <a:rPr lang="en-GB" noProof="0" smtClean="0"/>
              <a:t>25/08/2024</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510DCFB9-2AC3-4371-A545-CD993D9EA5CF}" type="datetime1">
              <a:rPr lang="en-GB" noProof="0" smtClean="0"/>
              <a:t>25/08/2024</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n-US" noProof="0"/>
              <a:t>Click to edit Master title style</a:t>
            </a:r>
            <a:endParaRPr lang="en-GB" noProof="0"/>
          </a:p>
        </p:txBody>
      </p:sp>
      <p:sp>
        <p:nvSpPr>
          <p:cNvPr id="3" name="Content Placeholder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Date Placeholder 4"/>
          <p:cNvSpPr>
            <a:spLocks noGrp="1"/>
          </p:cNvSpPr>
          <p:nvPr>
            <p:ph type="dt" sz="half" idx="10"/>
          </p:nvPr>
        </p:nvSpPr>
        <p:spPr/>
        <p:txBody>
          <a:bodyPr rtlCol="0"/>
          <a:lstStyle>
            <a:lvl1pPr>
              <a:defRPr>
                <a:solidFill>
                  <a:schemeClr val="accent1">
                    <a:lumMod val="75000"/>
                    <a:lumOff val="25000"/>
                  </a:schemeClr>
                </a:solidFill>
              </a:defRPr>
            </a:lvl1pPr>
          </a:lstStyle>
          <a:p>
            <a:pPr rtl="0"/>
            <a:fld id="{FF8BE457-704A-4961-A63E-B70782D60173}" type="datetime1">
              <a:rPr lang="en-GB" noProof="0" smtClean="0"/>
              <a:t>25/08/2024</a:t>
            </a:fld>
            <a:endParaRPr lang="en-GB" noProof="0"/>
          </a:p>
        </p:txBody>
      </p:sp>
      <p:sp>
        <p:nvSpPr>
          <p:cNvPr id="6" name="Footer Placeholder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7" name="Slide Number Placehold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n-US" noProof="0"/>
              <a:t>Click to edit Master title style</a:t>
            </a:r>
            <a:endParaRPr lang="en-GB" noProof="0"/>
          </a:p>
        </p:txBody>
      </p:sp>
      <p:sp>
        <p:nvSpPr>
          <p:cNvPr id="3" name="Picture Placeholder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4" name="Text Placeholder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Date Placeholder 4"/>
          <p:cNvSpPr>
            <a:spLocks noGrp="1"/>
          </p:cNvSpPr>
          <p:nvPr>
            <p:ph type="dt" sz="half" idx="10"/>
          </p:nvPr>
        </p:nvSpPr>
        <p:spPr/>
        <p:txBody>
          <a:bodyPr rtlCol="0"/>
          <a:lstStyle/>
          <a:p>
            <a:pPr rtl="0"/>
            <a:fld id="{F1426F34-0300-434E-A891-7878EA74BE6A}" type="datetime1">
              <a:rPr lang="en-GB" noProof="0" smtClean="0"/>
              <a:t>25/08/2024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Vertical Text Placeholder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BD343CF6-3E11-4427-8B1A-ADC90ABF3A66}" type="datetime1">
              <a:rPr lang="en-GB" noProof="0" smtClean="0"/>
              <a:t>25/08/2024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rtlCol="0"/>
          <a:lstStyle/>
          <a:p>
            <a:pPr rtl="0"/>
            <a:r>
              <a:rPr lang="en-US" noProof="0"/>
              <a:t>Click to edit Master title style</a:t>
            </a:r>
            <a:endParaRPr lang="en-GB" noProof="0"/>
          </a:p>
        </p:txBody>
      </p:sp>
      <p:sp>
        <p:nvSpPr>
          <p:cNvPr id="3" name="Vertical Text Placeholder 2"/>
          <p:cNvSpPr>
            <a:spLocks noGrp="1"/>
          </p:cNvSpPr>
          <p:nvPr>
            <p:ph type="body" orient="vert" idx="1"/>
          </p:nvPr>
        </p:nvSpPr>
        <p:spPr>
          <a:xfrm>
            <a:off x="774923" y="675726"/>
            <a:ext cx="7896279" cy="5183073"/>
          </a:xfrm>
        </p:spPr>
        <p:txBody>
          <a:bodyPr vert="eaVert" rtlCol="0" anchor="t"/>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494B3D51-D911-45AB-931D-354F6E92D3BA}" type="datetime1">
              <a:rPr lang="en-GB" noProof="0" smtClean="0"/>
              <a:t>25/08/2024</a:t>
            </a:fld>
            <a:endParaRPr lang="en-GB" noProof="0"/>
          </a:p>
        </p:txBody>
      </p:sp>
      <p:sp>
        <p:nvSpPr>
          <p:cNvPr id="5" name="Footer Placeholder 4"/>
          <p:cNvSpPr>
            <a:spLocks noGrp="1"/>
          </p:cNvSpPr>
          <p:nvPr>
            <p:ph type="ftr" sz="quarter" idx="11"/>
          </p:nvPr>
        </p:nvSpPr>
        <p:spPr>
          <a:xfrm>
            <a:off x="774923" y="5951811"/>
            <a:ext cx="7896279" cy="365125"/>
          </a:xfrm>
        </p:spPr>
        <p:txBody>
          <a:bodyPr rtlCol="0"/>
          <a:lstStyle/>
          <a:p>
            <a:pPr rtl="0"/>
            <a:endParaRPr lang="en-GB" noProof="0"/>
          </a:p>
        </p:txBody>
      </p:sp>
      <p:sp>
        <p:nvSpPr>
          <p:cNvPr id="6" name="Slide Number Placehold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D42C8507-105F-4E14-982A-7661524B0F9E}" type="datetime1">
              <a:rPr lang="en-GB" noProof="0" smtClean="0"/>
              <a:t>25/08/2024</a:t>
            </a:fld>
            <a:endParaRPr lang="en-GB" noProof="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n-GB" noProof="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n-GB" noProof="0" smtClean="0"/>
              <a:pPr/>
              <a:t>‹#›</a:t>
            </a:fld>
            <a:endParaRPr lang="en-GB" noProof="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microsoft.com/office/2017/06/relationships/model3d" Target="../media/model3d6.glb"/><Relationship Id="rId3" Type="http://schemas.microsoft.com/office/2017/06/relationships/model3d" Target="../media/model3d1.glb"/><Relationship Id="rId7" Type="http://schemas.microsoft.com/office/2017/06/relationships/model3d" Target="../media/model3d3.glb"/><Relationship Id="rId12" Type="http://schemas.openxmlformats.org/officeDocument/2006/relationships/image" Target="../media/image7.png"/><Relationship Id="rId2" Type="http://schemas.openxmlformats.org/officeDocument/2006/relationships/image" Target="../media/image2.jpeg"/><Relationship Id="rId16"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microsoft.com/office/2017/06/relationships/model3d" Target="../media/model3d5.glb"/><Relationship Id="rId5" Type="http://schemas.microsoft.com/office/2017/06/relationships/model3d" Target="../media/model3d2.glb"/><Relationship Id="rId15" Type="http://schemas.microsoft.com/office/2017/06/relationships/model3d" Target="../media/model3d7.glb"/><Relationship Id="rId10" Type="http://schemas.openxmlformats.org/officeDocument/2006/relationships/image" Target="../media/image6.png"/><Relationship Id="rId4" Type="http://schemas.openxmlformats.org/officeDocument/2006/relationships/image" Target="../media/image3.png"/><Relationship Id="rId9" Type="http://schemas.microsoft.com/office/2017/06/relationships/model3d" Target="../media/model3d4.glb"/><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sv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en-GB" sz="6000" dirty="0">
                <a:solidFill>
                  <a:schemeClr val="bg1"/>
                </a:solidFill>
              </a:rPr>
              <a:t>Penetration testing </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r>
              <a:rPr lang="en-GB" dirty="0">
                <a:solidFill>
                  <a:srgbClr val="7CEBFF"/>
                </a:solidFill>
              </a:rPr>
              <a:t>J0hb 34</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1A06-FE2D-B8CA-052F-464F963CFDF5}"/>
              </a:ext>
            </a:extLst>
          </p:cNvPr>
          <p:cNvSpPr>
            <a:spLocks noGrp="1"/>
          </p:cNvSpPr>
          <p:nvPr>
            <p:ph type="title"/>
          </p:nvPr>
        </p:nvSpPr>
        <p:spPr>
          <a:xfrm>
            <a:off x="581192" y="702156"/>
            <a:ext cx="11029616" cy="1013800"/>
          </a:xfrm>
        </p:spPr>
        <p:txBody>
          <a:bodyPr>
            <a:normAutofit/>
          </a:bodyPr>
          <a:lstStyle/>
          <a:p>
            <a:r>
              <a:rPr lang="en-US">
                <a:solidFill>
                  <a:srgbClr val="FFFEFF"/>
                </a:solidFill>
              </a:rPr>
              <a:t>Outcomes</a:t>
            </a:r>
            <a:endParaRPr lang="en-GB">
              <a:solidFill>
                <a:srgbClr val="FFFEFF"/>
              </a:solidFill>
            </a:endParaRPr>
          </a:p>
        </p:txBody>
      </p:sp>
      <p:sp>
        <p:nvSpPr>
          <p:cNvPr id="6" name="Slide Number Placeholder 5">
            <a:extLst>
              <a:ext uri="{FF2B5EF4-FFF2-40B4-BE49-F238E27FC236}">
                <a16:creationId xmlns:a16="http://schemas.microsoft.com/office/drawing/2014/main" id="{92DCF46E-391F-D6A1-FD71-035740F3FD90}"/>
              </a:ext>
            </a:extLst>
          </p:cNvPr>
          <p:cNvSpPr>
            <a:spLocks noGrp="1"/>
          </p:cNvSpPr>
          <p:nvPr>
            <p:ph type="sldNum" sz="quarter" idx="12"/>
          </p:nvPr>
        </p:nvSpPr>
        <p:spPr>
          <a:xfrm>
            <a:off x="10558300" y="5956137"/>
            <a:ext cx="1052508" cy="365125"/>
          </a:xfrm>
        </p:spPr>
        <p:txBody>
          <a:bodyPr>
            <a:normAutofit/>
          </a:bodyPr>
          <a:lstStyle/>
          <a:p>
            <a:pPr>
              <a:spcAft>
                <a:spcPts val="600"/>
              </a:spcAft>
            </a:pPr>
            <a:fld id="{7BE69E03-4804-4553-A1EC-F089884EF50F}" type="slidenum">
              <a:rPr lang="en-US" smtClean="0"/>
              <a:pPr>
                <a:spcAft>
                  <a:spcPts val="600"/>
                </a:spcAft>
              </a:pPr>
              <a:t>2</a:t>
            </a:fld>
            <a:endParaRPr lang="en-US"/>
          </a:p>
        </p:txBody>
      </p:sp>
      <p:grpSp>
        <p:nvGrpSpPr>
          <p:cNvPr id="27" name="Group 26">
            <a:extLst>
              <a:ext uri="{FF2B5EF4-FFF2-40B4-BE49-F238E27FC236}">
                <a16:creationId xmlns:a16="http://schemas.microsoft.com/office/drawing/2014/main" id="{C18174E3-D6D3-48A8-24A7-D32B2EAA1B8C}"/>
              </a:ext>
            </a:extLst>
          </p:cNvPr>
          <p:cNvGrpSpPr/>
          <p:nvPr/>
        </p:nvGrpSpPr>
        <p:grpSpPr>
          <a:xfrm>
            <a:off x="584256" y="2225822"/>
            <a:ext cx="2563601" cy="3589042"/>
            <a:chOff x="584256" y="2225822"/>
            <a:chExt cx="2563601" cy="3589042"/>
          </a:xfrm>
        </p:grpSpPr>
        <p:sp>
          <p:nvSpPr>
            <p:cNvPr id="4" name="Freeform: Shape 3">
              <a:extLst>
                <a:ext uri="{FF2B5EF4-FFF2-40B4-BE49-F238E27FC236}">
                  <a16:creationId xmlns:a16="http://schemas.microsoft.com/office/drawing/2014/main" id="{7D409754-C889-8357-849C-CD2B73B6350C}"/>
                </a:ext>
              </a:extLst>
            </p:cNvPr>
            <p:cNvSpPr/>
            <p:nvPr/>
          </p:nvSpPr>
          <p:spPr>
            <a:xfrm>
              <a:off x="584256" y="2225822"/>
              <a:ext cx="2563601" cy="3589042"/>
            </a:xfrm>
            <a:custGeom>
              <a:avLst/>
              <a:gdLst>
                <a:gd name="connsiteX0" fmla="*/ 0 w 2563601"/>
                <a:gd name="connsiteY0" fmla="*/ 0 h 3589042"/>
                <a:gd name="connsiteX1" fmla="*/ 2563601 w 2563601"/>
                <a:gd name="connsiteY1" fmla="*/ 0 h 3589042"/>
                <a:gd name="connsiteX2" fmla="*/ 2563601 w 2563601"/>
                <a:gd name="connsiteY2" fmla="*/ 3589042 h 3589042"/>
                <a:gd name="connsiteX3" fmla="*/ 0 w 2563601"/>
                <a:gd name="connsiteY3" fmla="*/ 3589042 h 3589042"/>
                <a:gd name="connsiteX4" fmla="*/ 0 w 2563601"/>
                <a:gd name="connsiteY4" fmla="*/ 0 h 3589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601" h="3589042">
                  <a:moveTo>
                    <a:pt x="0" y="0"/>
                  </a:moveTo>
                  <a:lnTo>
                    <a:pt x="2563601" y="0"/>
                  </a:lnTo>
                  <a:lnTo>
                    <a:pt x="2563601" y="3589042"/>
                  </a:lnTo>
                  <a:lnTo>
                    <a:pt x="0" y="3589042"/>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9868" tIns="1694036" rIns="199868" bIns="401981" numCol="1" spcCol="1270" anchor="t" anchorCtr="0">
              <a:noAutofit/>
            </a:bodyPr>
            <a:lstStyle/>
            <a:p>
              <a:pPr marL="0" lvl="0" indent="0" algn="l" defTabSz="977900">
                <a:lnSpc>
                  <a:spcPct val="90000"/>
                </a:lnSpc>
                <a:spcBef>
                  <a:spcPct val="0"/>
                </a:spcBef>
                <a:spcAft>
                  <a:spcPct val="35000"/>
                </a:spcAft>
                <a:buNone/>
              </a:pPr>
              <a:r>
                <a:rPr lang="en-US" sz="2200" b="1" kern="1200" dirty="0"/>
                <a:t>Describe the concepts underpinning penetration testing</a:t>
              </a:r>
            </a:p>
          </p:txBody>
        </p:sp>
        <p:sp>
          <p:nvSpPr>
            <p:cNvPr id="5" name="Freeform: Shape 4">
              <a:extLst>
                <a:ext uri="{FF2B5EF4-FFF2-40B4-BE49-F238E27FC236}">
                  <a16:creationId xmlns:a16="http://schemas.microsoft.com/office/drawing/2014/main" id="{93D4F316-67BE-25B8-D749-4BF1F7500482}"/>
                </a:ext>
              </a:extLst>
            </p:cNvPr>
            <p:cNvSpPr/>
            <p:nvPr/>
          </p:nvSpPr>
          <p:spPr>
            <a:xfrm>
              <a:off x="1327700" y="2584727"/>
              <a:ext cx="1076712" cy="1076712"/>
            </a:xfrm>
            <a:custGeom>
              <a:avLst/>
              <a:gdLst>
                <a:gd name="connsiteX0" fmla="*/ 0 w 1076712"/>
                <a:gd name="connsiteY0" fmla="*/ 538356 h 1076712"/>
                <a:gd name="connsiteX1" fmla="*/ 538356 w 1076712"/>
                <a:gd name="connsiteY1" fmla="*/ 0 h 1076712"/>
                <a:gd name="connsiteX2" fmla="*/ 1076712 w 1076712"/>
                <a:gd name="connsiteY2" fmla="*/ 538356 h 1076712"/>
                <a:gd name="connsiteX3" fmla="*/ 538356 w 1076712"/>
                <a:gd name="connsiteY3" fmla="*/ 1076712 h 1076712"/>
                <a:gd name="connsiteX4" fmla="*/ 0 w 1076712"/>
                <a:gd name="connsiteY4" fmla="*/ 538356 h 1076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712" h="1076712">
                  <a:moveTo>
                    <a:pt x="0" y="538356"/>
                  </a:moveTo>
                  <a:cubicBezTo>
                    <a:pt x="0" y="241030"/>
                    <a:pt x="241030" y="0"/>
                    <a:pt x="538356" y="0"/>
                  </a:cubicBezTo>
                  <a:cubicBezTo>
                    <a:pt x="835682" y="0"/>
                    <a:pt x="1076712" y="241030"/>
                    <a:pt x="1076712" y="538356"/>
                  </a:cubicBezTo>
                  <a:cubicBezTo>
                    <a:pt x="1076712" y="835682"/>
                    <a:pt x="835682" y="1076712"/>
                    <a:pt x="538356" y="1076712"/>
                  </a:cubicBezTo>
                  <a:cubicBezTo>
                    <a:pt x="241030" y="1076712"/>
                    <a:pt x="0" y="835682"/>
                    <a:pt x="0" y="538356"/>
                  </a:cubicBez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41626" tIns="170381" rIns="241626" bIns="170381" numCol="1" spcCol="1270" anchor="ctr" anchorCtr="0">
              <a:noAutofit/>
            </a:bodyPr>
            <a:lstStyle/>
            <a:p>
              <a:pPr marL="0" lvl="0" indent="0" algn="ctr" defTabSz="2133600">
                <a:lnSpc>
                  <a:spcPct val="90000"/>
                </a:lnSpc>
                <a:spcBef>
                  <a:spcPct val="0"/>
                </a:spcBef>
                <a:spcAft>
                  <a:spcPct val="35000"/>
                </a:spcAft>
                <a:buNone/>
              </a:pPr>
              <a:r>
                <a:rPr lang="en-US" sz="4800" kern="1200"/>
                <a:t>1</a:t>
              </a:r>
            </a:p>
          </p:txBody>
        </p:sp>
      </p:grpSp>
      <p:sp>
        <p:nvSpPr>
          <p:cNvPr id="7" name="Rectangle 6">
            <a:extLst>
              <a:ext uri="{FF2B5EF4-FFF2-40B4-BE49-F238E27FC236}">
                <a16:creationId xmlns:a16="http://schemas.microsoft.com/office/drawing/2014/main" id="{D88AEECF-9407-8E4F-8293-3CBB31560774}"/>
              </a:ext>
            </a:extLst>
          </p:cNvPr>
          <p:cNvSpPr/>
          <p:nvPr/>
        </p:nvSpPr>
        <p:spPr>
          <a:xfrm>
            <a:off x="584256" y="5814793"/>
            <a:ext cx="2563601" cy="72"/>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GB"/>
          </a:p>
        </p:txBody>
      </p:sp>
      <p:grpSp>
        <p:nvGrpSpPr>
          <p:cNvPr id="28" name="Group 27">
            <a:extLst>
              <a:ext uri="{FF2B5EF4-FFF2-40B4-BE49-F238E27FC236}">
                <a16:creationId xmlns:a16="http://schemas.microsoft.com/office/drawing/2014/main" id="{AB7CDD6E-468C-B5EB-37F9-3AFF6D8C694B}"/>
              </a:ext>
            </a:extLst>
          </p:cNvPr>
          <p:cNvGrpSpPr/>
          <p:nvPr/>
        </p:nvGrpSpPr>
        <p:grpSpPr>
          <a:xfrm>
            <a:off x="3404218" y="2225822"/>
            <a:ext cx="2563601" cy="3589042"/>
            <a:chOff x="3404218" y="2225822"/>
            <a:chExt cx="2563601" cy="3589042"/>
          </a:xfrm>
        </p:grpSpPr>
        <p:sp>
          <p:nvSpPr>
            <p:cNvPr id="9" name="Freeform: Shape 8">
              <a:extLst>
                <a:ext uri="{FF2B5EF4-FFF2-40B4-BE49-F238E27FC236}">
                  <a16:creationId xmlns:a16="http://schemas.microsoft.com/office/drawing/2014/main" id="{858A542F-53A9-86C9-38E1-57F6D637F576}"/>
                </a:ext>
              </a:extLst>
            </p:cNvPr>
            <p:cNvSpPr/>
            <p:nvPr/>
          </p:nvSpPr>
          <p:spPr>
            <a:xfrm>
              <a:off x="3404218" y="2225822"/>
              <a:ext cx="2563601" cy="3589042"/>
            </a:xfrm>
            <a:custGeom>
              <a:avLst/>
              <a:gdLst>
                <a:gd name="connsiteX0" fmla="*/ 0 w 2563601"/>
                <a:gd name="connsiteY0" fmla="*/ 0 h 3589042"/>
                <a:gd name="connsiteX1" fmla="*/ 2563601 w 2563601"/>
                <a:gd name="connsiteY1" fmla="*/ 0 h 3589042"/>
                <a:gd name="connsiteX2" fmla="*/ 2563601 w 2563601"/>
                <a:gd name="connsiteY2" fmla="*/ 3589042 h 3589042"/>
                <a:gd name="connsiteX3" fmla="*/ 0 w 2563601"/>
                <a:gd name="connsiteY3" fmla="*/ 3589042 h 3589042"/>
                <a:gd name="connsiteX4" fmla="*/ 0 w 2563601"/>
                <a:gd name="connsiteY4" fmla="*/ 0 h 3589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601" h="3589042">
                  <a:moveTo>
                    <a:pt x="0" y="0"/>
                  </a:moveTo>
                  <a:lnTo>
                    <a:pt x="2563601" y="0"/>
                  </a:lnTo>
                  <a:lnTo>
                    <a:pt x="2563601" y="3589042"/>
                  </a:lnTo>
                  <a:lnTo>
                    <a:pt x="0" y="3589042"/>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9868" tIns="1694036" rIns="199868" bIns="401981" numCol="1" spcCol="1270" anchor="t" anchorCtr="0">
              <a:noAutofit/>
            </a:bodyPr>
            <a:lstStyle/>
            <a:p>
              <a:pPr marL="0" lvl="0" indent="0" algn="l" defTabSz="977900">
                <a:lnSpc>
                  <a:spcPct val="90000"/>
                </a:lnSpc>
                <a:spcBef>
                  <a:spcPct val="0"/>
                </a:spcBef>
                <a:spcAft>
                  <a:spcPct val="35000"/>
                </a:spcAft>
                <a:buNone/>
              </a:pPr>
              <a:r>
                <a:rPr lang="en-US" sz="2200" b="1" kern="1200" dirty="0"/>
                <a:t>Design a penetration test from a given scenario</a:t>
              </a:r>
            </a:p>
          </p:txBody>
        </p:sp>
        <p:sp>
          <p:nvSpPr>
            <p:cNvPr id="11" name="Freeform: Shape 10">
              <a:extLst>
                <a:ext uri="{FF2B5EF4-FFF2-40B4-BE49-F238E27FC236}">
                  <a16:creationId xmlns:a16="http://schemas.microsoft.com/office/drawing/2014/main" id="{10A5BB49-A029-1352-A808-485FCA3C8554}"/>
                </a:ext>
              </a:extLst>
            </p:cNvPr>
            <p:cNvSpPr/>
            <p:nvPr/>
          </p:nvSpPr>
          <p:spPr>
            <a:xfrm>
              <a:off x="4147662" y="2584727"/>
              <a:ext cx="1076712" cy="1076712"/>
            </a:xfrm>
            <a:custGeom>
              <a:avLst/>
              <a:gdLst>
                <a:gd name="connsiteX0" fmla="*/ 0 w 1076712"/>
                <a:gd name="connsiteY0" fmla="*/ 538356 h 1076712"/>
                <a:gd name="connsiteX1" fmla="*/ 538356 w 1076712"/>
                <a:gd name="connsiteY1" fmla="*/ 0 h 1076712"/>
                <a:gd name="connsiteX2" fmla="*/ 1076712 w 1076712"/>
                <a:gd name="connsiteY2" fmla="*/ 538356 h 1076712"/>
                <a:gd name="connsiteX3" fmla="*/ 538356 w 1076712"/>
                <a:gd name="connsiteY3" fmla="*/ 1076712 h 1076712"/>
                <a:gd name="connsiteX4" fmla="*/ 0 w 1076712"/>
                <a:gd name="connsiteY4" fmla="*/ 538356 h 1076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712" h="1076712">
                  <a:moveTo>
                    <a:pt x="0" y="538356"/>
                  </a:moveTo>
                  <a:cubicBezTo>
                    <a:pt x="0" y="241030"/>
                    <a:pt x="241030" y="0"/>
                    <a:pt x="538356" y="0"/>
                  </a:cubicBezTo>
                  <a:cubicBezTo>
                    <a:pt x="835682" y="0"/>
                    <a:pt x="1076712" y="241030"/>
                    <a:pt x="1076712" y="538356"/>
                  </a:cubicBezTo>
                  <a:cubicBezTo>
                    <a:pt x="1076712" y="835682"/>
                    <a:pt x="835682" y="1076712"/>
                    <a:pt x="538356" y="1076712"/>
                  </a:cubicBezTo>
                  <a:cubicBezTo>
                    <a:pt x="241030" y="1076712"/>
                    <a:pt x="0" y="835682"/>
                    <a:pt x="0" y="538356"/>
                  </a:cubicBez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41626" tIns="170381" rIns="241626" bIns="170381" numCol="1" spcCol="1270" anchor="ctr" anchorCtr="0">
              <a:noAutofit/>
            </a:bodyPr>
            <a:lstStyle/>
            <a:p>
              <a:pPr marL="0" lvl="0" indent="0" algn="ctr" defTabSz="2133600">
                <a:lnSpc>
                  <a:spcPct val="90000"/>
                </a:lnSpc>
                <a:spcBef>
                  <a:spcPct val="0"/>
                </a:spcBef>
                <a:spcAft>
                  <a:spcPct val="35000"/>
                </a:spcAft>
                <a:buNone/>
              </a:pPr>
              <a:r>
                <a:rPr lang="en-US" sz="4800" kern="1200"/>
                <a:t>2</a:t>
              </a:r>
            </a:p>
          </p:txBody>
        </p:sp>
      </p:grpSp>
      <p:sp>
        <p:nvSpPr>
          <p:cNvPr id="16" name="Rectangle 15">
            <a:extLst>
              <a:ext uri="{FF2B5EF4-FFF2-40B4-BE49-F238E27FC236}">
                <a16:creationId xmlns:a16="http://schemas.microsoft.com/office/drawing/2014/main" id="{8A381210-DE65-DEA2-AFB9-E66ACE257345}"/>
              </a:ext>
            </a:extLst>
          </p:cNvPr>
          <p:cNvSpPr/>
          <p:nvPr/>
        </p:nvSpPr>
        <p:spPr>
          <a:xfrm>
            <a:off x="3404218" y="5814793"/>
            <a:ext cx="2563601" cy="72"/>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GB"/>
          </a:p>
        </p:txBody>
      </p:sp>
      <p:grpSp>
        <p:nvGrpSpPr>
          <p:cNvPr id="29" name="Group 28">
            <a:extLst>
              <a:ext uri="{FF2B5EF4-FFF2-40B4-BE49-F238E27FC236}">
                <a16:creationId xmlns:a16="http://schemas.microsoft.com/office/drawing/2014/main" id="{C0B876EA-2E43-F738-AF6B-5D8B407177EC}"/>
              </a:ext>
            </a:extLst>
          </p:cNvPr>
          <p:cNvGrpSpPr/>
          <p:nvPr/>
        </p:nvGrpSpPr>
        <p:grpSpPr>
          <a:xfrm>
            <a:off x="6224180" y="2225822"/>
            <a:ext cx="2563601" cy="3589042"/>
            <a:chOff x="6224180" y="2225822"/>
            <a:chExt cx="2563601" cy="3589042"/>
          </a:xfrm>
        </p:grpSpPr>
        <p:sp>
          <p:nvSpPr>
            <p:cNvPr id="18" name="Freeform: Shape 17">
              <a:extLst>
                <a:ext uri="{FF2B5EF4-FFF2-40B4-BE49-F238E27FC236}">
                  <a16:creationId xmlns:a16="http://schemas.microsoft.com/office/drawing/2014/main" id="{DA7C762D-60DD-5255-9D7C-9C309BFC9139}"/>
                </a:ext>
              </a:extLst>
            </p:cNvPr>
            <p:cNvSpPr/>
            <p:nvPr/>
          </p:nvSpPr>
          <p:spPr>
            <a:xfrm>
              <a:off x="6224180" y="2225822"/>
              <a:ext cx="2563601" cy="3589042"/>
            </a:xfrm>
            <a:custGeom>
              <a:avLst/>
              <a:gdLst>
                <a:gd name="connsiteX0" fmla="*/ 0 w 2563601"/>
                <a:gd name="connsiteY0" fmla="*/ 0 h 3589042"/>
                <a:gd name="connsiteX1" fmla="*/ 2563601 w 2563601"/>
                <a:gd name="connsiteY1" fmla="*/ 0 h 3589042"/>
                <a:gd name="connsiteX2" fmla="*/ 2563601 w 2563601"/>
                <a:gd name="connsiteY2" fmla="*/ 3589042 h 3589042"/>
                <a:gd name="connsiteX3" fmla="*/ 0 w 2563601"/>
                <a:gd name="connsiteY3" fmla="*/ 3589042 h 3589042"/>
                <a:gd name="connsiteX4" fmla="*/ 0 w 2563601"/>
                <a:gd name="connsiteY4" fmla="*/ 0 h 3589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601" h="3589042">
                  <a:moveTo>
                    <a:pt x="0" y="0"/>
                  </a:moveTo>
                  <a:lnTo>
                    <a:pt x="2563601" y="0"/>
                  </a:lnTo>
                  <a:lnTo>
                    <a:pt x="2563601" y="3589042"/>
                  </a:lnTo>
                  <a:lnTo>
                    <a:pt x="0" y="3589042"/>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9868" tIns="1694036" rIns="199868" bIns="401981" numCol="1" spcCol="1270" anchor="t" anchorCtr="0">
              <a:noAutofit/>
            </a:bodyPr>
            <a:lstStyle/>
            <a:p>
              <a:pPr marL="0" lvl="0" indent="0" algn="l" defTabSz="977900">
                <a:lnSpc>
                  <a:spcPct val="90000"/>
                </a:lnSpc>
                <a:spcBef>
                  <a:spcPct val="0"/>
                </a:spcBef>
                <a:spcAft>
                  <a:spcPct val="35000"/>
                </a:spcAft>
                <a:buNone/>
              </a:pPr>
              <a:r>
                <a:rPr lang="en-US" sz="2200" b="1" kern="1200" dirty="0"/>
                <a:t>Implement a penetration test from a given scenario </a:t>
              </a:r>
            </a:p>
          </p:txBody>
        </p:sp>
        <p:sp>
          <p:nvSpPr>
            <p:cNvPr id="20" name="Freeform: Shape 19">
              <a:extLst>
                <a:ext uri="{FF2B5EF4-FFF2-40B4-BE49-F238E27FC236}">
                  <a16:creationId xmlns:a16="http://schemas.microsoft.com/office/drawing/2014/main" id="{C8B532E9-A579-1BA4-739B-BB9BCE1F3E84}"/>
                </a:ext>
              </a:extLst>
            </p:cNvPr>
            <p:cNvSpPr/>
            <p:nvPr/>
          </p:nvSpPr>
          <p:spPr>
            <a:xfrm>
              <a:off x="6967624" y="2584727"/>
              <a:ext cx="1076712" cy="1076712"/>
            </a:xfrm>
            <a:custGeom>
              <a:avLst/>
              <a:gdLst>
                <a:gd name="connsiteX0" fmla="*/ 0 w 1076712"/>
                <a:gd name="connsiteY0" fmla="*/ 538356 h 1076712"/>
                <a:gd name="connsiteX1" fmla="*/ 538356 w 1076712"/>
                <a:gd name="connsiteY1" fmla="*/ 0 h 1076712"/>
                <a:gd name="connsiteX2" fmla="*/ 1076712 w 1076712"/>
                <a:gd name="connsiteY2" fmla="*/ 538356 h 1076712"/>
                <a:gd name="connsiteX3" fmla="*/ 538356 w 1076712"/>
                <a:gd name="connsiteY3" fmla="*/ 1076712 h 1076712"/>
                <a:gd name="connsiteX4" fmla="*/ 0 w 1076712"/>
                <a:gd name="connsiteY4" fmla="*/ 538356 h 1076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712" h="1076712">
                  <a:moveTo>
                    <a:pt x="0" y="538356"/>
                  </a:moveTo>
                  <a:cubicBezTo>
                    <a:pt x="0" y="241030"/>
                    <a:pt x="241030" y="0"/>
                    <a:pt x="538356" y="0"/>
                  </a:cubicBezTo>
                  <a:cubicBezTo>
                    <a:pt x="835682" y="0"/>
                    <a:pt x="1076712" y="241030"/>
                    <a:pt x="1076712" y="538356"/>
                  </a:cubicBezTo>
                  <a:cubicBezTo>
                    <a:pt x="1076712" y="835682"/>
                    <a:pt x="835682" y="1076712"/>
                    <a:pt x="538356" y="1076712"/>
                  </a:cubicBezTo>
                  <a:cubicBezTo>
                    <a:pt x="241030" y="1076712"/>
                    <a:pt x="0" y="835682"/>
                    <a:pt x="0" y="538356"/>
                  </a:cubicBez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41626" tIns="170381" rIns="241626" bIns="170381" numCol="1" spcCol="1270" anchor="ctr" anchorCtr="0">
              <a:noAutofit/>
            </a:bodyPr>
            <a:lstStyle/>
            <a:p>
              <a:pPr marL="0" lvl="0" indent="0" algn="ctr" defTabSz="2133600">
                <a:lnSpc>
                  <a:spcPct val="90000"/>
                </a:lnSpc>
                <a:spcBef>
                  <a:spcPct val="0"/>
                </a:spcBef>
                <a:spcAft>
                  <a:spcPct val="35000"/>
                </a:spcAft>
                <a:buNone/>
              </a:pPr>
              <a:r>
                <a:rPr lang="en-US" sz="4800" kern="1200"/>
                <a:t>3</a:t>
              </a:r>
            </a:p>
          </p:txBody>
        </p:sp>
      </p:grpSp>
      <p:sp>
        <p:nvSpPr>
          <p:cNvPr id="22" name="Rectangle 21">
            <a:extLst>
              <a:ext uri="{FF2B5EF4-FFF2-40B4-BE49-F238E27FC236}">
                <a16:creationId xmlns:a16="http://schemas.microsoft.com/office/drawing/2014/main" id="{9A76CCD3-E17A-F159-E5AF-CEC9342BDD78}"/>
              </a:ext>
            </a:extLst>
          </p:cNvPr>
          <p:cNvSpPr/>
          <p:nvPr/>
        </p:nvSpPr>
        <p:spPr>
          <a:xfrm>
            <a:off x="6224180" y="5814793"/>
            <a:ext cx="2563601" cy="72"/>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GB"/>
          </a:p>
        </p:txBody>
      </p:sp>
      <p:grpSp>
        <p:nvGrpSpPr>
          <p:cNvPr id="30" name="Group 29">
            <a:extLst>
              <a:ext uri="{FF2B5EF4-FFF2-40B4-BE49-F238E27FC236}">
                <a16:creationId xmlns:a16="http://schemas.microsoft.com/office/drawing/2014/main" id="{12765443-ACE5-3E8E-3D93-46F70159290F}"/>
              </a:ext>
            </a:extLst>
          </p:cNvPr>
          <p:cNvGrpSpPr/>
          <p:nvPr/>
        </p:nvGrpSpPr>
        <p:grpSpPr>
          <a:xfrm>
            <a:off x="9044141" y="2225822"/>
            <a:ext cx="2563601" cy="3589042"/>
            <a:chOff x="9044141" y="2225822"/>
            <a:chExt cx="2563601" cy="3589042"/>
          </a:xfrm>
        </p:grpSpPr>
        <p:sp>
          <p:nvSpPr>
            <p:cNvPr id="24" name="Freeform: Shape 23">
              <a:extLst>
                <a:ext uri="{FF2B5EF4-FFF2-40B4-BE49-F238E27FC236}">
                  <a16:creationId xmlns:a16="http://schemas.microsoft.com/office/drawing/2014/main" id="{51F6D6C5-6761-0C1B-C24B-89C8C0E0A893}"/>
                </a:ext>
              </a:extLst>
            </p:cNvPr>
            <p:cNvSpPr/>
            <p:nvPr/>
          </p:nvSpPr>
          <p:spPr>
            <a:xfrm>
              <a:off x="9044141" y="2225822"/>
              <a:ext cx="2563601" cy="3589042"/>
            </a:xfrm>
            <a:custGeom>
              <a:avLst/>
              <a:gdLst>
                <a:gd name="connsiteX0" fmla="*/ 0 w 2563601"/>
                <a:gd name="connsiteY0" fmla="*/ 0 h 3589042"/>
                <a:gd name="connsiteX1" fmla="*/ 2563601 w 2563601"/>
                <a:gd name="connsiteY1" fmla="*/ 0 h 3589042"/>
                <a:gd name="connsiteX2" fmla="*/ 2563601 w 2563601"/>
                <a:gd name="connsiteY2" fmla="*/ 3589042 h 3589042"/>
                <a:gd name="connsiteX3" fmla="*/ 0 w 2563601"/>
                <a:gd name="connsiteY3" fmla="*/ 3589042 h 3589042"/>
                <a:gd name="connsiteX4" fmla="*/ 0 w 2563601"/>
                <a:gd name="connsiteY4" fmla="*/ 0 h 3589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3601" h="3589042">
                  <a:moveTo>
                    <a:pt x="0" y="0"/>
                  </a:moveTo>
                  <a:lnTo>
                    <a:pt x="2563601" y="0"/>
                  </a:lnTo>
                  <a:lnTo>
                    <a:pt x="2563601" y="3589042"/>
                  </a:lnTo>
                  <a:lnTo>
                    <a:pt x="0" y="3589042"/>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9868" tIns="1694036" rIns="199868" bIns="401981" numCol="1" spcCol="1270" anchor="t" anchorCtr="0">
              <a:noAutofit/>
            </a:bodyPr>
            <a:lstStyle/>
            <a:p>
              <a:pPr marL="0" lvl="0" indent="0" algn="l" defTabSz="977900">
                <a:lnSpc>
                  <a:spcPct val="90000"/>
                </a:lnSpc>
                <a:spcBef>
                  <a:spcPct val="0"/>
                </a:spcBef>
                <a:spcAft>
                  <a:spcPct val="35000"/>
                </a:spcAft>
                <a:buNone/>
              </a:pPr>
              <a:r>
                <a:rPr lang="en-US" sz="2200" b="1" kern="1200" dirty="0"/>
                <a:t>Evaluate a penetration test as part of a test audit </a:t>
              </a:r>
            </a:p>
          </p:txBody>
        </p:sp>
        <p:sp>
          <p:nvSpPr>
            <p:cNvPr id="25" name="Freeform: Shape 24">
              <a:extLst>
                <a:ext uri="{FF2B5EF4-FFF2-40B4-BE49-F238E27FC236}">
                  <a16:creationId xmlns:a16="http://schemas.microsoft.com/office/drawing/2014/main" id="{6DAD1B35-896A-F38F-8145-7FFD6B336DF0}"/>
                </a:ext>
              </a:extLst>
            </p:cNvPr>
            <p:cNvSpPr/>
            <p:nvPr/>
          </p:nvSpPr>
          <p:spPr>
            <a:xfrm>
              <a:off x="9787586" y="2584727"/>
              <a:ext cx="1076712" cy="1076712"/>
            </a:xfrm>
            <a:custGeom>
              <a:avLst/>
              <a:gdLst>
                <a:gd name="connsiteX0" fmla="*/ 0 w 1076712"/>
                <a:gd name="connsiteY0" fmla="*/ 538356 h 1076712"/>
                <a:gd name="connsiteX1" fmla="*/ 538356 w 1076712"/>
                <a:gd name="connsiteY1" fmla="*/ 0 h 1076712"/>
                <a:gd name="connsiteX2" fmla="*/ 1076712 w 1076712"/>
                <a:gd name="connsiteY2" fmla="*/ 538356 h 1076712"/>
                <a:gd name="connsiteX3" fmla="*/ 538356 w 1076712"/>
                <a:gd name="connsiteY3" fmla="*/ 1076712 h 1076712"/>
                <a:gd name="connsiteX4" fmla="*/ 0 w 1076712"/>
                <a:gd name="connsiteY4" fmla="*/ 538356 h 1076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712" h="1076712">
                  <a:moveTo>
                    <a:pt x="0" y="538356"/>
                  </a:moveTo>
                  <a:cubicBezTo>
                    <a:pt x="0" y="241030"/>
                    <a:pt x="241030" y="0"/>
                    <a:pt x="538356" y="0"/>
                  </a:cubicBezTo>
                  <a:cubicBezTo>
                    <a:pt x="835682" y="0"/>
                    <a:pt x="1076712" y="241030"/>
                    <a:pt x="1076712" y="538356"/>
                  </a:cubicBezTo>
                  <a:cubicBezTo>
                    <a:pt x="1076712" y="835682"/>
                    <a:pt x="835682" y="1076712"/>
                    <a:pt x="538356" y="1076712"/>
                  </a:cubicBezTo>
                  <a:cubicBezTo>
                    <a:pt x="241030" y="1076712"/>
                    <a:pt x="0" y="835682"/>
                    <a:pt x="0" y="538356"/>
                  </a:cubicBez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41626" tIns="170381" rIns="241626" bIns="170381" numCol="1" spcCol="1270" anchor="ctr" anchorCtr="0">
              <a:noAutofit/>
            </a:bodyPr>
            <a:lstStyle/>
            <a:p>
              <a:pPr marL="0" lvl="0" indent="0" algn="ctr" defTabSz="2133600">
                <a:lnSpc>
                  <a:spcPct val="90000"/>
                </a:lnSpc>
                <a:spcBef>
                  <a:spcPct val="0"/>
                </a:spcBef>
                <a:spcAft>
                  <a:spcPct val="35000"/>
                </a:spcAft>
                <a:buNone/>
              </a:pPr>
              <a:r>
                <a:rPr lang="en-US" sz="4800" kern="1200"/>
                <a:t>4</a:t>
              </a:r>
            </a:p>
          </p:txBody>
        </p:sp>
      </p:grpSp>
      <p:sp>
        <p:nvSpPr>
          <p:cNvPr id="26" name="Rectangle 25">
            <a:extLst>
              <a:ext uri="{FF2B5EF4-FFF2-40B4-BE49-F238E27FC236}">
                <a16:creationId xmlns:a16="http://schemas.microsoft.com/office/drawing/2014/main" id="{E6CFE5C7-01AB-CEE3-881B-82F9A47F907D}"/>
              </a:ext>
            </a:extLst>
          </p:cNvPr>
          <p:cNvSpPr/>
          <p:nvPr/>
        </p:nvSpPr>
        <p:spPr>
          <a:xfrm>
            <a:off x="9044141" y="5814793"/>
            <a:ext cx="2563601" cy="72"/>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268009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F5479-4889-743A-A290-38545AB20CB1}"/>
              </a:ext>
            </a:extLst>
          </p:cNvPr>
          <p:cNvSpPr>
            <a:spLocks noGrp="1"/>
          </p:cNvSpPr>
          <p:nvPr>
            <p:ph type="title"/>
          </p:nvPr>
        </p:nvSpPr>
        <p:spPr>
          <a:xfrm>
            <a:off x="581192" y="702156"/>
            <a:ext cx="11029616" cy="1013800"/>
          </a:xfrm>
        </p:spPr>
        <p:txBody>
          <a:bodyPr>
            <a:normAutofit/>
          </a:bodyPr>
          <a:lstStyle/>
          <a:p>
            <a:r>
              <a:rPr lang="en-US">
                <a:solidFill>
                  <a:srgbClr val="FFFEFF"/>
                </a:solidFill>
              </a:rPr>
              <a:t>Assessment</a:t>
            </a:r>
            <a:endParaRPr lang="en-GB">
              <a:solidFill>
                <a:srgbClr val="FFFEFF"/>
              </a:solidFill>
            </a:endParaRPr>
          </a:p>
        </p:txBody>
      </p:sp>
      <p:sp>
        <p:nvSpPr>
          <p:cNvPr id="6" name="Slide Number Placeholder 5">
            <a:extLst>
              <a:ext uri="{FF2B5EF4-FFF2-40B4-BE49-F238E27FC236}">
                <a16:creationId xmlns:a16="http://schemas.microsoft.com/office/drawing/2014/main" id="{21784421-E196-4852-3766-BC2A0C0F43A1}"/>
              </a:ext>
            </a:extLst>
          </p:cNvPr>
          <p:cNvSpPr>
            <a:spLocks noGrp="1"/>
          </p:cNvSpPr>
          <p:nvPr>
            <p:ph type="sldNum" sz="quarter" idx="12"/>
          </p:nvPr>
        </p:nvSpPr>
        <p:spPr>
          <a:xfrm>
            <a:off x="10558300" y="5956137"/>
            <a:ext cx="1052508" cy="365125"/>
          </a:xfrm>
        </p:spPr>
        <p:txBody>
          <a:bodyPr>
            <a:normAutofit/>
          </a:bodyPr>
          <a:lstStyle/>
          <a:p>
            <a:pPr>
              <a:spcAft>
                <a:spcPts val="600"/>
              </a:spcAft>
            </a:pPr>
            <a:fld id="{7BE69E03-4804-4553-A1EC-F089884EF50F}" type="slidenum">
              <a:rPr lang="en-US" smtClean="0"/>
              <a:pPr>
                <a:spcAft>
                  <a:spcPts val="600"/>
                </a:spcAft>
              </a:pPr>
              <a:t>3</a:t>
            </a:fld>
            <a:endParaRPr lang="en-US" dirty="0"/>
          </a:p>
        </p:txBody>
      </p:sp>
      <p:grpSp>
        <p:nvGrpSpPr>
          <p:cNvPr id="26" name="Group 25">
            <a:extLst>
              <a:ext uri="{FF2B5EF4-FFF2-40B4-BE49-F238E27FC236}">
                <a16:creationId xmlns:a16="http://schemas.microsoft.com/office/drawing/2014/main" id="{C644D06D-093A-8DB0-1F82-82178CE11691}"/>
              </a:ext>
            </a:extLst>
          </p:cNvPr>
          <p:cNvGrpSpPr/>
          <p:nvPr/>
        </p:nvGrpSpPr>
        <p:grpSpPr>
          <a:xfrm>
            <a:off x="584256" y="3166023"/>
            <a:ext cx="2563601" cy="1708640"/>
            <a:chOff x="584256" y="3166023"/>
            <a:chExt cx="2563601" cy="1708640"/>
          </a:xfrm>
        </p:grpSpPr>
        <p:sp>
          <p:nvSpPr>
            <p:cNvPr id="5" name="Rectangle: Rounded Corners 4">
              <a:extLst>
                <a:ext uri="{FF2B5EF4-FFF2-40B4-BE49-F238E27FC236}">
                  <a16:creationId xmlns:a16="http://schemas.microsoft.com/office/drawing/2014/main" id="{8F242E24-B359-2576-87F9-DA0335D3C7D8}"/>
                </a:ext>
              </a:extLst>
            </p:cNvPr>
            <p:cNvSpPr/>
            <p:nvPr/>
          </p:nvSpPr>
          <p:spPr>
            <a:xfrm>
              <a:off x="584256" y="3166023"/>
              <a:ext cx="2307241" cy="14650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7" name="Freeform: Shape 6">
              <a:extLst>
                <a:ext uri="{FF2B5EF4-FFF2-40B4-BE49-F238E27FC236}">
                  <a16:creationId xmlns:a16="http://schemas.microsoft.com/office/drawing/2014/main" id="{E03B4174-E6D1-2E17-3ED1-4B9960EEA747}"/>
                </a:ext>
              </a:extLst>
            </p:cNvPr>
            <p:cNvSpPr/>
            <p:nvPr/>
          </p:nvSpPr>
          <p:spPr>
            <a:xfrm>
              <a:off x="840616" y="3409565"/>
              <a:ext cx="2307241" cy="1465098"/>
            </a:xfrm>
            <a:custGeom>
              <a:avLst/>
              <a:gdLst>
                <a:gd name="connsiteX0" fmla="*/ 0 w 2307241"/>
                <a:gd name="connsiteY0" fmla="*/ 146510 h 1465098"/>
                <a:gd name="connsiteX1" fmla="*/ 146510 w 2307241"/>
                <a:gd name="connsiteY1" fmla="*/ 0 h 1465098"/>
                <a:gd name="connsiteX2" fmla="*/ 2160731 w 2307241"/>
                <a:gd name="connsiteY2" fmla="*/ 0 h 1465098"/>
                <a:gd name="connsiteX3" fmla="*/ 2307241 w 2307241"/>
                <a:gd name="connsiteY3" fmla="*/ 146510 h 1465098"/>
                <a:gd name="connsiteX4" fmla="*/ 2307241 w 2307241"/>
                <a:gd name="connsiteY4" fmla="*/ 1318588 h 1465098"/>
                <a:gd name="connsiteX5" fmla="*/ 2160731 w 2307241"/>
                <a:gd name="connsiteY5" fmla="*/ 1465098 h 1465098"/>
                <a:gd name="connsiteX6" fmla="*/ 146510 w 2307241"/>
                <a:gd name="connsiteY6" fmla="*/ 1465098 h 1465098"/>
                <a:gd name="connsiteX7" fmla="*/ 0 w 2307241"/>
                <a:gd name="connsiteY7" fmla="*/ 1318588 h 1465098"/>
                <a:gd name="connsiteX8" fmla="*/ 0 w 2307241"/>
                <a:gd name="connsiteY8" fmla="*/ 146510 h 146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7241" h="1465098">
                  <a:moveTo>
                    <a:pt x="0" y="146510"/>
                  </a:moveTo>
                  <a:cubicBezTo>
                    <a:pt x="0" y="65595"/>
                    <a:pt x="65595" y="0"/>
                    <a:pt x="146510" y="0"/>
                  </a:cubicBezTo>
                  <a:lnTo>
                    <a:pt x="2160731" y="0"/>
                  </a:lnTo>
                  <a:cubicBezTo>
                    <a:pt x="2241646" y="0"/>
                    <a:pt x="2307241" y="65595"/>
                    <a:pt x="2307241" y="146510"/>
                  </a:cubicBezTo>
                  <a:lnTo>
                    <a:pt x="2307241" y="1318588"/>
                  </a:lnTo>
                  <a:cubicBezTo>
                    <a:pt x="2307241" y="1399503"/>
                    <a:pt x="2241646" y="1465098"/>
                    <a:pt x="2160731" y="1465098"/>
                  </a:cubicBezTo>
                  <a:lnTo>
                    <a:pt x="146510" y="1465098"/>
                  </a:lnTo>
                  <a:cubicBezTo>
                    <a:pt x="65595" y="1465098"/>
                    <a:pt x="0" y="1399503"/>
                    <a:pt x="0" y="1318588"/>
                  </a:cubicBezTo>
                  <a:lnTo>
                    <a:pt x="0" y="14651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6731" tIns="126731" rIns="126731" bIns="126731" numCol="1" spcCol="1270" anchor="ctr" anchorCtr="0">
              <a:noAutofit/>
            </a:bodyPr>
            <a:lstStyle/>
            <a:p>
              <a:pPr marL="0" lvl="0" indent="0" algn="ctr" defTabSz="977900">
                <a:lnSpc>
                  <a:spcPct val="90000"/>
                </a:lnSpc>
                <a:spcBef>
                  <a:spcPct val="0"/>
                </a:spcBef>
                <a:spcAft>
                  <a:spcPct val="35000"/>
                </a:spcAft>
                <a:buNone/>
              </a:pPr>
              <a:r>
                <a:rPr lang="en-GB" sz="2200" kern="1200" dirty="0"/>
                <a:t>1 Assessment – 3 parts</a:t>
              </a:r>
              <a:endParaRPr lang="en-US" sz="2200" kern="1200" dirty="0"/>
            </a:p>
          </p:txBody>
        </p:sp>
      </p:grpSp>
      <p:grpSp>
        <p:nvGrpSpPr>
          <p:cNvPr id="27" name="Group 26">
            <a:extLst>
              <a:ext uri="{FF2B5EF4-FFF2-40B4-BE49-F238E27FC236}">
                <a16:creationId xmlns:a16="http://schemas.microsoft.com/office/drawing/2014/main" id="{619985B3-4EF4-9D5A-1A06-B6A686013535}"/>
              </a:ext>
            </a:extLst>
          </p:cNvPr>
          <p:cNvGrpSpPr/>
          <p:nvPr/>
        </p:nvGrpSpPr>
        <p:grpSpPr>
          <a:xfrm>
            <a:off x="3404218" y="3166023"/>
            <a:ext cx="2563601" cy="1708640"/>
            <a:chOff x="3404218" y="3166023"/>
            <a:chExt cx="2563601" cy="1708640"/>
          </a:xfrm>
        </p:grpSpPr>
        <p:sp>
          <p:nvSpPr>
            <p:cNvPr id="9" name="Rectangle: Rounded Corners 8">
              <a:extLst>
                <a:ext uri="{FF2B5EF4-FFF2-40B4-BE49-F238E27FC236}">
                  <a16:creationId xmlns:a16="http://schemas.microsoft.com/office/drawing/2014/main" id="{AB95AF8E-486C-95E8-389E-6018786E21CB}"/>
                </a:ext>
              </a:extLst>
            </p:cNvPr>
            <p:cNvSpPr/>
            <p:nvPr/>
          </p:nvSpPr>
          <p:spPr>
            <a:xfrm>
              <a:off x="3404218" y="3166023"/>
              <a:ext cx="2307241" cy="14650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0" name="Freeform: Shape 9">
              <a:extLst>
                <a:ext uri="{FF2B5EF4-FFF2-40B4-BE49-F238E27FC236}">
                  <a16:creationId xmlns:a16="http://schemas.microsoft.com/office/drawing/2014/main" id="{FD30C745-5A48-5BD2-5839-7E2B8A9DAA5B}"/>
                </a:ext>
              </a:extLst>
            </p:cNvPr>
            <p:cNvSpPr/>
            <p:nvPr/>
          </p:nvSpPr>
          <p:spPr>
            <a:xfrm>
              <a:off x="3660578" y="3409565"/>
              <a:ext cx="2307241" cy="1465098"/>
            </a:xfrm>
            <a:custGeom>
              <a:avLst/>
              <a:gdLst>
                <a:gd name="connsiteX0" fmla="*/ 0 w 2307241"/>
                <a:gd name="connsiteY0" fmla="*/ 146510 h 1465098"/>
                <a:gd name="connsiteX1" fmla="*/ 146510 w 2307241"/>
                <a:gd name="connsiteY1" fmla="*/ 0 h 1465098"/>
                <a:gd name="connsiteX2" fmla="*/ 2160731 w 2307241"/>
                <a:gd name="connsiteY2" fmla="*/ 0 h 1465098"/>
                <a:gd name="connsiteX3" fmla="*/ 2307241 w 2307241"/>
                <a:gd name="connsiteY3" fmla="*/ 146510 h 1465098"/>
                <a:gd name="connsiteX4" fmla="*/ 2307241 w 2307241"/>
                <a:gd name="connsiteY4" fmla="*/ 1318588 h 1465098"/>
                <a:gd name="connsiteX5" fmla="*/ 2160731 w 2307241"/>
                <a:gd name="connsiteY5" fmla="*/ 1465098 h 1465098"/>
                <a:gd name="connsiteX6" fmla="*/ 146510 w 2307241"/>
                <a:gd name="connsiteY6" fmla="*/ 1465098 h 1465098"/>
                <a:gd name="connsiteX7" fmla="*/ 0 w 2307241"/>
                <a:gd name="connsiteY7" fmla="*/ 1318588 h 1465098"/>
                <a:gd name="connsiteX8" fmla="*/ 0 w 2307241"/>
                <a:gd name="connsiteY8" fmla="*/ 146510 h 146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7241" h="1465098">
                  <a:moveTo>
                    <a:pt x="0" y="146510"/>
                  </a:moveTo>
                  <a:cubicBezTo>
                    <a:pt x="0" y="65595"/>
                    <a:pt x="65595" y="0"/>
                    <a:pt x="146510" y="0"/>
                  </a:cubicBezTo>
                  <a:lnTo>
                    <a:pt x="2160731" y="0"/>
                  </a:lnTo>
                  <a:cubicBezTo>
                    <a:pt x="2241646" y="0"/>
                    <a:pt x="2307241" y="65595"/>
                    <a:pt x="2307241" y="146510"/>
                  </a:cubicBezTo>
                  <a:lnTo>
                    <a:pt x="2307241" y="1318588"/>
                  </a:lnTo>
                  <a:cubicBezTo>
                    <a:pt x="2307241" y="1399503"/>
                    <a:pt x="2241646" y="1465098"/>
                    <a:pt x="2160731" y="1465098"/>
                  </a:cubicBezTo>
                  <a:lnTo>
                    <a:pt x="146510" y="1465098"/>
                  </a:lnTo>
                  <a:cubicBezTo>
                    <a:pt x="65595" y="1465098"/>
                    <a:pt x="0" y="1399503"/>
                    <a:pt x="0" y="1318588"/>
                  </a:cubicBezTo>
                  <a:lnTo>
                    <a:pt x="0" y="14651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6731" tIns="126731" rIns="126731" bIns="126731" numCol="1" spcCol="1270" anchor="ctr" anchorCtr="0">
              <a:noAutofit/>
            </a:bodyPr>
            <a:lstStyle/>
            <a:p>
              <a:pPr marL="0" lvl="0" indent="0" algn="ctr" defTabSz="977900">
                <a:lnSpc>
                  <a:spcPct val="90000"/>
                </a:lnSpc>
                <a:spcBef>
                  <a:spcPct val="0"/>
                </a:spcBef>
                <a:spcAft>
                  <a:spcPct val="35000"/>
                </a:spcAft>
                <a:buNone/>
              </a:pPr>
              <a:r>
                <a:rPr lang="en-GB" sz="2200" kern="1200" dirty="0"/>
                <a:t>Part 1 – 8 extended response questions</a:t>
              </a:r>
              <a:endParaRPr lang="en-US" sz="2200" kern="1200" dirty="0"/>
            </a:p>
          </p:txBody>
        </p:sp>
      </p:grpSp>
      <p:grpSp>
        <p:nvGrpSpPr>
          <p:cNvPr id="28" name="Group 27">
            <a:extLst>
              <a:ext uri="{FF2B5EF4-FFF2-40B4-BE49-F238E27FC236}">
                <a16:creationId xmlns:a16="http://schemas.microsoft.com/office/drawing/2014/main" id="{2BC952B3-B85C-3E23-7D5D-BCC82C87C3A6}"/>
              </a:ext>
            </a:extLst>
          </p:cNvPr>
          <p:cNvGrpSpPr/>
          <p:nvPr/>
        </p:nvGrpSpPr>
        <p:grpSpPr>
          <a:xfrm>
            <a:off x="6224180" y="3166023"/>
            <a:ext cx="2563601" cy="1708640"/>
            <a:chOff x="6224180" y="3166023"/>
            <a:chExt cx="2563601" cy="1708640"/>
          </a:xfrm>
        </p:grpSpPr>
        <p:sp>
          <p:nvSpPr>
            <p:cNvPr id="21" name="Rectangle: Rounded Corners 20">
              <a:extLst>
                <a:ext uri="{FF2B5EF4-FFF2-40B4-BE49-F238E27FC236}">
                  <a16:creationId xmlns:a16="http://schemas.microsoft.com/office/drawing/2014/main" id="{236B7CD2-6EAB-FF13-C3F8-250B91BF78FC}"/>
                </a:ext>
              </a:extLst>
            </p:cNvPr>
            <p:cNvSpPr/>
            <p:nvPr/>
          </p:nvSpPr>
          <p:spPr>
            <a:xfrm>
              <a:off x="6224180" y="3166023"/>
              <a:ext cx="2307241" cy="14650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23" name="Freeform: Shape 22">
              <a:extLst>
                <a:ext uri="{FF2B5EF4-FFF2-40B4-BE49-F238E27FC236}">
                  <a16:creationId xmlns:a16="http://schemas.microsoft.com/office/drawing/2014/main" id="{A062E0C9-B678-60D1-986C-5C1F3D443129}"/>
                </a:ext>
              </a:extLst>
            </p:cNvPr>
            <p:cNvSpPr/>
            <p:nvPr/>
          </p:nvSpPr>
          <p:spPr>
            <a:xfrm>
              <a:off x="6480540" y="3409565"/>
              <a:ext cx="2307241" cy="1465098"/>
            </a:xfrm>
            <a:custGeom>
              <a:avLst/>
              <a:gdLst>
                <a:gd name="connsiteX0" fmla="*/ 0 w 2307241"/>
                <a:gd name="connsiteY0" fmla="*/ 146510 h 1465098"/>
                <a:gd name="connsiteX1" fmla="*/ 146510 w 2307241"/>
                <a:gd name="connsiteY1" fmla="*/ 0 h 1465098"/>
                <a:gd name="connsiteX2" fmla="*/ 2160731 w 2307241"/>
                <a:gd name="connsiteY2" fmla="*/ 0 h 1465098"/>
                <a:gd name="connsiteX3" fmla="*/ 2307241 w 2307241"/>
                <a:gd name="connsiteY3" fmla="*/ 146510 h 1465098"/>
                <a:gd name="connsiteX4" fmla="*/ 2307241 w 2307241"/>
                <a:gd name="connsiteY4" fmla="*/ 1318588 h 1465098"/>
                <a:gd name="connsiteX5" fmla="*/ 2160731 w 2307241"/>
                <a:gd name="connsiteY5" fmla="*/ 1465098 h 1465098"/>
                <a:gd name="connsiteX6" fmla="*/ 146510 w 2307241"/>
                <a:gd name="connsiteY6" fmla="*/ 1465098 h 1465098"/>
                <a:gd name="connsiteX7" fmla="*/ 0 w 2307241"/>
                <a:gd name="connsiteY7" fmla="*/ 1318588 h 1465098"/>
                <a:gd name="connsiteX8" fmla="*/ 0 w 2307241"/>
                <a:gd name="connsiteY8" fmla="*/ 146510 h 146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7241" h="1465098">
                  <a:moveTo>
                    <a:pt x="0" y="146510"/>
                  </a:moveTo>
                  <a:cubicBezTo>
                    <a:pt x="0" y="65595"/>
                    <a:pt x="65595" y="0"/>
                    <a:pt x="146510" y="0"/>
                  </a:cubicBezTo>
                  <a:lnTo>
                    <a:pt x="2160731" y="0"/>
                  </a:lnTo>
                  <a:cubicBezTo>
                    <a:pt x="2241646" y="0"/>
                    <a:pt x="2307241" y="65595"/>
                    <a:pt x="2307241" y="146510"/>
                  </a:cubicBezTo>
                  <a:lnTo>
                    <a:pt x="2307241" y="1318588"/>
                  </a:lnTo>
                  <a:cubicBezTo>
                    <a:pt x="2307241" y="1399503"/>
                    <a:pt x="2241646" y="1465098"/>
                    <a:pt x="2160731" y="1465098"/>
                  </a:cubicBezTo>
                  <a:lnTo>
                    <a:pt x="146510" y="1465098"/>
                  </a:lnTo>
                  <a:cubicBezTo>
                    <a:pt x="65595" y="1465098"/>
                    <a:pt x="0" y="1399503"/>
                    <a:pt x="0" y="1318588"/>
                  </a:cubicBezTo>
                  <a:lnTo>
                    <a:pt x="0" y="14651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6731" tIns="126731" rIns="126731" bIns="126731" numCol="1" spcCol="1270" anchor="ctr" anchorCtr="0">
              <a:noAutofit/>
            </a:bodyPr>
            <a:lstStyle/>
            <a:p>
              <a:pPr marL="0" lvl="0" indent="0" algn="ctr" defTabSz="977900">
                <a:lnSpc>
                  <a:spcPct val="90000"/>
                </a:lnSpc>
                <a:spcBef>
                  <a:spcPct val="0"/>
                </a:spcBef>
                <a:spcAft>
                  <a:spcPct val="35000"/>
                </a:spcAft>
                <a:buNone/>
              </a:pPr>
              <a:r>
                <a:rPr lang="en-GB" sz="2200" kern="1200"/>
                <a:t>Part 2 – Conduct a Penetration Test from a given scenario </a:t>
              </a:r>
              <a:endParaRPr lang="en-US" sz="2200" kern="1200"/>
            </a:p>
          </p:txBody>
        </p:sp>
      </p:grpSp>
      <p:grpSp>
        <p:nvGrpSpPr>
          <p:cNvPr id="29" name="Group 28">
            <a:extLst>
              <a:ext uri="{FF2B5EF4-FFF2-40B4-BE49-F238E27FC236}">
                <a16:creationId xmlns:a16="http://schemas.microsoft.com/office/drawing/2014/main" id="{39FFF6C5-E4DC-EA9F-8D24-B06F1CB2A4D6}"/>
              </a:ext>
            </a:extLst>
          </p:cNvPr>
          <p:cNvGrpSpPr/>
          <p:nvPr/>
        </p:nvGrpSpPr>
        <p:grpSpPr>
          <a:xfrm>
            <a:off x="9044141" y="3166023"/>
            <a:ext cx="2563602" cy="1708640"/>
            <a:chOff x="9044141" y="3166023"/>
            <a:chExt cx="2563602" cy="1708640"/>
          </a:xfrm>
        </p:grpSpPr>
        <p:sp>
          <p:nvSpPr>
            <p:cNvPr id="24" name="Rectangle: Rounded Corners 23">
              <a:extLst>
                <a:ext uri="{FF2B5EF4-FFF2-40B4-BE49-F238E27FC236}">
                  <a16:creationId xmlns:a16="http://schemas.microsoft.com/office/drawing/2014/main" id="{7E0E9A15-054C-D8FF-01D4-315CA6F6E807}"/>
                </a:ext>
              </a:extLst>
            </p:cNvPr>
            <p:cNvSpPr/>
            <p:nvPr/>
          </p:nvSpPr>
          <p:spPr>
            <a:xfrm>
              <a:off x="9044141" y="3166023"/>
              <a:ext cx="2307241" cy="14650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25" name="Freeform: Shape 24">
              <a:extLst>
                <a:ext uri="{FF2B5EF4-FFF2-40B4-BE49-F238E27FC236}">
                  <a16:creationId xmlns:a16="http://schemas.microsoft.com/office/drawing/2014/main" id="{6B180136-54E8-918C-FBA1-6843DA1A117D}"/>
                </a:ext>
              </a:extLst>
            </p:cNvPr>
            <p:cNvSpPr/>
            <p:nvPr/>
          </p:nvSpPr>
          <p:spPr>
            <a:xfrm>
              <a:off x="9300502" y="3409565"/>
              <a:ext cx="2307241" cy="1465098"/>
            </a:xfrm>
            <a:custGeom>
              <a:avLst/>
              <a:gdLst>
                <a:gd name="connsiteX0" fmla="*/ 0 w 2307241"/>
                <a:gd name="connsiteY0" fmla="*/ 146510 h 1465098"/>
                <a:gd name="connsiteX1" fmla="*/ 146510 w 2307241"/>
                <a:gd name="connsiteY1" fmla="*/ 0 h 1465098"/>
                <a:gd name="connsiteX2" fmla="*/ 2160731 w 2307241"/>
                <a:gd name="connsiteY2" fmla="*/ 0 h 1465098"/>
                <a:gd name="connsiteX3" fmla="*/ 2307241 w 2307241"/>
                <a:gd name="connsiteY3" fmla="*/ 146510 h 1465098"/>
                <a:gd name="connsiteX4" fmla="*/ 2307241 w 2307241"/>
                <a:gd name="connsiteY4" fmla="*/ 1318588 h 1465098"/>
                <a:gd name="connsiteX5" fmla="*/ 2160731 w 2307241"/>
                <a:gd name="connsiteY5" fmla="*/ 1465098 h 1465098"/>
                <a:gd name="connsiteX6" fmla="*/ 146510 w 2307241"/>
                <a:gd name="connsiteY6" fmla="*/ 1465098 h 1465098"/>
                <a:gd name="connsiteX7" fmla="*/ 0 w 2307241"/>
                <a:gd name="connsiteY7" fmla="*/ 1318588 h 1465098"/>
                <a:gd name="connsiteX8" fmla="*/ 0 w 2307241"/>
                <a:gd name="connsiteY8" fmla="*/ 146510 h 146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7241" h="1465098">
                  <a:moveTo>
                    <a:pt x="0" y="146510"/>
                  </a:moveTo>
                  <a:cubicBezTo>
                    <a:pt x="0" y="65595"/>
                    <a:pt x="65595" y="0"/>
                    <a:pt x="146510" y="0"/>
                  </a:cubicBezTo>
                  <a:lnTo>
                    <a:pt x="2160731" y="0"/>
                  </a:lnTo>
                  <a:cubicBezTo>
                    <a:pt x="2241646" y="0"/>
                    <a:pt x="2307241" y="65595"/>
                    <a:pt x="2307241" y="146510"/>
                  </a:cubicBezTo>
                  <a:lnTo>
                    <a:pt x="2307241" y="1318588"/>
                  </a:lnTo>
                  <a:cubicBezTo>
                    <a:pt x="2307241" y="1399503"/>
                    <a:pt x="2241646" y="1465098"/>
                    <a:pt x="2160731" y="1465098"/>
                  </a:cubicBezTo>
                  <a:lnTo>
                    <a:pt x="146510" y="1465098"/>
                  </a:lnTo>
                  <a:cubicBezTo>
                    <a:pt x="65595" y="1465098"/>
                    <a:pt x="0" y="1399503"/>
                    <a:pt x="0" y="1318588"/>
                  </a:cubicBezTo>
                  <a:lnTo>
                    <a:pt x="0" y="14651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6731" tIns="126731" rIns="126731" bIns="126731" numCol="1" spcCol="1270" anchor="ctr" anchorCtr="0">
              <a:noAutofit/>
            </a:bodyPr>
            <a:lstStyle/>
            <a:p>
              <a:pPr marL="0" lvl="0" indent="0" algn="ctr" defTabSz="977900">
                <a:lnSpc>
                  <a:spcPct val="90000"/>
                </a:lnSpc>
                <a:spcBef>
                  <a:spcPct val="0"/>
                </a:spcBef>
                <a:spcAft>
                  <a:spcPct val="35000"/>
                </a:spcAft>
                <a:buNone/>
              </a:pPr>
              <a:r>
                <a:rPr lang="en-GB" sz="2200" kern="1200"/>
                <a:t>Part 3 – Produce a Penetration Test report </a:t>
              </a:r>
              <a:endParaRPr lang="en-US" sz="2200" kern="1200"/>
            </a:p>
          </p:txBody>
        </p:sp>
      </p:grpSp>
    </p:spTree>
    <p:extLst>
      <p:ext uri="{BB962C8B-B14F-4D97-AF65-F5344CB8AC3E}">
        <p14:creationId xmlns:p14="http://schemas.microsoft.com/office/powerpoint/2010/main" val="134871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descr="An abstract circuit line pattern">
            <a:extLst>
              <a:ext uri="{FF2B5EF4-FFF2-40B4-BE49-F238E27FC236}">
                <a16:creationId xmlns:a16="http://schemas.microsoft.com/office/drawing/2014/main" id="{47443719-B85D-ECD5-59FC-DB1550EDE359}"/>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497841" y="1879600"/>
            <a:ext cx="11112968" cy="4210114"/>
          </a:xfrm>
          <a:prstGeom prst="rect">
            <a:avLst/>
          </a:prstGeom>
        </p:spPr>
      </p:pic>
      <p:sp>
        <p:nvSpPr>
          <p:cNvPr id="2" name="Title 1">
            <a:extLst>
              <a:ext uri="{FF2B5EF4-FFF2-40B4-BE49-F238E27FC236}">
                <a16:creationId xmlns:a16="http://schemas.microsoft.com/office/drawing/2014/main" id="{BE823A63-69B5-5D6E-1B53-5926A900FE70}"/>
              </a:ext>
            </a:extLst>
          </p:cNvPr>
          <p:cNvSpPr>
            <a:spLocks noGrp="1"/>
          </p:cNvSpPr>
          <p:nvPr>
            <p:ph type="title"/>
          </p:nvPr>
        </p:nvSpPr>
        <p:spPr/>
        <p:txBody>
          <a:bodyPr/>
          <a:lstStyle/>
          <a:p>
            <a:r>
              <a:rPr lang="en-US" dirty="0"/>
              <a:t>Penetration Testing </a:t>
            </a:r>
            <a:endParaRPr lang="en-GB" dirty="0"/>
          </a:p>
        </p:txBody>
      </p:sp>
      <p:sp>
        <p:nvSpPr>
          <p:cNvPr id="6" name="Slide Number Placeholder 5">
            <a:extLst>
              <a:ext uri="{FF2B5EF4-FFF2-40B4-BE49-F238E27FC236}">
                <a16:creationId xmlns:a16="http://schemas.microsoft.com/office/drawing/2014/main" id="{DE3F14DB-93FC-E60E-A53A-F60B10189C64}"/>
              </a:ext>
            </a:extLst>
          </p:cNvPr>
          <p:cNvSpPr>
            <a:spLocks noGrp="1"/>
          </p:cNvSpPr>
          <p:nvPr>
            <p:ph type="sldNum" sz="quarter" idx="12"/>
          </p:nvPr>
        </p:nvSpPr>
        <p:spPr/>
        <p:txBody>
          <a:bodyPr/>
          <a:lstStyle/>
          <a:p>
            <a:fld id="{7BE69E03-4804-4553-A1EC-F089884EF50F}" type="slidenum">
              <a:rPr lang="en-US" smtClean="0"/>
              <a:t>4</a:t>
            </a:fld>
            <a:endParaRPr lang="en-US" dirty="0"/>
          </a:p>
        </p:txBody>
      </p:sp>
      <mc:AlternateContent xmlns:mc="http://schemas.openxmlformats.org/markup-compatibility/2006">
        <mc:Choice xmlns:am3d="http://schemas.microsoft.com/office/drawing/2017/model3d" Requires="am3d">
          <p:graphicFrame>
            <p:nvGraphicFramePr>
              <p:cNvPr id="11" name="Content Placeholder 10" descr="Male icon">
                <a:extLst>
                  <a:ext uri="{FF2B5EF4-FFF2-40B4-BE49-F238E27FC236}">
                    <a16:creationId xmlns:a16="http://schemas.microsoft.com/office/drawing/2014/main" id="{F1E13594-DE6E-AEB3-B84D-CC8E4E435F31}"/>
                  </a:ext>
                </a:extLst>
              </p:cNvPr>
              <p:cNvGraphicFramePr>
                <a:graphicFrameLocks noGrp="1" noChangeAspect="1"/>
              </p:cNvGraphicFramePr>
              <p:nvPr>
                <p:ph idx="1"/>
                <p:extLst>
                  <p:ext uri="{D42A27DB-BD31-4B8C-83A1-F6EECF244321}">
                    <p14:modId xmlns:p14="http://schemas.microsoft.com/office/powerpoint/2010/main" val="3444018769"/>
                  </p:ext>
                </p:extLst>
              </p:nvPr>
            </p:nvGraphicFramePr>
            <p:xfrm>
              <a:off x="6187263" y="2155635"/>
              <a:ext cx="618291" cy="1733923"/>
            </p:xfrm>
            <a:graphic>
              <a:graphicData uri="http://schemas.microsoft.com/office/drawing/2017/model3d">
                <am3d:model3d r:embed="rId3">
                  <am3d:spPr>
                    <a:xfrm>
                      <a:off x="0" y="0"/>
                      <a:ext cx="618291" cy="1733923"/>
                    </a:xfrm>
                    <a:prstGeom prst="rect">
                      <a:avLst/>
                    </a:prstGeom>
                  </am3d:spPr>
                  <am3d:camera>
                    <am3d:pos x="0" y="0" z="50316661"/>
                    <am3d:up dx="0" dy="36000000" dz="0"/>
                    <am3d:lookAt x="0" y="0" z="0"/>
                    <am3d:perspective fov="2700000"/>
                  </am3d:camera>
                  <am3d:trans>
                    <am3d:meterPerModelUnit n="3029133" d="1000000"/>
                    <am3d:preTrans dx="0" dy="-18000000" dz="2458"/>
                    <am3d:scale>
                      <am3d:sx n="1000000" d="1000000"/>
                      <am3d:sy n="1000000" d="1000000"/>
                      <am3d:sz n="1000000" d="1000000"/>
                    </am3d:scale>
                    <am3d:rot ax="-10716998" ay="-1312514" az="10769076"/>
                    <am3d:postTrans dx="0" dy="0" dz="0"/>
                  </am3d:trans>
                  <am3d:raster rName="Office3DRenderer" rVer="16.0.8326">
                    <am3d:blip r:embed="rId4"/>
                  </am3d:raster>
                  <am3d:objViewport viewportSz="185620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Content Placeholder 10" descr="Male icon">
                <a:extLst>
                  <a:ext uri="{FF2B5EF4-FFF2-40B4-BE49-F238E27FC236}">
                    <a16:creationId xmlns:a16="http://schemas.microsoft.com/office/drawing/2014/main" id="{F1E13594-DE6E-AEB3-B84D-CC8E4E435F31}"/>
                  </a:ext>
                </a:extLst>
              </p:cNvPr>
              <p:cNvPicPr>
                <a:picLocks noGrp="1" noRot="1" noChangeAspect="1" noMove="1" noResize="1" noEditPoints="1" noAdjustHandles="1" noChangeArrowheads="1" noChangeShapeType="1" noCrop="1"/>
              </p:cNvPicPr>
              <p:nvPr/>
            </p:nvPicPr>
            <p:blipFill>
              <a:blip r:embed="rId4"/>
              <a:stretch>
                <a:fillRect/>
              </a:stretch>
            </p:blipFill>
            <p:spPr>
              <a:xfrm>
                <a:off x="6187263" y="2155635"/>
                <a:ext cx="618291" cy="173392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3" name="3D Model 22" descr="Laptop Computer">
                <a:extLst>
                  <a:ext uri="{FF2B5EF4-FFF2-40B4-BE49-F238E27FC236}">
                    <a16:creationId xmlns:a16="http://schemas.microsoft.com/office/drawing/2014/main" id="{5C4F2376-07D9-36A5-BF03-12D9B258B2F0}"/>
                  </a:ext>
                </a:extLst>
              </p:cNvPr>
              <p:cNvGraphicFramePr>
                <a:graphicFrameLocks noChangeAspect="1"/>
              </p:cNvGraphicFramePr>
              <p:nvPr>
                <p:extLst>
                  <p:ext uri="{D42A27DB-BD31-4B8C-83A1-F6EECF244321}">
                    <p14:modId xmlns:p14="http://schemas.microsoft.com/office/powerpoint/2010/main" val="474954244"/>
                  </p:ext>
                </p:extLst>
              </p:nvPr>
            </p:nvGraphicFramePr>
            <p:xfrm flipV="1">
              <a:off x="725383" y="3984188"/>
              <a:ext cx="2082591" cy="2090856"/>
            </p:xfrm>
            <a:graphic>
              <a:graphicData uri="http://schemas.microsoft.com/office/drawing/2017/model3d">
                <am3d:model3d r:embed="rId5">
                  <am3d:spPr>
                    <a:xfrm flipV="1">
                      <a:off x="0" y="0"/>
                      <a:ext cx="2082591" cy="2090856"/>
                    </a:xfrm>
                    <a:prstGeom prst="rect">
                      <a:avLst/>
                    </a:prstGeom>
                  </am3d:spPr>
                  <am3d:camera>
                    <am3d:pos x="0" y="0" z="65422528"/>
                    <am3d:up dx="0" dy="36000000" dz="0"/>
                    <am3d:lookAt x="0" y="0" z="0"/>
                    <am3d:perspective fov="2700000"/>
                  </am3d:camera>
                  <am3d:trans>
                    <am3d:meterPerModelUnit n="3145800" d="1000000"/>
                    <am3d:preTrans dx="-543" dy="-12469323" dz="2456953"/>
                    <am3d:scale>
                      <am3d:sx n="1000000" d="1000000"/>
                      <am3d:sy n="1000000" d="1000000"/>
                      <am3d:sz n="1000000" d="1000000"/>
                    </am3d:scale>
                    <am3d:rot ax="1490812" ay="-2919279" az="9649819"/>
                    <am3d:postTrans dx="0" dy="0" dz="0"/>
                  </am3d:trans>
                  <am3d:raster rName="Office3DRenderer" rVer="16.0.8326">
                    <am3d:blip r:embed="rId6"/>
                  </am3d:raster>
                  <am3d:objViewport viewportSz="231894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 name="3D Model 22" descr="Laptop Computer">
                <a:extLst>
                  <a:ext uri="{FF2B5EF4-FFF2-40B4-BE49-F238E27FC236}">
                    <a16:creationId xmlns:a16="http://schemas.microsoft.com/office/drawing/2014/main" id="{5C4F2376-07D9-36A5-BF03-12D9B258B2F0}"/>
                  </a:ext>
                </a:extLst>
              </p:cNvPr>
              <p:cNvPicPr>
                <a:picLocks noGrp="1" noRot="1" noChangeAspect="1" noMove="1" noResize="1" noEditPoints="1" noAdjustHandles="1" noChangeArrowheads="1" noChangeShapeType="1" noCrop="1"/>
              </p:cNvPicPr>
              <p:nvPr/>
            </p:nvPicPr>
            <p:blipFill>
              <a:blip r:embed="rId6"/>
              <a:stretch>
                <a:fillRect/>
              </a:stretch>
            </p:blipFill>
            <p:spPr>
              <a:xfrm flipV="1">
                <a:off x="725383" y="3984188"/>
                <a:ext cx="2082591" cy="209085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4" name="3D Model 23" descr="Wifi Router">
                <a:extLst>
                  <a:ext uri="{FF2B5EF4-FFF2-40B4-BE49-F238E27FC236}">
                    <a16:creationId xmlns:a16="http://schemas.microsoft.com/office/drawing/2014/main" id="{BEA1208A-EFC2-AEA8-2C1B-B8228120F2CC}"/>
                  </a:ext>
                </a:extLst>
              </p:cNvPr>
              <p:cNvGraphicFramePr>
                <a:graphicFrameLocks noChangeAspect="1"/>
              </p:cNvGraphicFramePr>
              <p:nvPr>
                <p:extLst>
                  <p:ext uri="{D42A27DB-BD31-4B8C-83A1-F6EECF244321}">
                    <p14:modId xmlns:p14="http://schemas.microsoft.com/office/powerpoint/2010/main" val="1737157006"/>
                  </p:ext>
                </p:extLst>
              </p:nvPr>
            </p:nvGraphicFramePr>
            <p:xfrm>
              <a:off x="9274900" y="4510832"/>
              <a:ext cx="1851846" cy="1414583"/>
            </p:xfrm>
            <a:graphic>
              <a:graphicData uri="http://schemas.microsoft.com/office/drawing/2017/model3d">
                <am3d:model3d r:embed="rId7">
                  <am3d:spPr>
                    <a:xfrm>
                      <a:off x="0" y="0"/>
                      <a:ext cx="1851846" cy="1414583"/>
                    </a:xfrm>
                    <a:prstGeom prst="rect">
                      <a:avLst/>
                    </a:prstGeom>
                  </am3d:spPr>
                  <am3d:camera>
                    <am3d:pos x="0" y="0" z="66470932"/>
                    <am3d:up dx="0" dy="36000000" dz="0"/>
                    <am3d:lookAt x="0" y="0" z="0"/>
                    <am3d:perspective fov="2700000"/>
                  </am3d:camera>
                  <am3d:trans>
                    <am3d:meterPerModelUnit n="5010602" d="1000000"/>
                    <am3d:preTrans dx="32" dy="-13734950" dz="39719"/>
                    <am3d:scale>
                      <am3d:sx n="1000000" d="1000000"/>
                      <am3d:sy n="1000000" d="1000000"/>
                      <am3d:sz n="1000000" d="1000000"/>
                    </am3d:scale>
                    <am3d:rot/>
                    <am3d:postTrans dx="0" dy="0" dz="0"/>
                  </am3d:trans>
                  <am3d:raster rName="Office3DRenderer" rVer="16.0.8326">
                    <am3d:blip r:embed="rId8"/>
                  </am3d:raster>
                  <am3d:objViewport viewportSz="2339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3D Model 23" descr="Wifi Router">
                <a:extLst>
                  <a:ext uri="{FF2B5EF4-FFF2-40B4-BE49-F238E27FC236}">
                    <a16:creationId xmlns:a16="http://schemas.microsoft.com/office/drawing/2014/main" id="{BEA1208A-EFC2-AEA8-2C1B-B8228120F2CC}"/>
                  </a:ext>
                </a:extLst>
              </p:cNvPr>
              <p:cNvPicPr>
                <a:picLocks noGrp="1" noRot="1" noChangeAspect="1" noMove="1" noResize="1" noEditPoints="1" noAdjustHandles="1" noChangeArrowheads="1" noChangeShapeType="1" noCrop="1"/>
              </p:cNvPicPr>
              <p:nvPr/>
            </p:nvPicPr>
            <p:blipFill>
              <a:blip r:embed="rId8"/>
              <a:stretch>
                <a:fillRect/>
              </a:stretch>
            </p:blipFill>
            <p:spPr>
              <a:xfrm>
                <a:off x="9274900" y="4510832"/>
                <a:ext cx="1851846" cy="141458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5" name="3D Model 24" descr="Cloud Database">
                <a:extLst>
                  <a:ext uri="{FF2B5EF4-FFF2-40B4-BE49-F238E27FC236}">
                    <a16:creationId xmlns:a16="http://schemas.microsoft.com/office/drawing/2014/main" id="{F836621D-DDD2-B3E3-7D65-B915B89AD056}"/>
                  </a:ext>
                </a:extLst>
              </p:cNvPr>
              <p:cNvGraphicFramePr>
                <a:graphicFrameLocks noChangeAspect="1"/>
              </p:cNvGraphicFramePr>
              <p:nvPr>
                <p:extLst>
                  <p:ext uri="{D42A27DB-BD31-4B8C-83A1-F6EECF244321}">
                    <p14:modId xmlns:p14="http://schemas.microsoft.com/office/powerpoint/2010/main" val="3695338528"/>
                  </p:ext>
                </p:extLst>
              </p:nvPr>
            </p:nvGraphicFramePr>
            <p:xfrm>
              <a:off x="9192120" y="1996374"/>
              <a:ext cx="1399422" cy="1532700"/>
            </p:xfrm>
            <a:graphic>
              <a:graphicData uri="http://schemas.microsoft.com/office/drawing/2017/model3d">
                <am3d:model3d r:embed="rId9">
                  <am3d:spPr>
                    <a:xfrm>
                      <a:off x="0" y="0"/>
                      <a:ext cx="1399422" cy="1532700"/>
                    </a:xfrm>
                    <a:prstGeom prst="rect">
                      <a:avLst/>
                    </a:prstGeom>
                  </am3d:spPr>
                  <am3d:camera>
                    <am3d:pos x="0" y="0" z="75336453"/>
                    <am3d:up dx="0" dy="36000000" dz="0"/>
                    <am3d:lookAt x="0" y="0" z="0"/>
                    <am3d:perspective fov="2700000"/>
                  </am3d:camera>
                  <am3d:trans>
                    <am3d:meterPerModelUnit n="129697" d="1000000"/>
                    <am3d:preTrans dx="1147748" dy="-16466351" dz="-955141"/>
                    <am3d:scale>
                      <am3d:sx n="1000000" d="1000000"/>
                      <am3d:sy n="1000000" d="1000000"/>
                      <am3d:sz n="1000000" d="1000000"/>
                    </am3d:scale>
                    <am3d:rot/>
                    <am3d:postTrans dx="0" dy="0" dz="0"/>
                  </am3d:trans>
                  <am3d:raster rName="Office3DRenderer" rVer="16.0.8326">
                    <am3d:blip r:embed="rId10"/>
                  </am3d:raster>
                  <am3d:objViewport viewportSz="248468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 name="3D Model 24" descr="Cloud Database">
                <a:extLst>
                  <a:ext uri="{FF2B5EF4-FFF2-40B4-BE49-F238E27FC236}">
                    <a16:creationId xmlns:a16="http://schemas.microsoft.com/office/drawing/2014/main" id="{F836621D-DDD2-B3E3-7D65-B915B89AD056}"/>
                  </a:ext>
                </a:extLst>
              </p:cNvPr>
              <p:cNvPicPr>
                <a:picLocks noGrp="1" noRot="1" noChangeAspect="1" noMove="1" noResize="1" noEditPoints="1" noAdjustHandles="1" noChangeArrowheads="1" noChangeShapeType="1" noCrop="1"/>
              </p:cNvPicPr>
              <p:nvPr/>
            </p:nvPicPr>
            <p:blipFill>
              <a:blip r:embed="rId10"/>
              <a:stretch>
                <a:fillRect/>
              </a:stretch>
            </p:blipFill>
            <p:spPr>
              <a:xfrm>
                <a:off x="9192120" y="1996374"/>
                <a:ext cx="1399422" cy="153270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6" name="3D Model 25" descr="Mobile phone">
                <a:extLst>
                  <a:ext uri="{FF2B5EF4-FFF2-40B4-BE49-F238E27FC236}">
                    <a16:creationId xmlns:a16="http://schemas.microsoft.com/office/drawing/2014/main" id="{A5FED50F-2FA0-7440-7989-975F5B240767}"/>
                  </a:ext>
                </a:extLst>
              </p:cNvPr>
              <p:cNvGraphicFramePr>
                <a:graphicFrameLocks noChangeAspect="1"/>
              </p:cNvGraphicFramePr>
              <p:nvPr>
                <p:extLst>
                  <p:ext uri="{D42A27DB-BD31-4B8C-83A1-F6EECF244321}">
                    <p14:modId xmlns:p14="http://schemas.microsoft.com/office/powerpoint/2010/main" val="4195134918"/>
                  </p:ext>
                </p:extLst>
              </p:nvPr>
            </p:nvGraphicFramePr>
            <p:xfrm>
              <a:off x="3084200" y="2203877"/>
              <a:ext cx="825849" cy="1685681"/>
            </p:xfrm>
            <a:graphic>
              <a:graphicData uri="http://schemas.microsoft.com/office/drawing/2017/model3d">
                <am3d:model3d r:embed="rId11">
                  <am3d:spPr>
                    <a:xfrm>
                      <a:off x="0" y="0"/>
                      <a:ext cx="825849" cy="1685681"/>
                    </a:xfrm>
                    <a:prstGeom prst="rect">
                      <a:avLst/>
                    </a:prstGeom>
                  </am3d:spPr>
                  <am3d:camera>
                    <am3d:pos x="0" y="0" z="52500700"/>
                    <am3d:up dx="0" dy="36000000" dz="0"/>
                    <am3d:lookAt x="0" y="0" z="0"/>
                    <am3d:perspective fov="2700000"/>
                  </am3d:camera>
                  <am3d:trans>
                    <am3d:meterPerModelUnit n="32307497" d="1000000"/>
                    <am3d:preTrans dx="-44610" dy="-17992235" dz="888902"/>
                    <am3d:scale>
                      <am3d:sx n="1000000" d="1000000"/>
                      <am3d:sy n="1000000" d="1000000"/>
                      <am3d:sz n="1000000" d="1000000"/>
                    </am3d:scale>
                    <am3d:rot/>
                    <am3d:postTrans dx="0" dy="0" dz="0"/>
                  </am3d:trans>
                  <am3d:raster rName="Office3DRenderer" rVer="16.0.8326">
                    <am3d:blip r:embed="rId12"/>
                  </am3d:raster>
                  <am3d:objViewport viewportSz="198324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6" name="3D Model 25" descr="Mobile phone">
                <a:extLst>
                  <a:ext uri="{FF2B5EF4-FFF2-40B4-BE49-F238E27FC236}">
                    <a16:creationId xmlns:a16="http://schemas.microsoft.com/office/drawing/2014/main" id="{A5FED50F-2FA0-7440-7989-975F5B240767}"/>
                  </a:ext>
                </a:extLst>
              </p:cNvPr>
              <p:cNvPicPr>
                <a:picLocks noGrp="1" noRot="1" noChangeAspect="1" noMove="1" noResize="1" noEditPoints="1" noAdjustHandles="1" noChangeArrowheads="1" noChangeShapeType="1" noCrop="1"/>
              </p:cNvPicPr>
              <p:nvPr/>
            </p:nvPicPr>
            <p:blipFill>
              <a:blip r:embed="rId12"/>
              <a:stretch>
                <a:fillRect/>
              </a:stretch>
            </p:blipFill>
            <p:spPr>
              <a:xfrm>
                <a:off x="3084200" y="2203877"/>
                <a:ext cx="825849" cy="168568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7" name="3D Model 26" descr="Closed lock">
                <a:extLst>
                  <a:ext uri="{FF2B5EF4-FFF2-40B4-BE49-F238E27FC236}">
                    <a16:creationId xmlns:a16="http://schemas.microsoft.com/office/drawing/2014/main" id="{7B2D2A74-844E-8EE2-1610-08BFBA1C8F24}"/>
                  </a:ext>
                </a:extLst>
              </p:cNvPr>
              <p:cNvGraphicFramePr>
                <a:graphicFrameLocks noChangeAspect="1"/>
              </p:cNvGraphicFramePr>
              <p:nvPr>
                <p:extLst>
                  <p:ext uri="{D42A27DB-BD31-4B8C-83A1-F6EECF244321}">
                    <p14:modId xmlns:p14="http://schemas.microsoft.com/office/powerpoint/2010/main" val="421471007"/>
                  </p:ext>
                </p:extLst>
              </p:nvPr>
            </p:nvGraphicFramePr>
            <p:xfrm>
              <a:off x="7221824" y="3814628"/>
              <a:ext cx="1112803" cy="1984356"/>
            </p:xfrm>
            <a:graphic>
              <a:graphicData uri="http://schemas.microsoft.com/office/drawing/2017/model3d">
                <am3d:model3d r:embed="rId13">
                  <am3d:spPr>
                    <a:xfrm>
                      <a:off x="0" y="0"/>
                      <a:ext cx="1112803" cy="1984356"/>
                    </a:xfrm>
                    <a:prstGeom prst="rect">
                      <a:avLst/>
                    </a:prstGeom>
                  </am3d:spPr>
                  <am3d:camera>
                    <am3d:pos x="0" y="0" z="56011935"/>
                    <am3d:up dx="0" dy="36000000" dz="0"/>
                    <am3d:lookAt x="0" y="0" z="0"/>
                    <am3d:perspective fov="2700000"/>
                  </am3d:camera>
                  <am3d:trans>
                    <am3d:meterPerModelUnit n="3525389" d="1000000"/>
                    <am3d:preTrans dx="0" dy="-18000000" dz="0"/>
                    <am3d:scale>
                      <am3d:sx n="1000000" d="1000000"/>
                      <am3d:sy n="1000000" d="1000000"/>
                      <am3d:sz n="1000000" d="1000000"/>
                    </am3d:scale>
                    <am3d:rot ax="828002" ay="-1988880" az="-458967"/>
                    <am3d:postTrans dx="0" dy="0" dz="0"/>
                  </am3d:trans>
                  <am3d:raster rName="Office3DRenderer" rVer="16.0.8326">
                    <am3d:blip r:embed="rId14"/>
                  </am3d:raster>
                  <am3d:objViewport viewportSz="212098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3D Model 26" descr="Closed lock">
                <a:extLst>
                  <a:ext uri="{FF2B5EF4-FFF2-40B4-BE49-F238E27FC236}">
                    <a16:creationId xmlns:a16="http://schemas.microsoft.com/office/drawing/2014/main" id="{7B2D2A74-844E-8EE2-1610-08BFBA1C8F24}"/>
                  </a:ext>
                </a:extLst>
              </p:cNvPr>
              <p:cNvPicPr>
                <a:picLocks noGrp="1" noRot="1" noChangeAspect="1" noMove="1" noResize="1" noEditPoints="1" noAdjustHandles="1" noChangeArrowheads="1" noChangeShapeType="1" noCrop="1"/>
              </p:cNvPicPr>
              <p:nvPr/>
            </p:nvPicPr>
            <p:blipFill>
              <a:blip r:embed="rId14"/>
              <a:stretch>
                <a:fillRect/>
              </a:stretch>
            </p:blipFill>
            <p:spPr>
              <a:xfrm>
                <a:off x="7221824" y="3814628"/>
                <a:ext cx="1112803" cy="198435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8" name="3D Model 27" descr="Usb Pen Drive">
                <a:extLst>
                  <a:ext uri="{FF2B5EF4-FFF2-40B4-BE49-F238E27FC236}">
                    <a16:creationId xmlns:a16="http://schemas.microsoft.com/office/drawing/2014/main" id="{8DFA68A3-34D6-8985-011D-53EB334B386A}"/>
                  </a:ext>
                </a:extLst>
              </p:cNvPr>
              <p:cNvGraphicFramePr>
                <a:graphicFrameLocks noChangeAspect="1"/>
              </p:cNvGraphicFramePr>
              <p:nvPr>
                <p:extLst>
                  <p:ext uri="{D42A27DB-BD31-4B8C-83A1-F6EECF244321}">
                    <p14:modId xmlns:p14="http://schemas.microsoft.com/office/powerpoint/2010/main" val="805912623"/>
                  </p:ext>
                </p:extLst>
              </p:nvPr>
            </p:nvGraphicFramePr>
            <p:xfrm>
              <a:off x="4065769" y="4607044"/>
              <a:ext cx="1127417" cy="1222159"/>
            </p:xfrm>
            <a:graphic>
              <a:graphicData uri="http://schemas.microsoft.com/office/drawing/2017/model3d">
                <am3d:model3d r:embed="rId15">
                  <am3d:spPr>
                    <a:xfrm>
                      <a:off x="0" y="0"/>
                      <a:ext cx="1127417" cy="1222159"/>
                    </a:xfrm>
                    <a:prstGeom prst="rect">
                      <a:avLst/>
                    </a:prstGeom>
                  </am3d:spPr>
                  <am3d:camera>
                    <am3d:pos x="0" y="0" z="50125413"/>
                    <am3d:up dx="0" dy="36000000" dz="0"/>
                    <am3d:lookAt x="0" y="0" z="0"/>
                    <am3d:perspective fov="2700000"/>
                  </am3d:camera>
                  <am3d:trans>
                    <am3d:meterPerModelUnit n="6672894" d="1000000"/>
                    <am3d:preTrans dx="0" dy="-2593220" dz="0"/>
                    <am3d:scale>
                      <am3d:sx n="1000000" d="1000000"/>
                      <am3d:sy n="1000000" d="1000000"/>
                      <am3d:sz n="1000000" d="1000000"/>
                    </am3d:scale>
                    <am3d:rot ax="2579140" ay="1281055" az="1124639"/>
                    <am3d:postTrans dx="0" dy="0" dz="0"/>
                  </am3d:trans>
                  <am3d:raster rName="Office3DRenderer" rVer="16.0.8326">
                    <am3d:blip r:embed="rId16"/>
                  </am3d:raster>
                  <am3d:objViewport viewportSz="146848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3D Model 27" descr="Usb Pen Drive">
                <a:extLst>
                  <a:ext uri="{FF2B5EF4-FFF2-40B4-BE49-F238E27FC236}">
                    <a16:creationId xmlns:a16="http://schemas.microsoft.com/office/drawing/2014/main" id="{8DFA68A3-34D6-8985-011D-53EB334B386A}"/>
                  </a:ext>
                </a:extLst>
              </p:cNvPr>
              <p:cNvPicPr>
                <a:picLocks noGrp="1" noRot="1" noChangeAspect="1" noMove="1" noResize="1" noEditPoints="1" noAdjustHandles="1" noChangeArrowheads="1" noChangeShapeType="1" noCrop="1"/>
              </p:cNvPicPr>
              <p:nvPr/>
            </p:nvPicPr>
            <p:blipFill>
              <a:blip r:embed="rId16"/>
              <a:stretch>
                <a:fillRect/>
              </a:stretch>
            </p:blipFill>
            <p:spPr>
              <a:xfrm>
                <a:off x="4065769" y="4607044"/>
                <a:ext cx="1127417" cy="1222159"/>
              </a:xfrm>
              <a:prstGeom prst="rect">
                <a:avLst/>
              </a:prstGeom>
            </p:spPr>
          </p:pic>
        </mc:Fallback>
      </mc:AlternateContent>
    </p:spTree>
    <p:extLst>
      <p:ext uri="{BB962C8B-B14F-4D97-AF65-F5344CB8AC3E}">
        <p14:creationId xmlns:p14="http://schemas.microsoft.com/office/powerpoint/2010/main" val="32150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0" presetClass="entr" presetSubtype="12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additive="sum">
                                        <p:cTn id="8" dur="1000" fill="hold"/>
                                        <p:tgtEl>
                                          <p:spTgt spid="23"/>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9" dur="1000" fill="hold"/>
                                        <p:tgtEl>
                                          <p:spTgt spid="23"/>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0" dur="1000" fill="hold"/>
                                        <p:tgtEl>
                                          <p:spTgt spid="23"/>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1" dur="1000" fill="hold"/>
                                        <p:tgtEl>
                                          <p:spTgt spid="23"/>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12" fill="hold">
                      <p:stCondLst>
                        <p:cond delay="indefinite"/>
                      </p:stCondLst>
                      <p:childTnLst>
                        <p:par>
                          <p:cTn id="13" fill="hold">
                            <p:stCondLst>
                              <p:cond delay="0"/>
                            </p:stCondLst>
                            <p:childTnLst>
                              <p:par>
                                <p:cTn id="14" presetID="60" presetClass="entr" presetSubtype="128"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1000"/>
                                        <p:tgtEl>
                                          <p:spTgt spid="26"/>
                                        </p:tgtEl>
                                      </p:cBhvr>
                                    </p:animEffect>
                                    <p:anim calcmode="lin" valueType="num">
                                      <p:cBhvr additive="sum">
                                        <p:cTn id="17" dur="1000" fill="hold"/>
                                        <p:tgtEl>
                                          <p:spTgt spid="26"/>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18" dur="1000" fill="hold"/>
                                        <p:tgtEl>
                                          <p:spTgt spid="26"/>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9" dur="1000" fill="hold"/>
                                        <p:tgtEl>
                                          <p:spTgt spid="26"/>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20" dur="1000" fill="hold"/>
                                        <p:tgtEl>
                                          <p:spTgt spid="26"/>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23" presetID="60" presetClass="entr" presetSubtype="128"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1000"/>
                                        <p:tgtEl>
                                          <p:spTgt spid="28"/>
                                        </p:tgtEl>
                                      </p:cBhvr>
                                    </p:animEffect>
                                    <p:anim calcmode="lin" valueType="num">
                                      <p:cBhvr additive="sum">
                                        <p:cTn id="26" dur="1000" fill="hold"/>
                                        <p:tgtEl>
                                          <p:spTgt spid="28"/>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27" dur="1000" fill="hold"/>
                                        <p:tgtEl>
                                          <p:spTgt spid="28"/>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28" dur="1000" fill="hold"/>
                                        <p:tgtEl>
                                          <p:spTgt spid="28"/>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29" dur="1000" fill="hold"/>
                                        <p:tgtEl>
                                          <p:spTgt spid="28"/>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30" fill="hold">
                      <p:stCondLst>
                        <p:cond delay="indefinite"/>
                      </p:stCondLst>
                      <p:childTnLst>
                        <p:par>
                          <p:cTn id="31" fill="hold">
                            <p:stCondLst>
                              <p:cond delay="0"/>
                            </p:stCondLst>
                            <p:childTnLst>
                              <p:par>
                                <p:cTn id="32" presetID="60" presetClass="entr" presetSubtype="128"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additive="sum">
                                        <p:cTn id="35" dur="1000" fill="hold"/>
                                        <p:tgtEl>
                                          <p:spTgt spid="11"/>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36" dur="1000" fill="hold"/>
                                        <p:tgtEl>
                                          <p:spTgt spid="11"/>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37" dur="1000" fill="hold"/>
                                        <p:tgtEl>
                                          <p:spTgt spid="11"/>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38" dur="1000" fill="hold"/>
                                        <p:tgtEl>
                                          <p:spTgt spid="11"/>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60" presetClass="entr" presetSubtype="128"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additive="sum">
                                        <p:cTn id="44" dur="1000" fill="hold"/>
                                        <p:tgtEl>
                                          <p:spTgt spid="25"/>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45" dur="1000" fill="hold"/>
                                        <p:tgtEl>
                                          <p:spTgt spid="25"/>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46" dur="1000" fill="hold"/>
                                        <p:tgtEl>
                                          <p:spTgt spid="25"/>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47" dur="1000" fill="hold"/>
                                        <p:tgtEl>
                                          <p:spTgt spid="25"/>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60" presetClass="entr" presetSubtype="128" fill="hold"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additive="sum">
                                        <p:cTn id="53" dur="1000" fill="hold"/>
                                        <p:tgtEl>
                                          <p:spTgt spid="27"/>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54" dur="1000" fill="hold"/>
                                        <p:tgtEl>
                                          <p:spTgt spid="27"/>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55" dur="1000" fill="hold"/>
                                        <p:tgtEl>
                                          <p:spTgt spid="27"/>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56" dur="1000" fill="hold"/>
                                        <p:tgtEl>
                                          <p:spTgt spid="27"/>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57" fill="hold">
                      <p:stCondLst>
                        <p:cond delay="indefinite"/>
                      </p:stCondLst>
                      <p:childTnLst>
                        <p:par>
                          <p:cTn id="58" fill="hold">
                            <p:stCondLst>
                              <p:cond delay="0"/>
                            </p:stCondLst>
                            <p:childTnLst>
                              <p:par>
                                <p:cTn id="59" presetID="60" presetClass="entr" presetSubtype="128"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1000"/>
                                        <p:tgtEl>
                                          <p:spTgt spid="24"/>
                                        </p:tgtEl>
                                      </p:cBhvr>
                                    </p:animEffect>
                                    <p:anim calcmode="lin" valueType="num">
                                      <p:cBhvr additive="sum">
                                        <p:cTn id="62" dur="1000" fill="hold"/>
                                        <p:tgtEl>
                                          <p:spTgt spid="24"/>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63" dur="1000" fill="hold"/>
                                        <p:tgtEl>
                                          <p:spTgt spid="24"/>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64" dur="1000" fill="hold"/>
                                        <p:tgtEl>
                                          <p:spTgt spid="24"/>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65" dur="1000" fill="hold"/>
                                        <p:tgtEl>
                                          <p:spTgt spid="24"/>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8BCA1D-ACDF-4D63-9AA0-366C4F85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500C7B-4A56-4500-4D57-6046261F8D24}"/>
              </a:ext>
            </a:extLst>
          </p:cNvPr>
          <p:cNvSpPr>
            <a:spLocks noGrp="1"/>
          </p:cNvSpPr>
          <p:nvPr>
            <p:ph type="title"/>
          </p:nvPr>
        </p:nvSpPr>
        <p:spPr>
          <a:xfrm>
            <a:off x="746228" y="1037967"/>
            <a:ext cx="3054091" cy="4709131"/>
          </a:xfrm>
        </p:spPr>
        <p:txBody>
          <a:bodyPr anchor="ctr">
            <a:normAutofit/>
          </a:bodyPr>
          <a:lstStyle/>
          <a:p>
            <a:pPr algn="ctr"/>
            <a:r>
              <a:rPr lang="en-US" dirty="0">
                <a:solidFill>
                  <a:schemeClr val="accent1"/>
                </a:solidFill>
              </a:rPr>
              <a:t>Cyber Resilience</a:t>
            </a:r>
            <a:endParaRPr lang="en-GB" dirty="0">
              <a:solidFill>
                <a:schemeClr val="accent1"/>
              </a:solidFill>
            </a:endParaRPr>
          </a:p>
        </p:txBody>
      </p:sp>
      <p:sp>
        <p:nvSpPr>
          <p:cNvPr id="12" name="Rectangle 11">
            <a:extLst>
              <a:ext uri="{FF2B5EF4-FFF2-40B4-BE49-F238E27FC236}">
                <a16:creationId xmlns:a16="http://schemas.microsoft.com/office/drawing/2014/main" id="{5DB82E3F-D9C4-42E7-AABF-D760C2F56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5F145784-B126-48E6-B33B-0BEA2EBF1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06AD7FED-ECA8-4F84-9067-C1B1E9610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74DF12F2-5059-41AC-A8BD-D5E115CDC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Slide Number Placeholder 3">
            <a:extLst>
              <a:ext uri="{FF2B5EF4-FFF2-40B4-BE49-F238E27FC236}">
                <a16:creationId xmlns:a16="http://schemas.microsoft.com/office/drawing/2014/main" id="{EC03D827-C89A-33D3-8B2A-A901018EADBE}"/>
              </a:ext>
            </a:extLst>
          </p:cNvPr>
          <p:cNvSpPr>
            <a:spLocks noGrp="1"/>
          </p:cNvSpPr>
          <p:nvPr>
            <p:ph type="sldNum" sz="quarter" idx="12"/>
          </p:nvPr>
        </p:nvSpPr>
        <p:spPr>
          <a:xfrm>
            <a:off x="746426" y="5956137"/>
            <a:ext cx="673300" cy="365125"/>
          </a:xfrm>
        </p:spPr>
        <p:txBody>
          <a:bodyPr>
            <a:normAutofit/>
          </a:bodyPr>
          <a:lstStyle/>
          <a:p>
            <a:pPr algn="l">
              <a:spcAft>
                <a:spcPts val="600"/>
              </a:spcAft>
            </a:pPr>
            <a:fld id="{7BE69E03-4804-4553-A1EC-F089884EF50F}" type="slidenum">
              <a:rPr lang="en-US">
                <a:solidFill>
                  <a:schemeClr val="accent1">
                    <a:lumMod val="75000"/>
                    <a:lumOff val="25000"/>
                  </a:schemeClr>
                </a:solidFill>
              </a:rPr>
              <a:pPr algn="l">
                <a:spcAft>
                  <a:spcPts val="600"/>
                </a:spcAft>
              </a:pPr>
              <a:t>5</a:t>
            </a:fld>
            <a:endParaRPr lang="en-US">
              <a:solidFill>
                <a:schemeClr val="accent1">
                  <a:lumMod val="75000"/>
                  <a:lumOff val="25000"/>
                </a:schemeClr>
              </a:solidFill>
            </a:endParaRPr>
          </a:p>
        </p:txBody>
      </p:sp>
      <p:sp>
        <p:nvSpPr>
          <p:cNvPr id="7" name="Rectangle: Diagonal Corners Rounded 6">
            <a:extLst>
              <a:ext uri="{FF2B5EF4-FFF2-40B4-BE49-F238E27FC236}">
                <a16:creationId xmlns:a16="http://schemas.microsoft.com/office/drawing/2014/main" id="{95FC684E-CC8F-E3B1-C691-B2C11AF9E795}"/>
              </a:ext>
            </a:extLst>
          </p:cNvPr>
          <p:cNvSpPr/>
          <p:nvPr/>
        </p:nvSpPr>
        <p:spPr>
          <a:xfrm>
            <a:off x="5116392" y="1458376"/>
            <a:ext cx="1990125" cy="1990125"/>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GB"/>
          </a:p>
        </p:txBody>
      </p:sp>
      <p:sp>
        <p:nvSpPr>
          <p:cNvPr id="8" name="Rectangle 7" descr="Lock">
            <a:extLst>
              <a:ext uri="{FF2B5EF4-FFF2-40B4-BE49-F238E27FC236}">
                <a16:creationId xmlns:a16="http://schemas.microsoft.com/office/drawing/2014/main" id="{45701886-465A-3582-8B3A-2DD027AC0124}"/>
              </a:ext>
            </a:extLst>
          </p:cNvPr>
          <p:cNvSpPr/>
          <p:nvPr/>
        </p:nvSpPr>
        <p:spPr>
          <a:xfrm>
            <a:off x="5540517" y="1882501"/>
            <a:ext cx="1141875" cy="1141875"/>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9" name="Freeform: Shape 8">
            <a:extLst>
              <a:ext uri="{FF2B5EF4-FFF2-40B4-BE49-F238E27FC236}">
                <a16:creationId xmlns:a16="http://schemas.microsoft.com/office/drawing/2014/main" id="{52B59B3C-1185-4569-3F80-642FFCB680EC}"/>
              </a:ext>
            </a:extLst>
          </p:cNvPr>
          <p:cNvSpPr/>
          <p:nvPr/>
        </p:nvSpPr>
        <p:spPr>
          <a:xfrm>
            <a:off x="4480205" y="4068376"/>
            <a:ext cx="3262500" cy="1436132"/>
          </a:xfrm>
          <a:custGeom>
            <a:avLst/>
            <a:gdLst>
              <a:gd name="connsiteX0" fmla="*/ 0 w 3262500"/>
              <a:gd name="connsiteY0" fmla="*/ 0 h 1436132"/>
              <a:gd name="connsiteX1" fmla="*/ 3262500 w 3262500"/>
              <a:gd name="connsiteY1" fmla="*/ 0 h 1436132"/>
              <a:gd name="connsiteX2" fmla="*/ 3262500 w 3262500"/>
              <a:gd name="connsiteY2" fmla="*/ 1436132 h 1436132"/>
              <a:gd name="connsiteX3" fmla="*/ 0 w 3262500"/>
              <a:gd name="connsiteY3" fmla="*/ 1436132 h 1436132"/>
              <a:gd name="connsiteX4" fmla="*/ 0 w 3262500"/>
              <a:gd name="connsiteY4" fmla="*/ 0 h 143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2500" h="1436132">
                <a:moveTo>
                  <a:pt x="0" y="0"/>
                </a:moveTo>
                <a:lnTo>
                  <a:pt x="3262500" y="0"/>
                </a:lnTo>
                <a:lnTo>
                  <a:pt x="3262500" y="1436132"/>
                </a:lnTo>
                <a:lnTo>
                  <a:pt x="0" y="14361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cap="none" dirty="0"/>
              <a:t>Cyber resilience is the holistic approach that organisations adopt in order to prepare for, respond to and recover from cyber attacks. </a:t>
            </a:r>
          </a:p>
        </p:txBody>
      </p:sp>
      <p:sp>
        <p:nvSpPr>
          <p:cNvPr id="11" name="Rectangle: Diagonal Corners Rounded 10">
            <a:extLst>
              <a:ext uri="{FF2B5EF4-FFF2-40B4-BE49-F238E27FC236}">
                <a16:creationId xmlns:a16="http://schemas.microsoft.com/office/drawing/2014/main" id="{93DC13E8-024B-9538-1CB6-24A099D05A55}"/>
              </a:ext>
            </a:extLst>
          </p:cNvPr>
          <p:cNvSpPr/>
          <p:nvPr/>
        </p:nvSpPr>
        <p:spPr>
          <a:xfrm>
            <a:off x="8949830" y="1458376"/>
            <a:ext cx="1990125" cy="1990125"/>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GB"/>
          </a:p>
        </p:txBody>
      </p:sp>
      <p:sp>
        <p:nvSpPr>
          <p:cNvPr id="13" name="Rectangle 12" descr="Processor">
            <a:extLst>
              <a:ext uri="{FF2B5EF4-FFF2-40B4-BE49-F238E27FC236}">
                <a16:creationId xmlns:a16="http://schemas.microsoft.com/office/drawing/2014/main" id="{9754ACB8-1D49-B023-6FE7-ECBD8C295875}"/>
              </a:ext>
            </a:extLst>
          </p:cNvPr>
          <p:cNvSpPr/>
          <p:nvPr/>
        </p:nvSpPr>
        <p:spPr>
          <a:xfrm>
            <a:off x="9373955" y="1882501"/>
            <a:ext cx="1141875" cy="1141875"/>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5" name="Freeform: Shape 14">
            <a:extLst>
              <a:ext uri="{FF2B5EF4-FFF2-40B4-BE49-F238E27FC236}">
                <a16:creationId xmlns:a16="http://schemas.microsoft.com/office/drawing/2014/main" id="{1709BA10-E845-D089-57E1-0FD4AFA8872D}"/>
              </a:ext>
            </a:extLst>
          </p:cNvPr>
          <p:cNvSpPr/>
          <p:nvPr/>
        </p:nvSpPr>
        <p:spPr>
          <a:xfrm>
            <a:off x="8313642" y="4068376"/>
            <a:ext cx="3262500" cy="1436132"/>
          </a:xfrm>
          <a:custGeom>
            <a:avLst/>
            <a:gdLst>
              <a:gd name="connsiteX0" fmla="*/ 0 w 3262500"/>
              <a:gd name="connsiteY0" fmla="*/ 0 h 1436132"/>
              <a:gd name="connsiteX1" fmla="*/ 3262500 w 3262500"/>
              <a:gd name="connsiteY1" fmla="*/ 0 h 1436132"/>
              <a:gd name="connsiteX2" fmla="*/ 3262500 w 3262500"/>
              <a:gd name="connsiteY2" fmla="*/ 1436132 h 1436132"/>
              <a:gd name="connsiteX3" fmla="*/ 0 w 3262500"/>
              <a:gd name="connsiteY3" fmla="*/ 1436132 h 1436132"/>
              <a:gd name="connsiteX4" fmla="*/ 0 w 3262500"/>
              <a:gd name="connsiteY4" fmla="*/ 0 h 143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2500" h="1436132">
                <a:moveTo>
                  <a:pt x="0" y="0"/>
                </a:moveTo>
                <a:lnTo>
                  <a:pt x="3262500" y="0"/>
                </a:lnTo>
                <a:lnTo>
                  <a:pt x="3262500" y="1436132"/>
                </a:lnTo>
                <a:lnTo>
                  <a:pt x="0" y="14361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cap="none" dirty="0"/>
              <a:t>It comprises strategies, practices and technologies that focus on preventing cyber incidents as well as maintaining continuous business operation and recovering quickly in the event of a breach. </a:t>
            </a:r>
          </a:p>
        </p:txBody>
      </p:sp>
    </p:spTree>
    <p:extLst>
      <p:ext uri="{BB962C8B-B14F-4D97-AF65-F5344CB8AC3E}">
        <p14:creationId xmlns:p14="http://schemas.microsoft.com/office/powerpoint/2010/main" val="63975221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EEAE-1E33-EA8D-DD9E-51AEEE39AE71}"/>
              </a:ext>
            </a:extLst>
          </p:cNvPr>
          <p:cNvSpPr>
            <a:spLocks noGrp="1"/>
          </p:cNvSpPr>
          <p:nvPr>
            <p:ph type="title"/>
          </p:nvPr>
        </p:nvSpPr>
        <p:spPr>
          <a:xfrm>
            <a:off x="581192" y="702156"/>
            <a:ext cx="11029616" cy="1013800"/>
          </a:xfrm>
        </p:spPr>
        <p:txBody>
          <a:bodyPr>
            <a:normAutofit/>
          </a:bodyPr>
          <a:lstStyle/>
          <a:p>
            <a:r>
              <a:rPr lang="en-US" dirty="0"/>
              <a:t>Cyber Security </a:t>
            </a:r>
            <a:endParaRPr lang="en-GB" dirty="0"/>
          </a:p>
        </p:txBody>
      </p:sp>
      <p:sp>
        <p:nvSpPr>
          <p:cNvPr id="11" name="Rectangle 10">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Unlock">
            <a:extLst>
              <a:ext uri="{FF2B5EF4-FFF2-40B4-BE49-F238E27FC236}">
                <a16:creationId xmlns:a16="http://schemas.microsoft.com/office/drawing/2014/main" id="{E46DA26C-BF4B-AF6E-0FA2-EDFE6C70C8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3878" y="2361056"/>
            <a:ext cx="3649219" cy="3649219"/>
          </a:xfrm>
          <a:prstGeom prst="rect">
            <a:avLst/>
          </a:prstGeom>
        </p:spPr>
      </p:pic>
      <p:sp>
        <p:nvSpPr>
          <p:cNvPr id="3" name="Content Placeholder 2">
            <a:extLst>
              <a:ext uri="{FF2B5EF4-FFF2-40B4-BE49-F238E27FC236}">
                <a16:creationId xmlns:a16="http://schemas.microsoft.com/office/drawing/2014/main" id="{55EFB7A0-57DC-09FE-B25A-7AD96D61E3BD}"/>
              </a:ext>
            </a:extLst>
          </p:cNvPr>
          <p:cNvSpPr>
            <a:spLocks noGrp="1"/>
          </p:cNvSpPr>
          <p:nvPr>
            <p:ph idx="1"/>
          </p:nvPr>
        </p:nvSpPr>
        <p:spPr>
          <a:xfrm>
            <a:off x="6335805" y="2180496"/>
            <a:ext cx="5275001" cy="4045683"/>
          </a:xfrm>
        </p:spPr>
        <p:txBody>
          <a:bodyPr>
            <a:normAutofit/>
          </a:bodyPr>
          <a:lstStyle/>
          <a:p>
            <a:r>
              <a:rPr lang="en-GB" dirty="0"/>
              <a:t>Cyber security primarily focuses on protecting IT systems and networks from attacks through defensive measures (such as firewalls, access control, encryption etc). </a:t>
            </a:r>
          </a:p>
          <a:p>
            <a:r>
              <a:rPr lang="en-GB" dirty="0"/>
              <a:t>Cyber resilience goes beyond this by integrating proactive measures and a robust response strategy. It acknowledges that despite best efforts, breaches may still occur , and therefor emphasises the importance of recovery and continuity of operations. </a:t>
            </a:r>
          </a:p>
          <a:p>
            <a:endParaRPr lang="en-GB" dirty="0"/>
          </a:p>
        </p:txBody>
      </p:sp>
      <p:sp>
        <p:nvSpPr>
          <p:cNvPr id="4" name="Slide Number Placeholder 3">
            <a:extLst>
              <a:ext uri="{FF2B5EF4-FFF2-40B4-BE49-F238E27FC236}">
                <a16:creationId xmlns:a16="http://schemas.microsoft.com/office/drawing/2014/main" id="{665E6B6B-1774-94EC-5C0C-B3D356205E30}"/>
              </a:ext>
            </a:extLst>
          </p:cNvPr>
          <p:cNvSpPr>
            <a:spLocks noGrp="1"/>
          </p:cNvSpPr>
          <p:nvPr>
            <p:ph type="sldNum" sz="quarter" idx="12"/>
          </p:nvPr>
        </p:nvSpPr>
        <p:spPr>
          <a:xfrm>
            <a:off x="10558300" y="6400800"/>
            <a:ext cx="1052508" cy="365125"/>
          </a:xfrm>
        </p:spPr>
        <p:txBody>
          <a:bodyPr>
            <a:normAutofit/>
          </a:bodyPr>
          <a:lstStyle/>
          <a:p>
            <a:pPr>
              <a:spcAft>
                <a:spcPts val="600"/>
              </a:spcAft>
            </a:pPr>
            <a:fld id="{7BE69E03-4804-4553-A1EC-F089884EF50F}" type="slidenum">
              <a:rPr lang="en-US" smtClean="0"/>
              <a:pPr>
                <a:spcAft>
                  <a:spcPts val="600"/>
                </a:spcAft>
              </a:pPr>
              <a:t>6</a:t>
            </a:fld>
            <a:endParaRPr lang="en-US"/>
          </a:p>
        </p:txBody>
      </p:sp>
    </p:spTree>
    <p:extLst>
      <p:ext uri="{BB962C8B-B14F-4D97-AF65-F5344CB8AC3E}">
        <p14:creationId xmlns:p14="http://schemas.microsoft.com/office/powerpoint/2010/main" val="278339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04D2B0-E3D9-D27C-A419-68BF8987BCAC}"/>
              </a:ext>
            </a:extLst>
          </p:cNvPr>
          <p:cNvSpPr>
            <a:spLocks noGrp="1"/>
          </p:cNvSpPr>
          <p:nvPr>
            <p:ph type="title"/>
          </p:nvPr>
        </p:nvSpPr>
        <p:spPr>
          <a:xfrm>
            <a:off x="959157" y="1113764"/>
            <a:ext cx="3269749" cy="4624327"/>
          </a:xfrm>
        </p:spPr>
        <p:txBody>
          <a:bodyPr anchor="ctr">
            <a:normAutofit/>
          </a:bodyPr>
          <a:lstStyle/>
          <a:p>
            <a:r>
              <a:rPr lang="en-GB" sz="3200">
                <a:solidFill>
                  <a:srgbClr val="FFFFFF"/>
                </a:solidFill>
              </a:rPr>
              <a:t>Penetration Testing </a:t>
            </a:r>
          </a:p>
        </p:txBody>
      </p:sp>
      <p:sp>
        <p:nvSpPr>
          <p:cNvPr id="3" name="Content Placeholder 2">
            <a:extLst>
              <a:ext uri="{FF2B5EF4-FFF2-40B4-BE49-F238E27FC236}">
                <a16:creationId xmlns:a16="http://schemas.microsoft.com/office/drawing/2014/main" id="{54C00C9B-8D50-EEA1-6FE4-6778F4266162}"/>
              </a:ext>
            </a:extLst>
          </p:cNvPr>
          <p:cNvSpPr>
            <a:spLocks noGrp="1"/>
          </p:cNvSpPr>
          <p:nvPr>
            <p:ph idx="1"/>
          </p:nvPr>
        </p:nvSpPr>
        <p:spPr>
          <a:xfrm>
            <a:off x="5155905" y="1113764"/>
            <a:ext cx="6108179" cy="4624327"/>
          </a:xfrm>
        </p:spPr>
        <p:txBody>
          <a:bodyPr anchor="ctr">
            <a:normAutofit/>
          </a:bodyPr>
          <a:lstStyle/>
          <a:p>
            <a:r>
              <a:rPr lang="en-GB" dirty="0"/>
              <a:t>A structured and authorised process of evaluating the security of an information system, network, or web application by simulating an attack from malicious outsiders and malicious insiders.</a:t>
            </a:r>
          </a:p>
          <a:p>
            <a:pPr marL="0" indent="0">
              <a:buNone/>
            </a:pPr>
            <a:r>
              <a:rPr lang="en-GB" dirty="0"/>
              <a:t> </a:t>
            </a:r>
          </a:p>
          <a:p>
            <a:r>
              <a:rPr lang="en-GB" dirty="0"/>
              <a:t>The primary objective of penetration testing is to identify, exploit, and report vulnerabilities that could potentially be exploited by attackers, thereby assessing the system’s overall security posture. </a:t>
            </a:r>
          </a:p>
        </p:txBody>
      </p:sp>
      <p:sp>
        <p:nvSpPr>
          <p:cNvPr id="4" name="Slide Number Placeholder 3">
            <a:extLst>
              <a:ext uri="{FF2B5EF4-FFF2-40B4-BE49-F238E27FC236}">
                <a16:creationId xmlns:a16="http://schemas.microsoft.com/office/drawing/2014/main" id="{184974B6-7CC7-B964-39D3-1516630F694B}"/>
              </a:ext>
            </a:extLst>
          </p:cNvPr>
          <p:cNvSpPr>
            <a:spLocks noGrp="1"/>
          </p:cNvSpPr>
          <p:nvPr>
            <p:ph type="sldNum" sz="quarter" idx="12"/>
          </p:nvPr>
        </p:nvSpPr>
        <p:spPr>
          <a:xfrm>
            <a:off x="10558300" y="6425344"/>
            <a:ext cx="1052508" cy="365125"/>
          </a:xfrm>
        </p:spPr>
        <p:txBody>
          <a:bodyPr>
            <a:normAutofit/>
          </a:bodyPr>
          <a:lstStyle/>
          <a:p>
            <a:pPr>
              <a:spcAft>
                <a:spcPts val="600"/>
              </a:spcAft>
            </a:pPr>
            <a:fld id="{7BE69E03-4804-4553-A1EC-F089884EF50F}" type="slidenum">
              <a:rPr lang="en-US">
                <a:solidFill>
                  <a:schemeClr val="tx1">
                    <a:lumMod val="75000"/>
                    <a:lumOff val="25000"/>
                  </a:schemeClr>
                </a:solidFill>
              </a:rPr>
              <a:pPr>
                <a:spcAft>
                  <a:spcPts val="600"/>
                </a:spcAft>
              </a:pPr>
              <a:t>7</a:t>
            </a:fld>
            <a:endParaRPr lang="en-US">
              <a:solidFill>
                <a:schemeClr val="tx1">
                  <a:lumMod val="75000"/>
                  <a:lumOff val="25000"/>
                </a:schemeClr>
              </a:solidFill>
            </a:endParaRPr>
          </a:p>
        </p:txBody>
      </p:sp>
    </p:spTree>
    <p:extLst>
      <p:ext uri="{BB962C8B-B14F-4D97-AF65-F5344CB8AC3E}">
        <p14:creationId xmlns:p14="http://schemas.microsoft.com/office/powerpoint/2010/main" val="46783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6677"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BBF38B-D9F3-901B-4ACE-2D92995F554A}"/>
              </a:ext>
            </a:extLst>
          </p:cNvPr>
          <p:cNvSpPr>
            <a:spLocks noGrp="1"/>
          </p:cNvSpPr>
          <p:nvPr>
            <p:ph type="title"/>
          </p:nvPr>
        </p:nvSpPr>
        <p:spPr>
          <a:xfrm>
            <a:off x="7963094" y="1113764"/>
            <a:ext cx="3269749" cy="4624327"/>
          </a:xfrm>
        </p:spPr>
        <p:txBody>
          <a:bodyPr anchor="ctr">
            <a:normAutofit/>
          </a:bodyPr>
          <a:lstStyle/>
          <a:p>
            <a:r>
              <a:rPr lang="en-GB" sz="3200">
                <a:solidFill>
                  <a:srgbClr val="FFFFFF"/>
                </a:solidFill>
              </a:rPr>
              <a:t>The Evolution of Penetration Testing </a:t>
            </a:r>
          </a:p>
        </p:txBody>
      </p:sp>
      <p:sp>
        <p:nvSpPr>
          <p:cNvPr id="3" name="Content Placeholder 2">
            <a:extLst>
              <a:ext uri="{FF2B5EF4-FFF2-40B4-BE49-F238E27FC236}">
                <a16:creationId xmlns:a16="http://schemas.microsoft.com/office/drawing/2014/main" id="{FBE7E82F-4924-C7C8-BBEC-7BF4A4E3EC9B}"/>
              </a:ext>
            </a:extLst>
          </p:cNvPr>
          <p:cNvSpPr>
            <a:spLocks noGrp="1"/>
          </p:cNvSpPr>
          <p:nvPr>
            <p:ph idx="1"/>
          </p:nvPr>
        </p:nvSpPr>
        <p:spPr>
          <a:xfrm>
            <a:off x="927916" y="1113764"/>
            <a:ext cx="6108179" cy="4624327"/>
          </a:xfrm>
        </p:spPr>
        <p:txBody>
          <a:bodyPr anchor="ctr">
            <a:normAutofit/>
          </a:bodyPr>
          <a:lstStyle/>
          <a:p>
            <a:r>
              <a:rPr lang="en-GB" dirty="0"/>
              <a:t>The rapid evolution of technology has introduced more complex and interconnected systems, creating a larger attack surface for potential threats. </a:t>
            </a:r>
          </a:p>
          <a:p>
            <a:endParaRPr lang="en-GB" dirty="0"/>
          </a:p>
          <a:p>
            <a:r>
              <a:rPr lang="en-GB" dirty="0"/>
              <a:t>Penetration testing has evolved to meet these challenges, with more sophisticated tools and techniques being developed to assess modern systems. </a:t>
            </a:r>
          </a:p>
          <a:p>
            <a:endParaRPr lang="en-GB" dirty="0"/>
          </a:p>
          <a:p>
            <a:r>
              <a:rPr lang="en-GB" dirty="0"/>
              <a:t>The rise in cyber-attacks, including high-profile breaches and ransomware, has driven organisations to prioritise security. Penetration testing has become a critical component in identifying and mitigating these threats before they can be exploited by malicious attackers. </a:t>
            </a:r>
          </a:p>
          <a:p>
            <a:endParaRPr lang="en-GB" dirty="0"/>
          </a:p>
        </p:txBody>
      </p:sp>
      <p:sp>
        <p:nvSpPr>
          <p:cNvPr id="4" name="Slide Number Placeholder 3">
            <a:extLst>
              <a:ext uri="{FF2B5EF4-FFF2-40B4-BE49-F238E27FC236}">
                <a16:creationId xmlns:a16="http://schemas.microsoft.com/office/drawing/2014/main" id="{FBFA37C5-EE89-0DBF-18F4-241AA40BF557}"/>
              </a:ext>
            </a:extLst>
          </p:cNvPr>
          <p:cNvSpPr>
            <a:spLocks noGrp="1"/>
          </p:cNvSpPr>
          <p:nvPr>
            <p:ph type="sldNum" sz="quarter" idx="12"/>
          </p:nvPr>
        </p:nvSpPr>
        <p:spPr>
          <a:xfrm>
            <a:off x="10558300" y="6370503"/>
            <a:ext cx="1052508" cy="365125"/>
          </a:xfrm>
        </p:spPr>
        <p:txBody>
          <a:bodyPr>
            <a:normAutofit/>
          </a:bodyPr>
          <a:lstStyle/>
          <a:p>
            <a:pPr>
              <a:spcAft>
                <a:spcPts val="600"/>
              </a:spcAft>
            </a:pPr>
            <a:fld id="{7BE69E03-4804-4553-A1EC-F089884EF50F}" type="slidenum">
              <a:rPr lang="en-US" smtClean="0"/>
              <a:pPr>
                <a:spcAft>
                  <a:spcPts val="600"/>
                </a:spcAft>
              </a:pPr>
              <a:t>8</a:t>
            </a:fld>
            <a:endParaRPr lang="en-US"/>
          </a:p>
        </p:txBody>
      </p:sp>
    </p:spTree>
    <p:extLst>
      <p:ext uri="{BB962C8B-B14F-4D97-AF65-F5344CB8AC3E}">
        <p14:creationId xmlns:p14="http://schemas.microsoft.com/office/powerpoint/2010/main" val="397933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7A4EC-6247-06B4-FC12-49393EE883C9}"/>
              </a:ext>
            </a:extLst>
          </p:cNvPr>
          <p:cNvSpPr>
            <a:spLocks noGrp="1"/>
          </p:cNvSpPr>
          <p:nvPr>
            <p:ph type="title"/>
          </p:nvPr>
        </p:nvSpPr>
        <p:spPr>
          <a:xfrm>
            <a:off x="581192" y="702156"/>
            <a:ext cx="11029616" cy="1013800"/>
          </a:xfrm>
        </p:spPr>
        <p:txBody>
          <a:bodyPr>
            <a:normAutofit/>
          </a:bodyPr>
          <a:lstStyle/>
          <a:p>
            <a:r>
              <a:rPr lang="en-GB"/>
              <a:t>Types of systems that should be tested </a:t>
            </a:r>
          </a:p>
        </p:txBody>
      </p:sp>
      <p:sp>
        <p:nvSpPr>
          <p:cNvPr id="18" name="Rectangle 17">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Bug under Magnifying Glass">
            <a:extLst>
              <a:ext uri="{FF2B5EF4-FFF2-40B4-BE49-F238E27FC236}">
                <a16:creationId xmlns:a16="http://schemas.microsoft.com/office/drawing/2014/main" id="{1505083B-A0E3-D49B-2635-5BF899EA4C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3878" y="2361056"/>
            <a:ext cx="3649219" cy="3649219"/>
          </a:xfrm>
          <a:prstGeom prst="rect">
            <a:avLst/>
          </a:prstGeom>
        </p:spPr>
      </p:pic>
      <p:sp>
        <p:nvSpPr>
          <p:cNvPr id="3" name="Content Placeholder 2">
            <a:extLst>
              <a:ext uri="{FF2B5EF4-FFF2-40B4-BE49-F238E27FC236}">
                <a16:creationId xmlns:a16="http://schemas.microsoft.com/office/drawing/2014/main" id="{26DD9680-D2E7-6316-19FB-3B545A5DCF60}"/>
              </a:ext>
            </a:extLst>
          </p:cNvPr>
          <p:cNvSpPr>
            <a:spLocks noGrp="1"/>
          </p:cNvSpPr>
          <p:nvPr>
            <p:ph idx="1"/>
          </p:nvPr>
        </p:nvSpPr>
        <p:spPr>
          <a:xfrm>
            <a:off x="6335805" y="2180496"/>
            <a:ext cx="5275001" cy="4045683"/>
          </a:xfrm>
        </p:spPr>
        <p:txBody>
          <a:bodyPr>
            <a:normAutofit/>
          </a:bodyPr>
          <a:lstStyle/>
          <a:p>
            <a:r>
              <a:rPr lang="en-GB" b="1" dirty="0"/>
              <a:t>Web Applications</a:t>
            </a:r>
            <a:r>
              <a:rPr lang="en-GB" dirty="0"/>
              <a:t>: With the growing resilience on web-based platforms, web applications are prime targets for attackers. Testing for vulnerabilities such as SQL injection. Cross-site scripting (XSS), and broken authentication, is crucial. </a:t>
            </a:r>
          </a:p>
          <a:p>
            <a:r>
              <a:rPr lang="en-GB" b="1" dirty="0"/>
              <a:t>Mobile Applications</a:t>
            </a:r>
            <a:r>
              <a:rPr lang="en-GB" dirty="0"/>
              <a:t>: As mobile device usage surges, testing mobile applications for security flaws  is essential to protect user data and privacy. </a:t>
            </a:r>
          </a:p>
        </p:txBody>
      </p:sp>
      <p:sp>
        <p:nvSpPr>
          <p:cNvPr id="4" name="Slide Number Placeholder 3">
            <a:extLst>
              <a:ext uri="{FF2B5EF4-FFF2-40B4-BE49-F238E27FC236}">
                <a16:creationId xmlns:a16="http://schemas.microsoft.com/office/drawing/2014/main" id="{A0B0C776-231F-6323-A199-44DE9F29FA28}"/>
              </a:ext>
            </a:extLst>
          </p:cNvPr>
          <p:cNvSpPr>
            <a:spLocks noGrp="1"/>
          </p:cNvSpPr>
          <p:nvPr>
            <p:ph type="sldNum" sz="quarter" idx="12"/>
          </p:nvPr>
        </p:nvSpPr>
        <p:spPr>
          <a:xfrm>
            <a:off x="10558300" y="6400800"/>
            <a:ext cx="1052508" cy="365125"/>
          </a:xfrm>
        </p:spPr>
        <p:txBody>
          <a:bodyPr>
            <a:normAutofit/>
          </a:bodyPr>
          <a:lstStyle/>
          <a:p>
            <a:pPr>
              <a:spcAft>
                <a:spcPts val="600"/>
              </a:spcAft>
            </a:pPr>
            <a:fld id="{7BE69E03-4804-4553-A1EC-F089884EF50F}" type="slidenum">
              <a:rPr lang="en-US" smtClean="0"/>
              <a:pPr>
                <a:spcAft>
                  <a:spcPts val="600"/>
                </a:spcAft>
              </a:pPr>
              <a:t>9</a:t>
            </a:fld>
            <a:endParaRPr lang="en-US"/>
          </a:p>
        </p:txBody>
      </p:sp>
    </p:spTree>
    <p:extLst>
      <p:ext uri="{BB962C8B-B14F-4D97-AF65-F5344CB8AC3E}">
        <p14:creationId xmlns:p14="http://schemas.microsoft.com/office/powerpoint/2010/main" val="296969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1132-9C67-FEBF-75D5-6631449FB9A8}"/>
              </a:ext>
            </a:extLst>
          </p:cNvPr>
          <p:cNvSpPr>
            <a:spLocks noGrp="1"/>
          </p:cNvSpPr>
          <p:nvPr>
            <p:ph type="title"/>
          </p:nvPr>
        </p:nvSpPr>
        <p:spPr/>
        <p:txBody>
          <a:bodyPr/>
          <a:lstStyle/>
          <a:p>
            <a:r>
              <a:rPr lang="en-GB" dirty="0"/>
              <a:t>Types of systems that should be tested </a:t>
            </a:r>
          </a:p>
        </p:txBody>
      </p:sp>
      <p:sp>
        <p:nvSpPr>
          <p:cNvPr id="3" name="Content Placeholder 2">
            <a:extLst>
              <a:ext uri="{FF2B5EF4-FFF2-40B4-BE49-F238E27FC236}">
                <a16:creationId xmlns:a16="http://schemas.microsoft.com/office/drawing/2014/main" id="{43A27458-D64D-C2EF-2103-F0FC953C1CE3}"/>
              </a:ext>
            </a:extLst>
          </p:cNvPr>
          <p:cNvSpPr>
            <a:spLocks noGrp="1"/>
          </p:cNvSpPr>
          <p:nvPr>
            <p:ph idx="1"/>
          </p:nvPr>
        </p:nvSpPr>
        <p:spPr>
          <a:xfrm>
            <a:off x="5933873" y="2364185"/>
            <a:ext cx="5676935" cy="3678303"/>
          </a:xfrm>
        </p:spPr>
        <p:txBody>
          <a:bodyPr/>
          <a:lstStyle/>
          <a:p>
            <a:r>
              <a:rPr lang="en-GB" b="1" dirty="0"/>
              <a:t>Network Infrastructure</a:t>
            </a:r>
            <a:r>
              <a:rPr lang="en-GB" dirty="0"/>
              <a:t>: Testing the network infrastructure, including routers, switches and firewalls, is vital to  ensuring that the communication backbone of an organisation is secure. </a:t>
            </a:r>
          </a:p>
          <a:p>
            <a:r>
              <a:rPr lang="en-GB" b="1" dirty="0"/>
              <a:t>Cloud Environments</a:t>
            </a:r>
            <a:r>
              <a:rPr lang="en-GB" dirty="0"/>
              <a:t>: With the shift to cloud computing, organisations must test cloud-based services and configurations to prevent unauthorised access and data breaches. </a:t>
            </a:r>
          </a:p>
          <a:p>
            <a:r>
              <a:rPr lang="en-GB" b="1" dirty="0"/>
              <a:t>IoT Devices:</a:t>
            </a:r>
            <a:r>
              <a:rPr lang="en-GB" dirty="0"/>
              <a:t> The proliferation of IoT devices, often with minimal security features, makes them a vulnerable entry point. Penetration testing of these devices is critical to securing the broader network. </a:t>
            </a:r>
          </a:p>
        </p:txBody>
      </p:sp>
      <p:sp>
        <p:nvSpPr>
          <p:cNvPr id="5" name="Rectangle 4">
            <a:extLst>
              <a:ext uri="{FF2B5EF4-FFF2-40B4-BE49-F238E27FC236}">
                <a16:creationId xmlns:a16="http://schemas.microsoft.com/office/drawing/2014/main" id="{FE3B5415-3A03-8AF7-A41D-653E8E01FD71}"/>
              </a:ext>
            </a:extLst>
          </p:cNvPr>
          <p:cNvSpPr/>
          <p:nvPr/>
        </p:nvSpPr>
        <p:spPr>
          <a:xfrm>
            <a:off x="427077" y="2180496"/>
            <a:ext cx="5404639" cy="4045683"/>
          </a:xfrm>
          <a:prstGeom prst="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descr="Network with solid fill">
            <a:extLst>
              <a:ext uri="{FF2B5EF4-FFF2-40B4-BE49-F238E27FC236}">
                <a16:creationId xmlns:a16="http://schemas.microsoft.com/office/drawing/2014/main" id="{083CC16F-50B2-8582-6421-A7FC0BBF2D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7510" y="2364185"/>
            <a:ext cx="3423772" cy="3423772"/>
          </a:xfrm>
          <a:prstGeom prst="rect">
            <a:avLst/>
          </a:prstGeom>
        </p:spPr>
      </p:pic>
    </p:spTree>
    <p:extLst>
      <p:ext uri="{BB962C8B-B14F-4D97-AF65-F5344CB8AC3E}">
        <p14:creationId xmlns:p14="http://schemas.microsoft.com/office/powerpoint/2010/main" val="243651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4C527F-AA88-4BD2-819A-06921EEB4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1363"/>
            <a:ext cx="12191999" cy="6256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1BEFAC-BF22-4CF8-9B60-C1CACA905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913D42D-A5A2-E274-53C0-C6FD0D60D626}"/>
              </a:ext>
            </a:extLst>
          </p:cNvPr>
          <p:cNvSpPr>
            <a:spLocks noGrp="1"/>
          </p:cNvSpPr>
          <p:nvPr>
            <p:ph type="title"/>
          </p:nvPr>
        </p:nvSpPr>
        <p:spPr>
          <a:xfrm>
            <a:off x="8369643" y="1037967"/>
            <a:ext cx="3054091" cy="4709131"/>
          </a:xfrm>
        </p:spPr>
        <p:txBody>
          <a:bodyPr anchor="ctr">
            <a:normAutofit/>
          </a:bodyPr>
          <a:lstStyle/>
          <a:p>
            <a:r>
              <a:rPr lang="en-GB" dirty="0">
                <a:solidFill>
                  <a:srgbClr val="FFFEFF"/>
                </a:solidFill>
              </a:rPr>
              <a:t>When should a penetration test be carried out? </a:t>
            </a:r>
          </a:p>
        </p:txBody>
      </p:sp>
      <p:sp>
        <p:nvSpPr>
          <p:cNvPr id="6" name="Arrow: Quad 5">
            <a:extLst>
              <a:ext uri="{FF2B5EF4-FFF2-40B4-BE49-F238E27FC236}">
                <a16:creationId xmlns:a16="http://schemas.microsoft.com/office/drawing/2014/main" id="{0EEC5DF2-9E39-EABE-41D0-A67B8F8D6BD0}"/>
              </a:ext>
            </a:extLst>
          </p:cNvPr>
          <p:cNvSpPr/>
          <p:nvPr/>
        </p:nvSpPr>
        <p:spPr>
          <a:xfrm>
            <a:off x="1021687" y="723899"/>
            <a:ext cx="5941060" cy="5941060"/>
          </a:xfrm>
          <a:prstGeom prst="quadArrow">
            <a:avLst>
              <a:gd name="adj1" fmla="val 2000"/>
              <a:gd name="adj2" fmla="val 4000"/>
              <a:gd name="adj3" fmla="val 5000"/>
            </a:avLst>
          </a:prstGeom>
          <a:scene3d>
            <a:camera prst="orthographicFront">
              <a:rot lat="0" lon="0" rev="0"/>
            </a:camera>
            <a:lightRig rig="contrasting" dir="t">
              <a:rot lat="0" lon="0" rev="1200000"/>
            </a:lightRig>
          </a:scene3d>
          <a:sp3d z="-300000" prstMaterial="plastic"/>
        </p:spPr>
        <p:style>
          <a:lnRef idx="1">
            <a:schemeClr val="dk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7" name="Freeform: Shape 6">
            <a:extLst>
              <a:ext uri="{FF2B5EF4-FFF2-40B4-BE49-F238E27FC236}">
                <a16:creationId xmlns:a16="http://schemas.microsoft.com/office/drawing/2014/main" id="{3D2576E0-F823-F42E-F3BA-45A92134D8F7}"/>
              </a:ext>
            </a:extLst>
          </p:cNvPr>
          <p:cNvSpPr/>
          <p:nvPr/>
        </p:nvSpPr>
        <p:spPr>
          <a:xfrm>
            <a:off x="768277" y="1016104"/>
            <a:ext cx="2926305" cy="2376424"/>
          </a:xfrm>
          <a:custGeom>
            <a:avLst/>
            <a:gdLst>
              <a:gd name="connsiteX0" fmla="*/ 0 w 2926305"/>
              <a:gd name="connsiteY0" fmla="*/ 396079 h 2376424"/>
              <a:gd name="connsiteX1" fmla="*/ 396079 w 2926305"/>
              <a:gd name="connsiteY1" fmla="*/ 0 h 2376424"/>
              <a:gd name="connsiteX2" fmla="*/ 2530226 w 2926305"/>
              <a:gd name="connsiteY2" fmla="*/ 0 h 2376424"/>
              <a:gd name="connsiteX3" fmla="*/ 2926305 w 2926305"/>
              <a:gd name="connsiteY3" fmla="*/ 396079 h 2376424"/>
              <a:gd name="connsiteX4" fmla="*/ 2926305 w 2926305"/>
              <a:gd name="connsiteY4" fmla="*/ 1980345 h 2376424"/>
              <a:gd name="connsiteX5" fmla="*/ 2530226 w 2926305"/>
              <a:gd name="connsiteY5" fmla="*/ 2376424 h 2376424"/>
              <a:gd name="connsiteX6" fmla="*/ 396079 w 2926305"/>
              <a:gd name="connsiteY6" fmla="*/ 2376424 h 2376424"/>
              <a:gd name="connsiteX7" fmla="*/ 0 w 2926305"/>
              <a:gd name="connsiteY7" fmla="*/ 1980345 h 2376424"/>
              <a:gd name="connsiteX8" fmla="*/ 0 w 2926305"/>
              <a:gd name="connsiteY8" fmla="*/ 396079 h 237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6305" h="2376424">
                <a:moveTo>
                  <a:pt x="0" y="396079"/>
                </a:moveTo>
                <a:cubicBezTo>
                  <a:pt x="0" y="177331"/>
                  <a:pt x="177331" y="0"/>
                  <a:pt x="396079" y="0"/>
                </a:cubicBezTo>
                <a:lnTo>
                  <a:pt x="2530226" y="0"/>
                </a:lnTo>
                <a:cubicBezTo>
                  <a:pt x="2748974" y="0"/>
                  <a:pt x="2926305" y="177331"/>
                  <a:pt x="2926305" y="396079"/>
                </a:cubicBezTo>
                <a:lnTo>
                  <a:pt x="2926305" y="1980345"/>
                </a:lnTo>
                <a:cubicBezTo>
                  <a:pt x="2926305" y="2199093"/>
                  <a:pt x="2748974" y="2376424"/>
                  <a:pt x="2530226" y="2376424"/>
                </a:cubicBezTo>
                <a:lnTo>
                  <a:pt x="396079" y="2376424"/>
                </a:lnTo>
                <a:cubicBezTo>
                  <a:pt x="177331" y="2376424"/>
                  <a:pt x="0" y="2199093"/>
                  <a:pt x="0" y="1980345"/>
                </a:cubicBezTo>
                <a:lnTo>
                  <a:pt x="0" y="396079"/>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shade val="80000"/>
              <a:hueOff val="0"/>
              <a:satOff val="0"/>
              <a:lumOff val="0"/>
              <a:alphaOff val="0"/>
            </a:schemeClr>
          </a:fillRef>
          <a:effectRef idx="2">
            <a:schemeClr val="accent1">
              <a:shade val="80000"/>
              <a:hueOff val="0"/>
              <a:satOff val="0"/>
              <a:lumOff val="0"/>
              <a:alphaOff val="0"/>
            </a:schemeClr>
          </a:effectRef>
          <a:fontRef idx="minor">
            <a:schemeClr val="lt1"/>
          </a:fontRef>
        </p:style>
        <p:txBody>
          <a:bodyPr spcFirstLastPara="0" vert="horz" wrap="square" lIns="173157" tIns="173157" rIns="173157" bIns="173157" numCol="1" spcCol="1270" anchor="ctr" anchorCtr="0">
            <a:noAutofit/>
          </a:bodyPr>
          <a:lstStyle/>
          <a:p>
            <a:pPr marL="0" lvl="0" indent="0" algn="ctr" defTabSz="666750">
              <a:lnSpc>
                <a:spcPct val="90000"/>
              </a:lnSpc>
              <a:spcBef>
                <a:spcPct val="0"/>
              </a:spcBef>
              <a:spcAft>
                <a:spcPct val="35000"/>
              </a:spcAft>
              <a:buNone/>
            </a:pPr>
            <a:r>
              <a:rPr lang="en-GB" sz="1500" b="1" kern="1200" dirty="0"/>
              <a:t>Regular Intervals</a:t>
            </a:r>
            <a:r>
              <a:rPr lang="en-GB" sz="1500" kern="1200" dirty="0"/>
              <a:t>: Organisations should perform penetration testing at regular intervals, such as annually or bi-annually, to ensure that their security posture remains robust over time.</a:t>
            </a:r>
            <a:endParaRPr lang="en-US" sz="1500" kern="1200" dirty="0"/>
          </a:p>
        </p:txBody>
      </p:sp>
      <p:sp>
        <p:nvSpPr>
          <p:cNvPr id="8" name="Freeform: Shape 7">
            <a:extLst>
              <a:ext uri="{FF2B5EF4-FFF2-40B4-BE49-F238E27FC236}">
                <a16:creationId xmlns:a16="http://schemas.microsoft.com/office/drawing/2014/main" id="{43650DB7-6BDB-79DB-7C05-DE2F9CDF7B5B}"/>
              </a:ext>
            </a:extLst>
          </p:cNvPr>
          <p:cNvSpPr/>
          <p:nvPr/>
        </p:nvSpPr>
        <p:spPr>
          <a:xfrm>
            <a:off x="4227686" y="1052582"/>
            <a:ext cx="2911523" cy="2376424"/>
          </a:xfrm>
          <a:custGeom>
            <a:avLst/>
            <a:gdLst>
              <a:gd name="connsiteX0" fmla="*/ 0 w 2911523"/>
              <a:gd name="connsiteY0" fmla="*/ 396079 h 2376424"/>
              <a:gd name="connsiteX1" fmla="*/ 396079 w 2911523"/>
              <a:gd name="connsiteY1" fmla="*/ 0 h 2376424"/>
              <a:gd name="connsiteX2" fmla="*/ 2515444 w 2911523"/>
              <a:gd name="connsiteY2" fmla="*/ 0 h 2376424"/>
              <a:gd name="connsiteX3" fmla="*/ 2911523 w 2911523"/>
              <a:gd name="connsiteY3" fmla="*/ 396079 h 2376424"/>
              <a:gd name="connsiteX4" fmla="*/ 2911523 w 2911523"/>
              <a:gd name="connsiteY4" fmla="*/ 1980345 h 2376424"/>
              <a:gd name="connsiteX5" fmla="*/ 2515444 w 2911523"/>
              <a:gd name="connsiteY5" fmla="*/ 2376424 h 2376424"/>
              <a:gd name="connsiteX6" fmla="*/ 396079 w 2911523"/>
              <a:gd name="connsiteY6" fmla="*/ 2376424 h 2376424"/>
              <a:gd name="connsiteX7" fmla="*/ 0 w 2911523"/>
              <a:gd name="connsiteY7" fmla="*/ 1980345 h 2376424"/>
              <a:gd name="connsiteX8" fmla="*/ 0 w 2911523"/>
              <a:gd name="connsiteY8" fmla="*/ 396079 h 237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1523" h="2376424">
                <a:moveTo>
                  <a:pt x="0" y="396079"/>
                </a:moveTo>
                <a:cubicBezTo>
                  <a:pt x="0" y="177331"/>
                  <a:pt x="177331" y="0"/>
                  <a:pt x="396079" y="0"/>
                </a:cubicBezTo>
                <a:lnTo>
                  <a:pt x="2515444" y="0"/>
                </a:lnTo>
                <a:cubicBezTo>
                  <a:pt x="2734192" y="0"/>
                  <a:pt x="2911523" y="177331"/>
                  <a:pt x="2911523" y="396079"/>
                </a:cubicBezTo>
                <a:lnTo>
                  <a:pt x="2911523" y="1980345"/>
                </a:lnTo>
                <a:cubicBezTo>
                  <a:pt x="2911523" y="2199093"/>
                  <a:pt x="2734192" y="2376424"/>
                  <a:pt x="2515444" y="2376424"/>
                </a:cubicBezTo>
                <a:lnTo>
                  <a:pt x="396079" y="2376424"/>
                </a:lnTo>
                <a:cubicBezTo>
                  <a:pt x="177331" y="2376424"/>
                  <a:pt x="0" y="2199093"/>
                  <a:pt x="0" y="1980345"/>
                </a:cubicBezTo>
                <a:lnTo>
                  <a:pt x="0" y="396079"/>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shade val="80000"/>
              <a:hueOff val="156131"/>
              <a:satOff val="-16878"/>
              <a:lumOff val="13591"/>
              <a:alphaOff val="0"/>
            </a:schemeClr>
          </a:fillRef>
          <a:effectRef idx="2">
            <a:schemeClr val="accent1">
              <a:shade val="80000"/>
              <a:hueOff val="156131"/>
              <a:satOff val="-16878"/>
              <a:lumOff val="13591"/>
              <a:alphaOff val="0"/>
            </a:schemeClr>
          </a:effectRef>
          <a:fontRef idx="minor">
            <a:schemeClr val="lt1"/>
          </a:fontRef>
        </p:style>
        <p:txBody>
          <a:bodyPr spcFirstLastPara="0" vert="horz" wrap="square" lIns="173157" tIns="173157" rIns="173157" bIns="173157" numCol="1" spcCol="1270" anchor="ctr" anchorCtr="0">
            <a:noAutofit/>
          </a:bodyPr>
          <a:lstStyle/>
          <a:p>
            <a:pPr marL="0" lvl="0" indent="0" algn="ctr" defTabSz="666750">
              <a:lnSpc>
                <a:spcPct val="90000"/>
              </a:lnSpc>
              <a:spcBef>
                <a:spcPct val="0"/>
              </a:spcBef>
              <a:spcAft>
                <a:spcPct val="35000"/>
              </a:spcAft>
              <a:buNone/>
            </a:pPr>
            <a:r>
              <a:rPr lang="en-GB" sz="1500" b="1" kern="1200" dirty="0"/>
              <a:t>Post Deployment</a:t>
            </a:r>
            <a:r>
              <a:rPr lang="en-GB" sz="1500" kern="1200" dirty="0"/>
              <a:t>: New systems or applications should undergo penetration testing immediately after deployment to identify and address any security flaws before they are exploited. </a:t>
            </a:r>
            <a:endParaRPr lang="en-US" sz="1500" kern="1200" dirty="0"/>
          </a:p>
        </p:txBody>
      </p:sp>
      <p:sp>
        <p:nvSpPr>
          <p:cNvPr id="10" name="Freeform: Shape 9">
            <a:extLst>
              <a:ext uri="{FF2B5EF4-FFF2-40B4-BE49-F238E27FC236}">
                <a16:creationId xmlns:a16="http://schemas.microsoft.com/office/drawing/2014/main" id="{1D193909-FE26-51EC-8175-7CDC84D8F066}"/>
              </a:ext>
            </a:extLst>
          </p:cNvPr>
          <p:cNvSpPr/>
          <p:nvPr/>
        </p:nvSpPr>
        <p:spPr>
          <a:xfrm>
            <a:off x="768265" y="4014129"/>
            <a:ext cx="2997574" cy="2376424"/>
          </a:xfrm>
          <a:custGeom>
            <a:avLst/>
            <a:gdLst>
              <a:gd name="connsiteX0" fmla="*/ 0 w 2997574"/>
              <a:gd name="connsiteY0" fmla="*/ 396079 h 2376424"/>
              <a:gd name="connsiteX1" fmla="*/ 396079 w 2997574"/>
              <a:gd name="connsiteY1" fmla="*/ 0 h 2376424"/>
              <a:gd name="connsiteX2" fmla="*/ 2601495 w 2997574"/>
              <a:gd name="connsiteY2" fmla="*/ 0 h 2376424"/>
              <a:gd name="connsiteX3" fmla="*/ 2997574 w 2997574"/>
              <a:gd name="connsiteY3" fmla="*/ 396079 h 2376424"/>
              <a:gd name="connsiteX4" fmla="*/ 2997574 w 2997574"/>
              <a:gd name="connsiteY4" fmla="*/ 1980345 h 2376424"/>
              <a:gd name="connsiteX5" fmla="*/ 2601495 w 2997574"/>
              <a:gd name="connsiteY5" fmla="*/ 2376424 h 2376424"/>
              <a:gd name="connsiteX6" fmla="*/ 396079 w 2997574"/>
              <a:gd name="connsiteY6" fmla="*/ 2376424 h 2376424"/>
              <a:gd name="connsiteX7" fmla="*/ 0 w 2997574"/>
              <a:gd name="connsiteY7" fmla="*/ 1980345 h 2376424"/>
              <a:gd name="connsiteX8" fmla="*/ 0 w 2997574"/>
              <a:gd name="connsiteY8" fmla="*/ 396079 h 237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7574" h="2376424">
                <a:moveTo>
                  <a:pt x="0" y="396079"/>
                </a:moveTo>
                <a:cubicBezTo>
                  <a:pt x="0" y="177331"/>
                  <a:pt x="177331" y="0"/>
                  <a:pt x="396079" y="0"/>
                </a:cubicBezTo>
                <a:lnTo>
                  <a:pt x="2601495" y="0"/>
                </a:lnTo>
                <a:cubicBezTo>
                  <a:pt x="2820243" y="0"/>
                  <a:pt x="2997574" y="177331"/>
                  <a:pt x="2997574" y="396079"/>
                </a:cubicBezTo>
                <a:lnTo>
                  <a:pt x="2997574" y="1980345"/>
                </a:lnTo>
                <a:cubicBezTo>
                  <a:pt x="2997574" y="2199093"/>
                  <a:pt x="2820243" y="2376424"/>
                  <a:pt x="2601495" y="2376424"/>
                </a:cubicBezTo>
                <a:lnTo>
                  <a:pt x="396079" y="2376424"/>
                </a:lnTo>
                <a:cubicBezTo>
                  <a:pt x="177331" y="2376424"/>
                  <a:pt x="0" y="2199093"/>
                  <a:pt x="0" y="1980345"/>
                </a:cubicBezTo>
                <a:lnTo>
                  <a:pt x="0" y="396079"/>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shade val="80000"/>
              <a:hueOff val="312261"/>
              <a:satOff val="-33755"/>
              <a:lumOff val="27181"/>
              <a:alphaOff val="0"/>
            </a:schemeClr>
          </a:fillRef>
          <a:effectRef idx="2">
            <a:schemeClr val="accent1">
              <a:shade val="80000"/>
              <a:hueOff val="312261"/>
              <a:satOff val="-33755"/>
              <a:lumOff val="27181"/>
              <a:alphaOff val="0"/>
            </a:schemeClr>
          </a:effectRef>
          <a:fontRef idx="minor">
            <a:schemeClr val="lt1"/>
          </a:fontRef>
        </p:style>
        <p:txBody>
          <a:bodyPr spcFirstLastPara="0" vert="horz" wrap="square" lIns="173157" tIns="173157" rIns="173157" bIns="173157" numCol="1" spcCol="1270" anchor="ctr" anchorCtr="0">
            <a:noAutofit/>
          </a:bodyPr>
          <a:lstStyle/>
          <a:p>
            <a:pPr marL="0" lvl="0" indent="0" algn="ctr" defTabSz="666750">
              <a:lnSpc>
                <a:spcPct val="90000"/>
              </a:lnSpc>
              <a:spcBef>
                <a:spcPct val="0"/>
              </a:spcBef>
              <a:spcAft>
                <a:spcPct val="35000"/>
              </a:spcAft>
              <a:buNone/>
            </a:pPr>
            <a:r>
              <a:rPr lang="en-GB" sz="1500" b="1" kern="1200" dirty="0"/>
              <a:t>After Major Changes</a:t>
            </a:r>
            <a:r>
              <a:rPr lang="en-GB" sz="1500" kern="1200" dirty="0"/>
              <a:t>: Significant changes to an organisations IT infrastructure such as a system upgrade or migration to the cloud, should trigger a penetration test to evaluate the impact of these changes on security. </a:t>
            </a:r>
            <a:endParaRPr lang="en-US" sz="1500" kern="1200" dirty="0"/>
          </a:p>
        </p:txBody>
      </p:sp>
      <p:sp>
        <p:nvSpPr>
          <p:cNvPr id="12" name="Freeform: Shape 11">
            <a:extLst>
              <a:ext uri="{FF2B5EF4-FFF2-40B4-BE49-F238E27FC236}">
                <a16:creationId xmlns:a16="http://schemas.microsoft.com/office/drawing/2014/main" id="{8D1558BF-6890-B256-6D76-F27E2A219151}"/>
              </a:ext>
            </a:extLst>
          </p:cNvPr>
          <p:cNvSpPr/>
          <p:nvPr/>
        </p:nvSpPr>
        <p:spPr>
          <a:xfrm>
            <a:off x="4149846" y="4014129"/>
            <a:ext cx="2861452" cy="2376424"/>
          </a:xfrm>
          <a:custGeom>
            <a:avLst/>
            <a:gdLst>
              <a:gd name="connsiteX0" fmla="*/ 0 w 2861452"/>
              <a:gd name="connsiteY0" fmla="*/ 396079 h 2376424"/>
              <a:gd name="connsiteX1" fmla="*/ 396079 w 2861452"/>
              <a:gd name="connsiteY1" fmla="*/ 0 h 2376424"/>
              <a:gd name="connsiteX2" fmla="*/ 2465373 w 2861452"/>
              <a:gd name="connsiteY2" fmla="*/ 0 h 2376424"/>
              <a:gd name="connsiteX3" fmla="*/ 2861452 w 2861452"/>
              <a:gd name="connsiteY3" fmla="*/ 396079 h 2376424"/>
              <a:gd name="connsiteX4" fmla="*/ 2861452 w 2861452"/>
              <a:gd name="connsiteY4" fmla="*/ 1980345 h 2376424"/>
              <a:gd name="connsiteX5" fmla="*/ 2465373 w 2861452"/>
              <a:gd name="connsiteY5" fmla="*/ 2376424 h 2376424"/>
              <a:gd name="connsiteX6" fmla="*/ 396079 w 2861452"/>
              <a:gd name="connsiteY6" fmla="*/ 2376424 h 2376424"/>
              <a:gd name="connsiteX7" fmla="*/ 0 w 2861452"/>
              <a:gd name="connsiteY7" fmla="*/ 1980345 h 2376424"/>
              <a:gd name="connsiteX8" fmla="*/ 0 w 2861452"/>
              <a:gd name="connsiteY8" fmla="*/ 396079 h 237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1452" h="2376424">
                <a:moveTo>
                  <a:pt x="0" y="396079"/>
                </a:moveTo>
                <a:cubicBezTo>
                  <a:pt x="0" y="177331"/>
                  <a:pt x="177331" y="0"/>
                  <a:pt x="396079" y="0"/>
                </a:cubicBezTo>
                <a:lnTo>
                  <a:pt x="2465373" y="0"/>
                </a:lnTo>
                <a:cubicBezTo>
                  <a:pt x="2684121" y="0"/>
                  <a:pt x="2861452" y="177331"/>
                  <a:pt x="2861452" y="396079"/>
                </a:cubicBezTo>
                <a:lnTo>
                  <a:pt x="2861452" y="1980345"/>
                </a:lnTo>
                <a:cubicBezTo>
                  <a:pt x="2861452" y="2199093"/>
                  <a:pt x="2684121" y="2376424"/>
                  <a:pt x="2465373" y="2376424"/>
                </a:cubicBezTo>
                <a:lnTo>
                  <a:pt x="396079" y="2376424"/>
                </a:lnTo>
                <a:cubicBezTo>
                  <a:pt x="177331" y="2376424"/>
                  <a:pt x="0" y="2199093"/>
                  <a:pt x="0" y="1980345"/>
                </a:cubicBezTo>
                <a:lnTo>
                  <a:pt x="0" y="396079"/>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shade val="80000"/>
              <a:hueOff val="468392"/>
              <a:satOff val="-50633"/>
              <a:lumOff val="40772"/>
              <a:alphaOff val="0"/>
            </a:schemeClr>
          </a:fillRef>
          <a:effectRef idx="2">
            <a:schemeClr val="accent1">
              <a:shade val="80000"/>
              <a:hueOff val="468392"/>
              <a:satOff val="-50633"/>
              <a:lumOff val="40772"/>
              <a:alphaOff val="0"/>
            </a:schemeClr>
          </a:effectRef>
          <a:fontRef idx="minor">
            <a:schemeClr val="lt1"/>
          </a:fontRef>
        </p:style>
        <p:txBody>
          <a:bodyPr spcFirstLastPara="0" vert="horz" wrap="square" lIns="173157" tIns="173157" rIns="173157" bIns="173157" numCol="1" spcCol="1270" anchor="ctr" anchorCtr="0">
            <a:noAutofit/>
          </a:bodyPr>
          <a:lstStyle/>
          <a:p>
            <a:pPr marL="0" lvl="0" indent="0" algn="ctr" defTabSz="666750">
              <a:lnSpc>
                <a:spcPct val="90000"/>
              </a:lnSpc>
              <a:spcBef>
                <a:spcPct val="0"/>
              </a:spcBef>
              <a:spcAft>
                <a:spcPct val="35000"/>
              </a:spcAft>
              <a:buNone/>
            </a:pPr>
            <a:r>
              <a:rPr lang="en-GB" sz="1500" b="1" kern="1200" dirty="0"/>
              <a:t>In Response to Incidents</a:t>
            </a:r>
            <a:r>
              <a:rPr lang="en-GB" sz="1500" kern="1200" dirty="0"/>
              <a:t>: Following a security breach or suspected compromise, a penetration test can help identify how the attacker gained access and what vulnerabilities need to be fixed. </a:t>
            </a:r>
            <a:endParaRPr lang="en-US" sz="1500" kern="1200" dirty="0"/>
          </a:p>
        </p:txBody>
      </p:sp>
    </p:spTree>
    <p:extLst>
      <p:ext uri="{BB962C8B-B14F-4D97-AF65-F5344CB8AC3E}">
        <p14:creationId xmlns:p14="http://schemas.microsoft.com/office/powerpoint/2010/main" val="185858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4DC30-03A2-46C7-064C-ACFF4ECAC3F9}"/>
              </a:ext>
            </a:extLst>
          </p:cNvPr>
          <p:cNvSpPr>
            <a:spLocks noGrp="1"/>
          </p:cNvSpPr>
          <p:nvPr>
            <p:ph type="title"/>
          </p:nvPr>
        </p:nvSpPr>
        <p:spPr>
          <a:xfrm>
            <a:off x="581192" y="702156"/>
            <a:ext cx="11029616" cy="1013800"/>
          </a:xfrm>
        </p:spPr>
        <p:txBody>
          <a:bodyPr>
            <a:normAutofit/>
          </a:bodyPr>
          <a:lstStyle/>
          <a:p>
            <a:r>
              <a:rPr lang="en-GB">
                <a:solidFill>
                  <a:srgbClr val="FFFEFF"/>
                </a:solidFill>
              </a:rPr>
              <a:t>Types of testers and tests</a:t>
            </a:r>
          </a:p>
        </p:txBody>
      </p:sp>
      <p:sp>
        <p:nvSpPr>
          <p:cNvPr id="6" name="Rectangle: Rounded Corners 5">
            <a:extLst>
              <a:ext uri="{FF2B5EF4-FFF2-40B4-BE49-F238E27FC236}">
                <a16:creationId xmlns:a16="http://schemas.microsoft.com/office/drawing/2014/main" id="{64D23C1C-2C24-EE65-085B-189E2758935D}"/>
              </a:ext>
            </a:extLst>
          </p:cNvPr>
          <p:cNvSpPr/>
          <p:nvPr/>
        </p:nvSpPr>
        <p:spPr>
          <a:xfrm>
            <a:off x="582371" y="2270423"/>
            <a:ext cx="4725967" cy="30009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8" name="Freeform: Shape 7">
            <a:extLst>
              <a:ext uri="{FF2B5EF4-FFF2-40B4-BE49-F238E27FC236}">
                <a16:creationId xmlns:a16="http://schemas.microsoft.com/office/drawing/2014/main" id="{A6DCBB6A-9B68-ED4D-7C6A-A40E9E79C405}"/>
              </a:ext>
            </a:extLst>
          </p:cNvPr>
          <p:cNvSpPr/>
          <p:nvPr/>
        </p:nvSpPr>
        <p:spPr>
          <a:xfrm>
            <a:off x="1107478" y="2769275"/>
            <a:ext cx="4725967" cy="3000989"/>
          </a:xfrm>
          <a:custGeom>
            <a:avLst/>
            <a:gdLst>
              <a:gd name="connsiteX0" fmla="*/ 0 w 4725967"/>
              <a:gd name="connsiteY0" fmla="*/ 300099 h 3000989"/>
              <a:gd name="connsiteX1" fmla="*/ 300099 w 4725967"/>
              <a:gd name="connsiteY1" fmla="*/ 0 h 3000989"/>
              <a:gd name="connsiteX2" fmla="*/ 4425868 w 4725967"/>
              <a:gd name="connsiteY2" fmla="*/ 0 h 3000989"/>
              <a:gd name="connsiteX3" fmla="*/ 4725967 w 4725967"/>
              <a:gd name="connsiteY3" fmla="*/ 300099 h 3000989"/>
              <a:gd name="connsiteX4" fmla="*/ 4725967 w 4725967"/>
              <a:gd name="connsiteY4" fmla="*/ 2700890 h 3000989"/>
              <a:gd name="connsiteX5" fmla="*/ 4425868 w 4725967"/>
              <a:gd name="connsiteY5" fmla="*/ 3000989 h 3000989"/>
              <a:gd name="connsiteX6" fmla="*/ 300099 w 4725967"/>
              <a:gd name="connsiteY6" fmla="*/ 3000989 h 3000989"/>
              <a:gd name="connsiteX7" fmla="*/ 0 w 4725967"/>
              <a:gd name="connsiteY7" fmla="*/ 2700890 h 3000989"/>
              <a:gd name="connsiteX8" fmla="*/ 0 w 4725967"/>
              <a:gd name="connsiteY8" fmla="*/ 300099 h 300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5967" h="3000989">
                <a:moveTo>
                  <a:pt x="0" y="300099"/>
                </a:moveTo>
                <a:cubicBezTo>
                  <a:pt x="0" y="134359"/>
                  <a:pt x="134359" y="0"/>
                  <a:pt x="300099" y="0"/>
                </a:cubicBezTo>
                <a:lnTo>
                  <a:pt x="4425868" y="0"/>
                </a:lnTo>
                <a:cubicBezTo>
                  <a:pt x="4591608" y="0"/>
                  <a:pt x="4725967" y="134359"/>
                  <a:pt x="4725967" y="300099"/>
                </a:cubicBezTo>
                <a:lnTo>
                  <a:pt x="4725967" y="2700890"/>
                </a:lnTo>
                <a:cubicBezTo>
                  <a:pt x="4725967" y="2866630"/>
                  <a:pt x="4591608" y="3000989"/>
                  <a:pt x="4425868" y="3000989"/>
                </a:cubicBezTo>
                <a:lnTo>
                  <a:pt x="300099" y="3000989"/>
                </a:lnTo>
                <a:cubicBezTo>
                  <a:pt x="134359" y="3000989"/>
                  <a:pt x="0" y="2866630"/>
                  <a:pt x="0" y="2700890"/>
                </a:cubicBezTo>
                <a:lnTo>
                  <a:pt x="0" y="30009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9336" tIns="179336" rIns="179336" bIns="179336" numCol="1" spcCol="1270" anchor="ctr" anchorCtr="0">
            <a:noAutofit/>
          </a:bodyPr>
          <a:lstStyle/>
          <a:p>
            <a:pPr marL="0" lvl="0" indent="0" algn="ctr" defTabSz="1066800">
              <a:lnSpc>
                <a:spcPct val="90000"/>
              </a:lnSpc>
              <a:spcBef>
                <a:spcPct val="0"/>
              </a:spcBef>
              <a:spcAft>
                <a:spcPct val="35000"/>
              </a:spcAft>
              <a:buNone/>
            </a:pPr>
            <a:r>
              <a:rPr lang="en-GB" sz="2400" b="1" kern="1200" dirty="0"/>
              <a:t>White-Box Testing: </a:t>
            </a:r>
            <a:r>
              <a:rPr lang="en-US" sz="2400" kern="1200" dirty="0"/>
              <a:t>Involves testers who have full knowledge of the system, including source code and architecture. This allows for a comprehensive assessment of vulnerabilities from an insider's perspective.</a:t>
            </a:r>
            <a:r>
              <a:rPr lang="en-GB" sz="2400" kern="1200" dirty="0"/>
              <a:t> </a:t>
            </a:r>
            <a:endParaRPr lang="en-US" sz="2400" kern="1200" dirty="0"/>
          </a:p>
        </p:txBody>
      </p:sp>
      <p:sp>
        <p:nvSpPr>
          <p:cNvPr id="10" name="Rectangle: Rounded Corners 9">
            <a:extLst>
              <a:ext uri="{FF2B5EF4-FFF2-40B4-BE49-F238E27FC236}">
                <a16:creationId xmlns:a16="http://schemas.microsoft.com/office/drawing/2014/main" id="{EA0D013E-4EB2-CE35-5B96-5DDC5F53454C}"/>
              </a:ext>
            </a:extLst>
          </p:cNvPr>
          <p:cNvSpPr/>
          <p:nvPr/>
        </p:nvSpPr>
        <p:spPr>
          <a:xfrm>
            <a:off x="6358553" y="2270423"/>
            <a:ext cx="4725967" cy="30009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2" name="Freeform: Shape 11">
            <a:extLst>
              <a:ext uri="{FF2B5EF4-FFF2-40B4-BE49-F238E27FC236}">
                <a16:creationId xmlns:a16="http://schemas.microsoft.com/office/drawing/2014/main" id="{8BD26011-4815-0E61-93C4-4FAA557E4807}"/>
              </a:ext>
            </a:extLst>
          </p:cNvPr>
          <p:cNvSpPr/>
          <p:nvPr/>
        </p:nvSpPr>
        <p:spPr>
          <a:xfrm>
            <a:off x="6883661" y="2769275"/>
            <a:ext cx="4725967" cy="3000989"/>
          </a:xfrm>
          <a:custGeom>
            <a:avLst/>
            <a:gdLst>
              <a:gd name="connsiteX0" fmla="*/ 0 w 4725967"/>
              <a:gd name="connsiteY0" fmla="*/ 300099 h 3000989"/>
              <a:gd name="connsiteX1" fmla="*/ 300099 w 4725967"/>
              <a:gd name="connsiteY1" fmla="*/ 0 h 3000989"/>
              <a:gd name="connsiteX2" fmla="*/ 4425868 w 4725967"/>
              <a:gd name="connsiteY2" fmla="*/ 0 h 3000989"/>
              <a:gd name="connsiteX3" fmla="*/ 4725967 w 4725967"/>
              <a:gd name="connsiteY3" fmla="*/ 300099 h 3000989"/>
              <a:gd name="connsiteX4" fmla="*/ 4725967 w 4725967"/>
              <a:gd name="connsiteY4" fmla="*/ 2700890 h 3000989"/>
              <a:gd name="connsiteX5" fmla="*/ 4425868 w 4725967"/>
              <a:gd name="connsiteY5" fmla="*/ 3000989 h 3000989"/>
              <a:gd name="connsiteX6" fmla="*/ 300099 w 4725967"/>
              <a:gd name="connsiteY6" fmla="*/ 3000989 h 3000989"/>
              <a:gd name="connsiteX7" fmla="*/ 0 w 4725967"/>
              <a:gd name="connsiteY7" fmla="*/ 2700890 h 3000989"/>
              <a:gd name="connsiteX8" fmla="*/ 0 w 4725967"/>
              <a:gd name="connsiteY8" fmla="*/ 300099 h 300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5967" h="3000989">
                <a:moveTo>
                  <a:pt x="0" y="300099"/>
                </a:moveTo>
                <a:cubicBezTo>
                  <a:pt x="0" y="134359"/>
                  <a:pt x="134359" y="0"/>
                  <a:pt x="300099" y="0"/>
                </a:cubicBezTo>
                <a:lnTo>
                  <a:pt x="4425868" y="0"/>
                </a:lnTo>
                <a:cubicBezTo>
                  <a:pt x="4591608" y="0"/>
                  <a:pt x="4725967" y="134359"/>
                  <a:pt x="4725967" y="300099"/>
                </a:cubicBezTo>
                <a:lnTo>
                  <a:pt x="4725967" y="2700890"/>
                </a:lnTo>
                <a:cubicBezTo>
                  <a:pt x="4725967" y="2866630"/>
                  <a:pt x="4591608" y="3000989"/>
                  <a:pt x="4425868" y="3000989"/>
                </a:cubicBezTo>
                <a:lnTo>
                  <a:pt x="300099" y="3000989"/>
                </a:lnTo>
                <a:cubicBezTo>
                  <a:pt x="134359" y="3000989"/>
                  <a:pt x="0" y="2866630"/>
                  <a:pt x="0" y="2700890"/>
                </a:cubicBezTo>
                <a:lnTo>
                  <a:pt x="0" y="30009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9336" tIns="179336" rIns="179336" bIns="179336" numCol="1" spcCol="1270" anchor="ctr" anchorCtr="0">
            <a:noAutofit/>
          </a:bodyPr>
          <a:lstStyle/>
          <a:p>
            <a:pPr marL="0" lvl="0" indent="0" algn="ctr" defTabSz="1066800">
              <a:lnSpc>
                <a:spcPct val="90000"/>
              </a:lnSpc>
              <a:spcBef>
                <a:spcPct val="0"/>
              </a:spcBef>
              <a:spcAft>
                <a:spcPct val="35000"/>
              </a:spcAft>
              <a:buNone/>
            </a:pPr>
            <a:r>
              <a:rPr lang="en-GB" sz="2400" b="1" kern="1200" dirty="0"/>
              <a:t>Black-Box Testing: </a:t>
            </a:r>
            <a:r>
              <a:rPr lang="en-US" sz="2400" kern="1200" dirty="0"/>
              <a:t>Testers have no prior knowledge of the system. This approach simulates an external attack to uncover vulnerabilities that could be exploited by an outsider.</a:t>
            </a:r>
          </a:p>
        </p:txBody>
      </p:sp>
    </p:spTree>
    <p:extLst>
      <p:ext uri="{BB962C8B-B14F-4D97-AF65-F5344CB8AC3E}">
        <p14:creationId xmlns:p14="http://schemas.microsoft.com/office/powerpoint/2010/main" val="1528306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CEE50-EC40-EFC7-D623-D30B6B12D4AD}"/>
              </a:ext>
            </a:extLst>
          </p:cNvPr>
          <p:cNvSpPr>
            <a:spLocks noGrp="1"/>
          </p:cNvSpPr>
          <p:nvPr>
            <p:ph type="title"/>
          </p:nvPr>
        </p:nvSpPr>
        <p:spPr>
          <a:xfrm>
            <a:off x="581192" y="702156"/>
            <a:ext cx="11029616" cy="1013800"/>
          </a:xfrm>
        </p:spPr>
        <p:txBody>
          <a:bodyPr>
            <a:normAutofit/>
          </a:bodyPr>
          <a:lstStyle/>
          <a:p>
            <a:r>
              <a:rPr lang="en-GB">
                <a:solidFill>
                  <a:srgbClr val="FFFEFF"/>
                </a:solidFill>
              </a:rPr>
              <a:t>Types of testers and tests</a:t>
            </a:r>
          </a:p>
        </p:txBody>
      </p:sp>
      <p:sp>
        <p:nvSpPr>
          <p:cNvPr id="6" name="Rectangle: Rounded Corners 5">
            <a:extLst>
              <a:ext uri="{FF2B5EF4-FFF2-40B4-BE49-F238E27FC236}">
                <a16:creationId xmlns:a16="http://schemas.microsoft.com/office/drawing/2014/main" id="{326984BD-9248-5A14-C0A8-A4927E5519EB}"/>
              </a:ext>
            </a:extLst>
          </p:cNvPr>
          <p:cNvSpPr/>
          <p:nvPr/>
        </p:nvSpPr>
        <p:spPr>
          <a:xfrm>
            <a:off x="582371" y="2270423"/>
            <a:ext cx="4725967" cy="30009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7" name="Freeform: Shape 6">
            <a:extLst>
              <a:ext uri="{FF2B5EF4-FFF2-40B4-BE49-F238E27FC236}">
                <a16:creationId xmlns:a16="http://schemas.microsoft.com/office/drawing/2014/main" id="{0C148D9A-F09A-B679-A32B-BE239789153E}"/>
              </a:ext>
            </a:extLst>
          </p:cNvPr>
          <p:cNvSpPr/>
          <p:nvPr/>
        </p:nvSpPr>
        <p:spPr>
          <a:xfrm>
            <a:off x="1107478" y="2769275"/>
            <a:ext cx="4725967" cy="3000989"/>
          </a:xfrm>
          <a:custGeom>
            <a:avLst/>
            <a:gdLst>
              <a:gd name="connsiteX0" fmla="*/ 0 w 4725967"/>
              <a:gd name="connsiteY0" fmla="*/ 300099 h 3000989"/>
              <a:gd name="connsiteX1" fmla="*/ 300099 w 4725967"/>
              <a:gd name="connsiteY1" fmla="*/ 0 h 3000989"/>
              <a:gd name="connsiteX2" fmla="*/ 4425868 w 4725967"/>
              <a:gd name="connsiteY2" fmla="*/ 0 h 3000989"/>
              <a:gd name="connsiteX3" fmla="*/ 4725967 w 4725967"/>
              <a:gd name="connsiteY3" fmla="*/ 300099 h 3000989"/>
              <a:gd name="connsiteX4" fmla="*/ 4725967 w 4725967"/>
              <a:gd name="connsiteY4" fmla="*/ 2700890 h 3000989"/>
              <a:gd name="connsiteX5" fmla="*/ 4425868 w 4725967"/>
              <a:gd name="connsiteY5" fmla="*/ 3000989 h 3000989"/>
              <a:gd name="connsiteX6" fmla="*/ 300099 w 4725967"/>
              <a:gd name="connsiteY6" fmla="*/ 3000989 h 3000989"/>
              <a:gd name="connsiteX7" fmla="*/ 0 w 4725967"/>
              <a:gd name="connsiteY7" fmla="*/ 2700890 h 3000989"/>
              <a:gd name="connsiteX8" fmla="*/ 0 w 4725967"/>
              <a:gd name="connsiteY8" fmla="*/ 300099 h 300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5967" h="3000989">
                <a:moveTo>
                  <a:pt x="0" y="300099"/>
                </a:moveTo>
                <a:cubicBezTo>
                  <a:pt x="0" y="134359"/>
                  <a:pt x="134359" y="0"/>
                  <a:pt x="300099" y="0"/>
                </a:cubicBezTo>
                <a:lnTo>
                  <a:pt x="4425868" y="0"/>
                </a:lnTo>
                <a:cubicBezTo>
                  <a:pt x="4591608" y="0"/>
                  <a:pt x="4725967" y="134359"/>
                  <a:pt x="4725967" y="300099"/>
                </a:cubicBezTo>
                <a:lnTo>
                  <a:pt x="4725967" y="2700890"/>
                </a:lnTo>
                <a:cubicBezTo>
                  <a:pt x="4725967" y="2866630"/>
                  <a:pt x="4591608" y="3000989"/>
                  <a:pt x="4425868" y="3000989"/>
                </a:cubicBezTo>
                <a:lnTo>
                  <a:pt x="300099" y="3000989"/>
                </a:lnTo>
                <a:cubicBezTo>
                  <a:pt x="134359" y="3000989"/>
                  <a:pt x="0" y="2866630"/>
                  <a:pt x="0" y="2700890"/>
                </a:cubicBezTo>
                <a:lnTo>
                  <a:pt x="0" y="30009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9336" tIns="179336" rIns="179336" bIns="179336" numCol="1" spcCol="1270" anchor="ctr" anchorCtr="0">
            <a:noAutofit/>
          </a:bodyPr>
          <a:lstStyle/>
          <a:p>
            <a:pPr marL="0" lvl="0" indent="0" algn="ctr" defTabSz="1066800">
              <a:lnSpc>
                <a:spcPct val="90000"/>
              </a:lnSpc>
              <a:spcBef>
                <a:spcPct val="0"/>
              </a:spcBef>
              <a:spcAft>
                <a:spcPct val="35000"/>
              </a:spcAft>
              <a:buNone/>
            </a:pPr>
            <a:r>
              <a:rPr lang="en-GB" sz="2400" b="1" kern="1200" dirty="0"/>
              <a:t>Grey-Box Testing: </a:t>
            </a:r>
            <a:r>
              <a:rPr lang="en-US" sz="2400" kern="1200" dirty="0"/>
              <a:t>Combines elements of both white-box and black-box testing, where the tester has limited knowledge of the system. This approach balances the thoroughness of white-box testing with the realism of black-box testing.</a:t>
            </a:r>
          </a:p>
        </p:txBody>
      </p:sp>
      <p:sp>
        <p:nvSpPr>
          <p:cNvPr id="8" name="Rectangle: Rounded Corners 7">
            <a:extLst>
              <a:ext uri="{FF2B5EF4-FFF2-40B4-BE49-F238E27FC236}">
                <a16:creationId xmlns:a16="http://schemas.microsoft.com/office/drawing/2014/main" id="{64AB0AFF-77D4-C588-38A1-A7AB43E06775}"/>
              </a:ext>
            </a:extLst>
          </p:cNvPr>
          <p:cNvSpPr/>
          <p:nvPr/>
        </p:nvSpPr>
        <p:spPr>
          <a:xfrm>
            <a:off x="6358553" y="2270423"/>
            <a:ext cx="4725967" cy="30009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0" name="Freeform: Shape 9">
            <a:extLst>
              <a:ext uri="{FF2B5EF4-FFF2-40B4-BE49-F238E27FC236}">
                <a16:creationId xmlns:a16="http://schemas.microsoft.com/office/drawing/2014/main" id="{1A0F6D81-AA8B-2C95-BD1B-D25915A0015A}"/>
              </a:ext>
            </a:extLst>
          </p:cNvPr>
          <p:cNvSpPr/>
          <p:nvPr/>
        </p:nvSpPr>
        <p:spPr>
          <a:xfrm>
            <a:off x="6883661" y="2769275"/>
            <a:ext cx="4725967" cy="3000989"/>
          </a:xfrm>
          <a:custGeom>
            <a:avLst/>
            <a:gdLst>
              <a:gd name="connsiteX0" fmla="*/ 0 w 4725967"/>
              <a:gd name="connsiteY0" fmla="*/ 300099 h 3000989"/>
              <a:gd name="connsiteX1" fmla="*/ 300099 w 4725967"/>
              <a:gd name="connsiteY1" fmla="*/ 0 h 3000989"/>
              <a:gd name="connsiteX2" fmla="*/ 4425868 w 4725967"/>
              <a:gd name="connsiteY2" fmla="*/ 0 h 3000989"/>
              <a:gd name="connsiteX3" fmla="*/ 4725967 w 4725967"/>
              <a:gd name="connsiteY3" fmla="*/ 300099 h 3000989"/>
              <a:gd name="connsiteX4" fmla="*/ 4725967 w 4725967"/>
              <a:gd name="connsiteY4" fmla="*/ 2700890 h 3000989"/>
              <a:gd name="connsiteX5" fmla="*/ 4425868 w 4725967"/>
              <a:gd name="connsiteY5" fmla="*/ 3000989 h 3000989"/>
              <a:gd name="connsiteX6" fmla="*/ 300099 w 4725967"/>
              <a:gd name="connsiteY6" fmla="*/ 3000989 h 3000989"/>
              <a:gd name="connsiteX7" fmla="*/ 0 w 4725967"/>
              <a:gd name="connsiteY7" fmla="*/ 2700890 h 3000989"/>
              <a:gd name="connsiteX8" fmla="*/ 0 w 4725967"/>
              <a:gd name="connsiteY8" fmla="*/ 300099 h 300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5967" h="3000989">
                <a:moveTo>
                  <a:pt x="0" y="300099"/>
                </a:moveTo>
                <a:cubicBezTo>
                  <a:pt x="0" y="134359"/>
                  <a:pt x="134359" y="0"/>
                  <a:pt x="300099" y="0"/>
                </a:cubicBezTo>
                <a:lnTo>
                  <a:pt x="4425868" y="0"/>
                </a:lnTo>
                <a:cubicBezTo>
                  <a:pt x="4591608" y="0"/>
                  <a:pt x="4725967" y="134359"/>
                  <a:pt x="4725967" y="300099"/>
                </a:cubicBezTo>
                <a:lnTo>
                  <a:pt x="4725967" y="2700890"/>
                </a:lnTo>
                <a:cubicBezTo>
                  <a:pt x="4725967" y="2866630"/>
                  <a:pt x="4591608" y="3000989"/>
                  <a:pt x="4425868" y="3000989"/>
                </a:cubicBezTo>
                <a:lnTo>
                  <a:pt x="300099" y="3000989"/>
                </a:lnTo>
                <a:cubicBezTo>
                  <a:pt x="134359" y="3000989"/>
                  <a:pt x="0" y="2866630"/>
                  <a:pt x="0" y="2700890"/>
                </a:cubicBezTo>
                <a:lnTo>
                  <a:pt x="0" y="30009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9336" tIns="179336" rIns="179336" bIns="179336" numCol="1" spcCol="1270" anchor="ctr" anchorCtr="0">
            <a:noAutofit/>
          </a:bodyPr>
          <a:lstStyle/>
          <a:p>
            <a:pPr marL="0" lvl="0" indent="0" algn="ctr" defTabSz="1066800">
              <a:lnSpc>
                <a:spcPct val="90000"/>
              </a:lnSpc>
              <a:spcBef>
                <a:spcPct val="0"/>
              </a:spcBef>
              <a:spcAft>
                <a:spcPct val="35000"/>
              </a:spcAft>
              <a:buNone/>
            </a:pPr>
            <a:r>
              <a:rPr lang="en-GB" sz="2400" b="1" kern="1200" dirty="0"/>
              <a:t>Red Team/Blue Team Exercises:</a:t>
            </a:r>
            <a:r>
              <a:rPr lang="en-GB" sz="2400" kern="1200" dirty="0"/>
              <a:t> </a:t>
            </a:r>
            <a:r>
              <a:rPr lang="en-US" sz="2400" kern="1200" dirty="0"/>
              <a:t>A red team simulates attackers trying to breach the system, while the blue team defends against these attempts. This dynamic testing method helps organizations understand how well their security measures perform in a real-world scenario</a:t>
            </a:r>
          </a:p>
        </p:txBody>
      </p:sp>
    </p:spTree>
    <p:extLst>
      <p:ext uri="{BB962C8B-B14F-4D97-AF65-F5344CB8AC3E}">
        <p14:creationId xmlns:p14="http://schemas.microsoft.com/office/powerpoint/2010/main" val="6560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0A42D-EA15-6502-8E9C-AAE233FEDF6A}"/>
              </a:ext>
            </a:extLst>
          </p:cNvPr>
          <p:cNvSpPr>
            <a:spLocks noGrp="1"/>
          </p:cNvSpPr>
          <p:nvPr>
            <p:ph type="title"/>
          </p:nvPr>
        </p:nvSpPr>
        <p:spPr>
          <a:xfrm>
            <a:off x="959157" y="1113764"/>
            <a:ext cx="3269749" cy="4624327"/>
          </a:xfrm>
        </p:spPr>
        <p:txBody>
          <a:bodyPr anchor="ctr">
            <a:normAutofit/>
          </a:bodyPr>
          <a:lstStyle/>
          <a:p>
            <a:r>
              <a:rPr lang="en-GB" sz="3200">
                <a:solidFill>
                  <a:srgbClr val="FFFFFF"/>
                </a:solidFill>
              </a:rPr>
              <a:t>Importance of documenting penetration tests </a:t>
            </a:r>
          </a:p>
        </p:txBody>
      </p:sp>
      <p:sp>
        <p:nvSpPr>
          <p:cNvPr id="5" name="Freeform: Shape 4">
            <a:extLst>
              <a:ext uri="{FF2B5EF4-FFF2-40B4-BE49-F238E27FC236}">
                <a16:creationId xmlns:a16="http://schemas.microsoft.com/office/drawing/2014/main" id="{6256C5A9-3DDA-7522-0A85-AA0C18BF0188}"/>
              </a:ext>
            </a:extLst>
          </p:cNvPr>
          <p:cNvSpPr/>
          <p:nvPr/>
        </p:nvSpPr>
        <p:spPr>
          <a:xfrm>
            <a:off x="5155905" y="485678"/>
            <a:ext cx="6108179" cy="2607590"/>
          </a:xfrm>
          <a:custGeom>
            <a:avLst/>
            <a:gdLst>
              <a:gd name="connsiteX0" fmla="*/ 0 w 6108179"/>
              <a:gd name="connsiteY0" fmla="*/ 434607 h 2607590"/>
              <a:gd name="connsiteX1" fmla="*/ 434607 w 6108179"/>
              <a:gd name="connsiteY1" fmla="*/ 0 h 2607590"/>
              <a:gd name="connsiteX2" fmla="*/ 5673572 w 6108179"/>
              <a:gd name="connsiteY2" fmla="*/ 0 h 2607590"/>
              <a:gd name="connsiteX3" fmla="*/ 6108179 w 6108179"/>
              <a:gd name="connsiteY3" fmla="*/ 434607 h 2607590"/>
              <a:gd name="connsiteX4" fmla="*/ 6108179 w 6108179"/>
              <a:gd name="connsiteY4" fmla="*/ 2172983 h 2607590"/>
              <a:gd name="connsiteX5" fmla="*/ 5673572 w 6108179"/>
              <a:gd name="connsiteY5" fmla="*/ 2607590 h 2607590"/>
              <a:gd name="connsiteX6" fmla="*/ 434607 w 6108179"/>
              <a:gd name="connsiteY6" fmla="*/ 2607590 h 2607590"/>
              <a:gd name="connsiteX7" fmla="*/ 0 w 6108179"/>
              <a:gd name="connsiteY7" fmla="*/ 2172983 h 2607590"/>
              <a:gd name="connsiteX8" fmla="*/ 0 w 6108179"/>
              <a:gd name="connsiteY8" fmla="*/ 434607 h 260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179" h="2607590">
                <a:moveTo>
                  <a:pt x="0" y="434607"/>
                </a:moveTo>
                <a:cubicBezTo>
                  <a:pt x="0" y="194580"/>
                  <a:pt x="194580" y="0"/>
                  <a:pt x="434607" y="0"/>
                </a:cubicBezTo>
                <a:lnTo>
                  <a:pt x="5673572" y="0"/>
                </a:lnTo>
                <a:cubicBezTo>
                  <a:pt x="5913599" y="0"/>
                  <a:pt x="6108179" y="194580"/>
                  <a:pt x="6108179" y="434607"/>
                </a:cubicBezTo>
                <a:lnTo>
                  <a:pt x="6108179" y="2172983"/>
                </a:lnTo>
                <a:cubicBezTo>
                  <a:pt x="6108179" y="2413010"/>
                  <a:pt x="5913599" y="2607590"/>
                  <a:pt x="5673572" y="2607590"/>
                </a:cubicBezTo>
                <a:lnTo>
                  <a:pt x="434607" y="2607590"/>
                </a:lnTo>
                <a:cubicBezTo>
                  <a:pt x="194580" y="2607590"/>
                  <a:pt x="0" y="2413010"/>
                  <a:pt x="0" y="2172983"/>
                </a:cubicBezTo>
                <a:lnTo>
                  <a:pt x="0" y="434607"/>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4922" tIns="214922" rIns="214922" bIns="214922" numCol="1" spcCol="1270" anchor="ctr" anchorCtr="0">
            <a:noAutofit/>
          </a:bodyPr>
          <a:lstStyle/>
          <a:p>
            <a:pPr marL="0" lvl="0" indent="0" algn="l" defTabSz="1022350">
              <a:lnSpc>
                <a:spcPct val="90000"/>
              </a:lnSpc>
              <a:spcBef>
                <a:spcPct val="0"/>
              </a:spcBef>
              <a:spcAft>
                <a:spcPct val="35000"/>
              </a:spcAft>
              <a:buNone/>
            </a:pPr>
            <a:r>
              <a:rPr lang="en-GB" sz="2300" b="1" kern="1200" dirty="0"/>
              <a:t>Thorough Documentation:</a:t>
            </a:r>
            <a:r>
              <a:rPr lang="en-GB" sz="2300" kern="1200" dirty="0"/>
              <a:t> Documenting the penetration test process, findings, and results is crucial for creatin ga record that can be reviewed and references in the future. This documentation should include details of the methodologies used, tools employed, and vulnerabilities discovered.  </a:t>
            </a:r>
            <a:endParaRPr lang="en-US" sz="2300" kern="1200" dirty="0"/>
          </a:p>
        </p:txBody>
      </p:sp>
      <p:sp>
        <p:nvSpPr>
          <p:cNvPr id="6" name="Freeform: Shape 5">
            <a:extLst>
              <a:ext uri="{FF2B5EF4-FFF2-40B4-BE49-F238E27FC236}">
                <a16:creationId xmlns:a16="http://schemas.microsoft.com/office/drawing/2014/main" id="{A941029F-8DE9-8855-744E-0825672753BE}"/>
              </a:ext>
            </a:extLst>
          </p:cNvPr>
          <p:cNvSpPr/>
          <p:nvPr/>
        </p:nvSpPr>
        <p:spPr>
          <a:xfrm>
            <a:off x="5155905" y="3661071"/>
            <a:ext cx="6108179" cy="2713378"/>
          </a:xfrm>
          <a:custGeom>
            <a:avLst/>
            <a:gdLst>
              <a:gd name="connsiteX0" fmla="*/ 0 w 6108179"/>
              <a:gd name="connsiteY0" fmla="*/ 452239 h 2713378"/>
              <a:gd name="connsiteX1" fmla="*/ 452239 w 6108179"/>
              <a:gd name="connsiteY1" fmla="*/ 0 h 2713378"/>
              <a:gd name="connsiteX2" fmla="*/ 5655940 w 6108179"/>
              <a:gd name="connsiteY2" fmla="*/ 0 h 2713378"/>
              <a:gd name="connsiteX3" fmla="*/ 6108179 w 6108179"/>
              <a:gd name="connsiteY3" fmla="*/ 452239 h 2713378"/>
              <a:gd name="connsiteX4" fmla="*/ 6108179 w 6108179"/>
              <a:gd name="connsiteY4" fmla="*/ 2261139 h 2713378"/>
              <a:gd name="connsiteX5" fmla="*/ 5655940 w 6108179"/>
              <a:gd name="connsiteY5" fmla="*/ 2713378 h 2713378"/>
              <a:gd name="connsiteX6" fmla="*/ 452239 w 6108179"/>
              <a:gd name="connsiteY6" fmla="*/ 2713378 h 2713378"/>
              <a:gd name="connsiteX7" fmla="*/ 0 w 6108179"/>
              <a:gd name="connsiteY7" fmla="*/ 2261139 h 2713378"/>
              <a:gd name="connsiteX8" fmla="*/ 0 w 6108179"/>
              <a:gd name="connsiteY8" fmla="*/ 452239 h 2713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179" h="2713378">
                <a:moveTo>
                  <a:pt x="0" y="452239"/>
                </a:moveTo>
                <a:cubicBezTo>
                  <a:pt x="0" y="202474"/>
                  <a:pt x="202474" y="0"/>
                  <a:pt x="452239" y="0"/>
                </a:cubicBezTo>
                <a:lnTo>
                  <a:pt x="5655940" y="0"/>
                </a:lnTo>
                <a:cubicBezTo>
                  <a:pt x="5905705" y="0"/>
                  <a:pt x="6108179" y="202474"/>
                  <a:pt x="6108179" y="452239"/>
                </a:cubicBezTo>
                <a:lnTo>
                  <a:pt x="6108179" y="2261139"/>
                </a:lnTo>
                <a:cubicBezTo>
                  <a:pt x="6108179" y="2510904"/>
                  <a:pt x="5905705" y="2713378"/>
                  <a:pt x="5655940" y="2713378"/>
                </a:cubicBezTo>
                <a:lnTo>
                  <a:pt x="452239" y="2713378"/>
                </a:lnTo>
                <a:cubicBezTo>
                  <a:pt x="202474" y="2713378"/>
                  <a:pt x="0" y="2510904"/>
                  <a:pt x="0" y="2261139"/>
                </a:cubicBezTo>
                <a:lnTo>
                  <a:pt x="0" y="45223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086" tIns="220086" rIns="220086" bIns="220086" numCol="1" spcCol="1270" anchor="ctr" anchorCtr="0">
            <a:noAutofit/>
          </a:bodyPr>
          <a:lstStyle/>
          <a:p>
            <a:pPr marL="0" lvl="0" indent="0" algn="l" defTabSz="1022350">
              <a:lnSpc>
                <a:spcPct val="90000"/>
              </a:lnSpc>
              <a:spcBef>
                <a:spcPct val="0"/>
              </a:spcBef>
              <a:spcAft>
                <a:spcPct val="35000"/>
              </a:spcAft>
              <a:buNone/>
            </a:pPr>
            <a:r>
              <a:rPr lang="en-GB" sz="2300" b="1" kern="1200" dirty="0"/>
              <a:t>Evaluating Results:</a:t>
            </a:r>
            <a:r>
              <a:rPr lang="en-GB" sz="2300" kern="1200" dirty="0"/>
              <a:t> Post- test analysis is essential for understanding the impact of discovered vulnerabilities. This included assessing the potential damage that can be caused if these vulnerabilities were exploited and prioritising remediation efforts accordingly. </a:t>
            </a:r>
            <a:endParaRPr lang="en-US" sz="2300" kern="1200" dirty="0"/>
          </a:p>
        </p:txBody>
      </p:sp>
    </p:spTree>
    <p:extLst>
      <p:ext uri="{BB962C8B-B14F-4D97-AF65-F5344CB8AC3E}">
        <p14:creationId xmlns:p14="http://schemas.microsoft.com/office/powerpoint/2010/main" val="201459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6201-AC07-7BBF-0AC5-6A452A1984C4}"/>
              </a:ext>
            </a:extLst>
          </p:cNvPr>
          <p:cNvSpPr>
            <a:spLocks noGrp="1"/>
          </p:cNvSpPr>
          <p:nvPr>
            <p:ph type="title"/>
          </p:nvPr>
        </p:nvSpPr>
        <p:spPr>
          <a:xfrm>
            <a:off x="581192" y="702156"/>
            <a:ext cx="11029616" cy="1013800"/>
          </a:xfrm>
        </p:spPr>
        <p:txBody>
          <a:bodyPr>
            <a:normAutofit/>
          </a:bodyPr>
          <a:lstStyle/>
          <a:p>
            <a:r>
              <a:rPr lang="en-GB">
                <a:solidFill>
                  <a:srgbClr val="FFFEFF"/>
                </a:solidFill>
              </a:rPr>
              <a:t>Audit and compliance </a:t>
            </a:r>
          </a:p>
        </p:txBody>
      </p:sp>
      <p:sp>
        <p:nvSpPr>
          <p:cNvPr id="6" name="Rectangle 5" descr="Checkmark">
            <a:extLst>
              <a:ext uri="{FF2B5EF4-FFF2-40B4-BE49-F238E27FC236}">
                <a16:creationId xmlns:a16="http://schemas.microsoft.com/office/drawing/2014/main" id="{D7C063B6-DC58-A3C2-8C15-EBD72E9D761E}"/>
              </a:ext>
            </a:extLst>
          </p:cNvPr>
          <p:cNvSpPr/>
          <p:nvPr/>
        </p:nvSpPr>
        <p:spPr>
          <a:xfrm>
            <a:off x="2585999" y="2190189"/>
            <a:ext cx="1944000" cy="1944000"/>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7" name="Freeform: Shape 6">
            <a:extLst>
              <a:ext uri="{FF2B5EF4-FFF2-40B4-BE49-F238E27FC236}">
                <a16:creationId xmlns:a16="http://schemas.microsoft.com/office/drawing/2014/main" id="{4E1225D9-EEE7-0B05-81AC-0F1E97FA40B7}"/>
              </a:ext>
            </a:extLst>
          </p:cNvPr>
          <p:cNvSpPr/>
          <p:nvPr/>
        </p:nvSpPr>
        <p:spPr>
          <a:xfrm>
            <a:off x="1397999" y="4414332"/>
            <a:ext cx="4320000" cy="1445130"/>
          </a:xfrm>
          <a:custGeom>
            <a:avLst/>
            <a:gdLst>
              <a:gd name="connsiteX0" fmla="*/ 0 w 4320000"/>
              <a:gd name="connsiteY0" fmla="*/ 0 h 1445130"/>
              <a:gd name="connsiteX1" fmla="*/ 4320000 w 4320000"/>
              <a:gd name="connsiteY1" fmla="*/ 0 h 1445130"/>
              <a:gd name="connsiteX2" fmla="*/ 4320000 w 4320000"/>
              <a:gd name="connsiteY2" fmla="*/ 1445130 h 1445130"/>
              <a:gd name="connsiteX3" fmla="*/ 0 w 4320000"/>
              <a:gd name="connsiteY3" fmla="*/ 1445130 h 1445130"/>
              <a:gd name="connsiteX4" fmla="*/ 0 w 4320000"/>
              <a:gd name="connsiteY4" fmla="*/ 0 h 1445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1445130">
                <a:moveTo>
                  <a:pt x="0" y="0"/>
                </a:moveTo>
                <a:lnTo>
                  <a:pt x="4320000" y="0"/>
                </a:lnTo>
                <a:lnTo>
                  <a:pt x="4320000" y="1445130"/>
                </a:lnTo>
                <a:lnTo>
                  <a:pt x="0" y="14451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endParaRPr lang="en-GB" sz="1800" kern="1200" dirty="0"/>
          </a:p>
          <a:p>
            <a:pPr marL="0" lvl="0" indent="0" algn="ctr" defTabSz="800100">
              <a:lnSpc>
                <a:spcPct val="90000"/>
              </a:lnSpc>
              <a:spcBef>
                <a:spcPct val="0"/>
              </a:spcBef>
              <a:spcAft>
                <a:spcPct val="35000"/>
              </a:spcAft>
              <a:buNone/>
            </a:pPr>
            <a:r>
              <a:rPr lang="en-GB" sz="1800" kern="1200" dirty="0"/>
              <a:t>Proper documentation supports compliance with industry standards and regulations. </a:t>
            </a:r>
            <a:endParaRPr lang="en-US" sz="1800" kern="1200" dirty="0"/>
          </a:p>
        </p:txBody>
      </p:sp>
      <p:sp>
        <p:nvSpPr>
          <p:cNvPr id="9" name="Rectangle 8" descr="Judge">
            <a:extLst>
              <a:ext uri="{FF2B5EF4-FFF2-40B4-BE49-F238E27FC236}">
                <a16:creationId xmlns:a16="http://schemas.microsoft.com/office/drawing/2014/main" id="{D0D2642C-1A11-885A-8E73-E0EF86323195}"/>
              </a:ext>
            </a:extLst>
          </p:cNvPr>
          <p:cNvSpPr/>
          <p:nvPr/>
        </p:nvSpPr>
        <p:spPr>
          <a:xfrm>
            <a:off x="7662000" y="2311002"/>
            <a:ext cx="1944000" cy="194400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GB"/>
          </a:p>
        </p:txBody>
      </p:sp>
      <p:sp>
        <p:nvSpPr>
          <p:cNvPr id="11" name="Freeform: Shape 10">
            <a:extLst>
              <a:ext uri="{FF2B5EF4-FFF2-40B4-BE49-F238E27FC236}">
                <a16:creationId xmlns:a16="http://schemas.microsoft.com/office/drawing/2014/main" id="{FF84CC0F-A1A2-A98D-17F4-14933CBEF356}"/>
              </a:ext>
            </a:extLst>
          </p:cNvPr>
          <p:cNvSpPr/>
          <p:nvPr/>
        </p:nvSpPr>
        <p:spPr>
          <a:xfrm>
            <a:off x="6454560" y="4738934"/>
            <a:ext cx="4320000" cy="961875"/>
          </a:xfrm>
          <a:custGeom>
            <a:avLst/>
            <a:gdLst>
              <a:gd name="connsiteX0" fmla="*/ 0 w 4320000"/>
              <a:gd name="connsiteY0" fmla="*/ 0 h 961875"/>
              <a:gd name="connsiteX1" fmla="*/ 4320000 w 4320000"/>
              <a:gd name="connsiteY1" fmla="*/ 0 h 961875"/>
              <a:gd name="connsiteX2" fmla="*/ 4320000 w 4320000"/>
              <a:gd name="connsiteY2" fmla="*/ 961875 h 961875"/>
              <a:gd name="connsiteX3" fmla="*/ 0 w 4320000"/>
              <a:gd name="connsiteY3" fmla="*/ 961875 h 961875"/>
              <a:gd name="connsiteX4" fmla="*/ 0 w 4320000"/>
              <a:gd name="connsiteY4" fmla="*/ 0 h 96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00" h="961875">
                <a:moveTo>
                  <a:pt x="0" y="0"/>
                </a:moveTo>
                <a:lnTo>
                  <a:pt x="4320000" y="0"/>
                </a:lnTo>
                <a:lnTo>
                  <a:pt x="4320000" y="961875"/>
                </a:lnTo>
                <a:lnTo>
                  <a:pt x="0" y="961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It also provides evidence of due diligence in securing systems, which can be important during audits or in the event of a security incident. </a:t>
            </a:r>
            <a:endParaRPr lang="en-US" sz="1800" kern="1200" dirty="0"/>
          </a:p>
        </p:txBody>
      </p:sp>
    </p:spTree>
    <p:extLst>
      <p:ext uri="{BB962C8B-B14F-4D97-AF65-F5344CB8AC3E}">
        <p14:creationId xmlns:p14="http://schemas.microsoft.com/office/powerpoint/2010/main" val="46067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10" presetClass="entr" presetSubtype="0" fill="hold" grpId="0" nodeType="afterEffect">
                                  <p:stCondLst>
                                    <p:cond delay="2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BE3D7-7009-7774-1D7C-2938F2C08401}"/>
              </a:ext>
            </a:extLst>
          </p:cNvPr>
          <p:cNvSpPr>
            <a:spLocks noGrp="1"/>
          </p:cNvSpPr>
          <p:nvPr>
            <p:ph type="title"/>
          </p:nvPr>
        </p:nvSpPr>
        <p:spPr>
          <a:xfrm>
            <a:off x="959157" y="1113764"/>
            <a:ext cx="3269749" cy="4624327"/>
          </a:xfrm>
        </p:spPr>
        <p:txBody>
          <a:bodyPr anchor="ctr">
            <a:normAutofit/>
          </a:bodyPr>
          <a:lstStyle/>
          <a:p>
            <a:r>
              <a:rPr lang="en-GB" sz="3200">
                <a:solidFill>
                  <a:srgbClr val="FFFFFF"/>
                </a:solidFill>
              </a:rPr>
              <a:t>Legal implications</a:t>
            </a:r>
          </a:p>
        </p:txBody>
      </p:sp>
      <p:sp>
        <p:nvSpPr>
          <p:cNvPr id="5" name="Freeform: Shape 4">
            <a:extLst>
              <a:ext uri="{FF2B5EF4-FFF2-40B4-BE49-F238E27FC236}">
                <a16:creationId xmlns:a16="http://schemas.microsoft.com/office/drawing/2014/main" id="{3978F93A-CC6B-B9AD-3D21-59F595794032}"/>
              </a:ext>
            </a:extLst>
          </p:cNvPr>
          <p:cNvSpPr/>
          <p:nvPr/>
        </p:nvSpPr>
        <p:spPr>
          <a:xfrm>
            <a:off x="5155905" y="485678"/>
            <a:ext cx="6108179" cy="2835338"/>
          </a:xfrm>
          <a:custGeom>
            <a:avLst/>
            <a:gdLst>
              <a:gd name="connsiteX0" fmla="*/ 0 w 6108179"/>
              <a:gd name="connsiteY0" fmla="*/ 472566 h 2835338"/>
              <a:gd name="connsiteX1" fmla="*/ 472566 w 6108179"/>
              <a:gd name="connsiteY1" fmla="*/ 0 h 2835338"/>
              <a:gd name="connsiteX2" fmla="*/ 5635613 w 6108179"/>
              <a:gd name="connsiteY2" fmla="*/ 0 h 2835338"/>
              <a:gd name="connsiteX3" fmla="*/ 6108179 w 6108179"/>
              <a:gd name="connsiteY3" fmla="*/ 472566 h 2835338"/>
              <a:gd name="connsiteX4" fmla="*/ 6108179 w 6108179"/>
              <a:gd name="connsiteY4" fmla="*/ 2362772 h 2835338"/>
              <a:gd name="connsiteX5" fmla="*/ 5635613 w 6108179"/>
              <a:gd name="connsiteY5" fmla="*/ 2835338 h 2835338"/>
              <a:gd name="connsiteX6" fmla="*/ 472566 w 6108179"/>
              <a:gd name="connsiteY6" fmla="*/ 2835338 h 2835338"/>
              <a:gd name="connsiteX7" fmla="*/ 0 w 6108179"/>
              <a:gd name="connsiteY7" fmla="*/ 2362772 h 2835338"/>
              <a:gd name="connsiteX8" fmla="*/ 0 w 6108179"/>
              <a:gd name="connsiteY8" fmla="*/ 472566 h 283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179" h="2835338">
                <a:moveTo>
                  <a:pt x="0" y="472566"/>
                </a:moveTo>
                <a:cubicBezTo>
                  <a:pt x="0" y="211575"/>
                  <a:pt x="211575" y="0"/>
                  <a:pt x="472566" y="0"/>
                </a:cubicBezTo>
                <a:lnTo>
                  <a:pt x="5635613" y="0"/>
                </a:lnTo>
                <a:cubicBezTo>
                  <a:pt x="5896604" y="0"/>
                  <a:pt x="6108179" y="211575"/>
                  <a:pt x="6108179" y="472566"/>
                </a:cubicBezTo>
                <a:lnTo>
                  <a:pt x="6108179" y="2362772"/>
                </a:lnTo>
                <a:cubicBezTo>
                  <a:pt x="6108179" y="2623763"/>
                  <a:pt x="5896604" y="2835338"/>
                  <a:pt x="5635613" y="2835338"/>
                </a:cubicBezTo>
                <a:lnTo>
                  <a:pt x="472566" y="2835338"/>
                </a:lnTo>
                <a:cubicBezTo>
                  <a:pt x="211575" y="2835338"/>
                  <a:pt x="0" y="2623763"/>
                  <a:pt x="0" y="2362772"/>
                </a:cubicBezTo>
                <a:lnTo>
                  <a:pt x="0" y="4725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6040" tIns="226040" rIns="226040" bIns="226040" numCol="1" spcCol="1270" anchor="ctr" anchorCtr="0">
            <a:noAutofit/>
          </a:bodyPr>
          <a:lstStyle/>
          <a:p>
            <a:pPr marL="0" lvl="0" indent="0" algn="l" defTabSz="1022350">
              <a:lnSpc>
                <a:spcPct val="90000"/>
              </a:lnSpc>
              <a:spcBef>
                <a:spcPct val="0"/>
              </a:spcBef>
              <a:spcAft>
                <a:spcPct val="35000"/>
              </a:spcAft>
              <a:buNone/>
            </a:pPr>
            <a:r>
              <a:rPr lang="en-GB" sz="2300" b="1" kern="1200" dirty="0"/>
              <a:t>Ethical Considerations:</a:t>
            </a:r>
            <a:r>
              <a:rPr lang="en-GB" sz="2300" kern="1200" dirty="0"/>
              <a:t> Penetration testers must adhere to strict ethical guidelines, ensuring that their testing does not harm the organisation or its users. Penetration testing involves obtaining proper authorisation, respecting privacy, and reporting findings responsibly. </a:t>
            </a:r>
            <a:endParaRPr lang="en-US" sz="2300" kern="1200" dirty="0"/>
          </a:p>
        </p:txBody>
      </p:sp>
      <p:sp>
        <p:nvSpPr>
          <p:cNvPr id="6" name="Freeform: Shape 5">
            <a:extLst>
              <a:ext uri="{FF2B5EF4-FFF2-40B4-BE49-F238E27FC236}">
                <a16:creationId xmlns:a16="http://schemas.microsoft.com/office/drawing/2014/main" id="{1EF55EAF-14BF-156A-0AB6-36A10DB9B05D}"/>
              </a:ext>
            </a:extLst>
          </p:cNvPr>
          <p:cNvSpPr/>
          <p:nvPr/>
        </p:nvSpPr>
        <p:spPr>
          <a:xfrm>
            <a:off x="5155905" y="3784025"/>
            <a:ext cx="6108179" cy="2590424"/>
          </a:xfrm>
          <a:custGeom>
            <a:avLst/>
            <a:gdLst>
              <a:gd name="connsiteX0" fmla="*/ 0 w 6108179"/>
              <a:gd name="connsiteY0" fmla="*/ 431746 h 2590424"/>
              <a:gd name="connsiteX1" fmla="*/ 431746 w 6108179"/>
              <a:gd name="connsiteY1" fmla="*/ 0 h 2590424"/>
              <a:gd name="connsiteX2" fmla="*/ 5676433 w 6108179"/>
              <a:gd name="connsiteY2" fmla="*/ 0 h 2590424"/>
              <a:gd name="connsiteX3" fmla="*/ 6108179 w 6108179"/>
              <a:gd name="connsiteY3" fmla="*/ 431746 h 2590424"/>
              <a:gd name="connsiteX4" fmla="*/ 6108179 w 6108179"/>
              <a:gd name="connsiteY4" fmla="*/ 2158678 h 2590424"/>
              <a:gd name="connsiteX5" fmla="*/ 5676433 w 6108179"/>
              <a:gd name="connsiteY5" fmla="*/ 2590424 h 2590424"/>
              <a:gd name="connsiteX6" fmla="*/ 431746 w 6108179"/>
              <a:gd name="connsiteY6" fmla="*/ 2590424 h 2590424"/>
              <a:gd name="connsiteX7" fmla="*/ 0 w 6108179"/>
              <a:gd name="connsiteY7" fmla="*/ 2158678 h 2590424"/>
              <a:gd name="connsiteX8" fmla="*/ 0 w 6108179"/>
              <a:gd name="connsiteY8" fmla="*/ 431746 h 259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179" h="2590424">
                <a:moveTo>
                  <a:pt x="0" y="431746"/>
                </a:moveTo>
                <a:cubicBezTo>
                  <a:pt x="0" y="193299"/>
                  <a:pt x="193299" y="0"/>
                  <a:pt x="431746" y="0"/>
                </a:cubicBezTo>
                <a:lnTo>
                  <a:pt x="5676433" y="0"/>
                </a:lnTo>
                <a:cubicBezTo>
                  <a:pt x="5914880" y="0"/>
                  <a:pt x="6108179" y="193299"/>
                  <a:pt x="6108179" y="431746"/>
                </a:cubicBezTo>
                <a:lnTo>
                  <a:pt x="6108179" y="2158678"/>
                </a:lnTo>
                <a:cubicBezTo>
                  <a:pt x="6108179" y="2397125"/>
                  <a:pt x="5914880" y="2590424"/>
                  <a:pt x="5676433" y="2590424"/>
                </a:cubicBezTo>
                <a:lnTo>
                  <a:pt x="431746" y="2590424"/>
                </a:lnTo>
                <a:cubicBezTo>
                  <a:pt x="193299" y="2590424"/>
                  <a:pt x="0" y="2397125"/>
                  <a:pt x="0" y="2158678"/>
                </a:cubicBezTo>
                <a:lnTo>
                  <a:pt x="0" y="43174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4084" tIns="214084" rIns="214084" bIns="214084" numCol="1" spcCol="1270" anchor="ctr" anchorCtr="0">
            <a:noAutofit/>
          </a:bodyPr>
          <a:lstStyle/>
          <a:p>
            <a:pPr marL="0" lvl="0" indent="0" algn="l" defTabSz="1022350">
              <a:lnSpc>
                <a:spcPct val="90000"/>
              </a:lnSpc>
              <a:spcBef>
                <a:spcPct val="0"/>
              </a:spcBef>
              <a:spcAft>
                <a:spcPct val="35000"/>
              </a:spcAft>
              <a:buNone/>
            </a:pPr>
            <a:r>
              <a:rPr lang="en-GB" sz="2300" b="1" kern="1200" dirty="0"/>
              <a:t>Legal Implications: </a:t>
            </a:r>
            <a:r>
              <a:rPr lang="en-GB" sz="2300" kern="1200" dirty="0"/>
              <a:t>Unauthorised access to systems, even for testing purposes, can result in legal consequences. Penetration testers must operate within the bounds of the law, and organisations should ensure that testing is conducted with appropriate legal agreements in place. </a:t>
            </a:r>
            <a:endParaRPr lang="en-US" sz="2300" kern="1200" dirty="0"/>
          </a:p>
        </p:txBody>
      </p:sp>
    </p:spTree>
    <p:extLst>
      <p:ext uri="{BB962C8B-B14F-4D97-AF65-F5344CB8AC3E}">
        <p14:creationId xmlns:p14="http://schemas.microsoft.com/office/powerpoint/2010/main" val="150218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97C7F-0E47-1515-EADB-88E2FE579A78}"/>
              </a:ext>
            </a:extLst>
          </p:cNvPr>
          <p:cNvSpPr>
            <a:spLocks noGrp="1"/>
          </p:cNvSpPr>
          <p:nvPr>
            <p:ph type="title"/>
          </p:nvPr>
        </p:nvSpPr>
        <p:spPr>
          <a:xfrm>
            <a:off x="581192" y="702156"/>
            <a:ext cx="11029616" cy="1013800"/>
          </a:xfrm>
        </p:spPr>
        <p:txBody>
          <a:bodyPr>
            <a:normAutofit/>
          </a:bodyPr>
          <a:lstStyle/>
          <a:p>
            <a:r>
              <a:rPr lang="en-GB" dirty="0">
                <a:solidFill>
                  <a:srgbClr val="FFFEFF"/>
                </a:solidFill>
              </a:rPr>
              <a:t>The role of penetration testing </a:t>
            </a:r>
          </a:p>
        </p:txBody>
      </p:sp>
      <p:sp>
        <p:nvSpPr>
          <p:cNvPr id="6" name="Rectangle: Rounded Corners 5">
            <a:extLst>
              <a:ext uri="{FF2B5EF4-FFF2-40B4-BE49-F238E27FC236}">
                <a16:creationId xmlns:a16="http://schemas.microsoft.com/office/drawing/2014/main" id="{B11F948A-CAD5-6290-BA7C-8339BBA509F2}"/>
              </a:ext>
            </a:extLst>
          </p:cNvPr>
          <p:cNvSpPr/>
          <p:nvPr/>
        </p:nvSpPr>
        <p:spPr>
          <a:xfrm>
            <a:off x="582371" y="2270423"/>
            <a:ext cx="4725967" cy="30009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8" name="Freeform: Shape 7">
            <a:extLst>
              <a:ext uri="{FF2B5EF4-FFF2-40B4-BE49-F238E27FC236}">
                <a16:creationId xmlns:a16="http://schemas.microsoft.com/office/drawing/2014/main" id="{B461207F-EEE6-647D-D0F7-3D8998407CE7}"/>
              </a:ext>
            </a:extLst>
          </p:cNvPr>
          <p:cNvSpPr/>
          <p:nvPr/>
        </p:nvSpPr>
        <p:spPr>
          <a:xfrm>
            <a:off x="1107478" y="2769275"/>
            <a:ext cx="4725967" cy="3000989"/>
          </a:xfrm>
          <a:custGeom>
            <a:avLst/>
            <a:gdLst>
              <a:gd name="connsiteX0" fmla="*/ 0 w 4725967"/>
              <a:gd name="connsiteY0" fmla="*/ 300099 h 3000989"/>
              <a:gd name="connsiteX1" fmla="*/ 300099 w 4725967"/>
              <a:gd name="connsiteY1" fmla="*/ 0 h 3000989"/>
              <a:gd name="connsiteX2" fmla="*/ 4425868 w 4725967"/>
              <a:gd name="connsiteY2" fmla="*/ 0 h 3000989"/>
              <a:gd name="connsiteX3" fmla="*/ 4725967 w 4725967"/>
              <a:gd name="connsiteY3" fmla="*/ 300099 h 3000989"/>
              <a:gd name="connsiteX4" fmla="*/ 4725967 w 4725967"/>
              <a:gd name="connsiteY4" fmla="*/ 2700890 h 3000989"/>
              <a:gd name="connsiteX5" fmla="*/ 4425868 w 4725967"/>
              <a:gd name="connsiteY5" fmla="*/ 3000989 h 3000989"/>
              <a:gd name="connsiteX6" fmla="*/ 300099 w 4725967"/>
              <a:gd name="connsiteY6" fmla="*/ 3000989 h 3000989"/>
              <a:gd name="connsiteX7" fmla="*/ 0 w 4725967"/>
              <a:gd name="connsiteY7" fmla="*/ 2700890 h 3000989"/>
              <a:gd name="connsiteX8" fmla="*/ 0 w 4725967"/>
              <a:gd name="connsiteY8" fmla="*/ 300099 h 300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5967" h="3000989">
                <a:moveTo>
                  <a:pt x="0" y="300099"/>
                </a:moveTo>
                <a:cubicBezTo>
                  <a:pt x="0" y="134359"/>
                  <a:pt x="134359" y="0"/>
                  <a:pt x="300099" y="0"/>
                </a:cubicBezTo>
                <a:lnTo>
                  <a:pt x="4425868" y="0"/>
                </a:lnTo>
                <a:cubicBezTo>
                  <a:pt x="4591608" y="0"/>
                  <a:pt x="4725967" y="134359"/>
                  <a:pt x="4725967" y="300099"/>
                </a:cubicBezTo>
                <a:lnTo>
                  <a:pt x="4725967" y="2700890"/>
                </a:lnTo>
                <a:cubicBezTo>
                  <a:pt x="4725967" y="2866630"/>
                  <a:pt x="4591608" y="3000989"/>
                  <a:pt x="4425868" y="3000989"/>
                </a:cubicBezTo>
                <a:lnTo>
                  <a:pt x="300099" y="3000989"/>
                </a:lnTo>
                <a:cubicBezTo>
                  <a:pt x="134359" y="3000989"/>
                  <a:pt x="0" y="2866630"/>
                  <a:pt x="0" y="2700890"/>
                </a:cubicBezTo>
                <a:lnTo>
                  <a:pt x="0" y="30009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9336" tIns="179336" rIns="179336" bIns="179336" numCol="1" spcCol="1270" anchor="ctr" anchorCtr="0">
            <a:noAutofit/>
          </a:bodyPr>
          <a:lstStyle/>
          <a:p>
            <a:pPr marL="0" lvl="0" indent="0" algn="ctr" defTabSz="1066800">
              <a:lnSpc>
                <a:spcPct val="90000"/>
              </a:lnSpc>
              <a:spcBef>
                <a:spcPct val="0"/>
              </a:spcBef>
              <a:spcAft>
                <a:spcPct val="35000"/>
              </a:spcAft>
              <a:buNone/>
            </a:pPr>
            <a:r>
              <a:rPr lang="en-GB" sz="2400" kern="1200" dirty="0"/>
              <a:t>Penetration testing plays a vital role in proactive cybersecurity measures. By identifying and addressing vulnerabilities before they can be exploited, penetration testers help organisations strengthen their defences and protect against malicious attacks. </a:t>
            </a:r>
            <a:endParaRPr lang="en-US" sz="2400" kern="1200" dirty="0"/>
          </a:p>
        </p:txBody>
      </p:sp>
      <p:sp>
        <p:nvSpPr>
          <p:cNvPr id="9" name="Rectangle: Rounded Corners 8">
            <a:extLst>
              <a:ext uri="{FF2B5EF4-FFF2-40B4-BE49-F238E27FC236}">
                <a16:creationId xmlns:a16="http://schemas.microsoft.com/office/drawing/2014/main" id="{30384CF9-E6F7-CBB1-E4EF-0ABC927B62FD}"/>
              </a:ext>
            </a:extLst>
          </p:cNvPr>
          <p:cNvSpPr/>
          <p:nvPr/>
        </p:nvSpPr>
        <p:spPr>
          <a:xfrm>
            <a:off x="6358553" y="2270423"/>
            <a:ext cx="4725967" cy="30009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0" name="Freeform: Shape 9">
            <a:extLst>
              <a:ext uri="{FF2B5EF4-FFF2-40B4-BE49-F238E27FC236}">
                <a16:creationId xmlns:a16="http://schemas.microsoft.com/office/drawing/2014/main" id="{16CDF063-F2C7-B8ED-0AB2-8703B33208C2}"/>
              </a:ext>
            </a:extLst>
          </p:cNvPr>
          <p:cNvSpPr/>
          <p:nvPr/>
        </p:nvSpPr>
        <p:spPr>
          <a:xfrm>
            <a:off x="6883661" y="2769275"/>
            <a:ext cx="4725967" cy="3000989"/>
          </a:xfrm>
          <a:custGeom>
            <a:avLst/>
            <a:gdLst>
              <a:gd name="connsiteX0" fmla="*/ 0 w 4725967"/>
              <a:gd name="connsiteY0" fmla="*/ 300099 h 3000989"/>
              <a:gd name="connsiteX1" fmla="*/ 300099 w 4725967"/>
              <a:gd name="connsiteY1" fmla="*/ 0 h 3000989"/>
              <a:gd name="connsiteX2" fmla="*/ 4425868 w 4725967"/>
              <a:gd name="connsiteY2" fmla="*/ 0 h 3000989"/>
              <a:gd name="connsiteX3" fmla="*/ 4725967 w 4725967"/>
              <a:gd name="connsiteY3" fmla="*/ 300099 h 3000989"/>
              <a:gd name="connsiteX4" fmla="*/ 4725967 w 4725967"/>
              <a:gd name="connsiteY4" fmla="*/ 2700890 h 3000989"/>
              <a:gd name="connsiteX5" fmla="*/ 4425868 w 4725967"/>
              <a:gd name="connsiteY5" fmla="*/ 3000989 h 3000989"/>
              <a:gd name="connsiteX6" fmla="*/ 300099 w 4725967"/>
              <a:gd name="connsiteY6" fmla="*/ 3000989 h 3000989"/>
              <a:gd name="connsiteX7" fmla="*/ 0 w 4725967"/>
              <a:gd name="connsiteY7" fmla="*/ 2700890 h 3000989"/>
              <a:gd name="connsiteX8" fmla="*/ 0 w 4725967"/>
              <a:gd name="connsiteY8" fmla="*/ 300099 h 300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5967" h="3000989">
                <a:moveTo>
                  <a:pt x="0" y="300099"/>
                </a:moveTo>
                <a:cubicBezTo>
                  <a:pt x="0" y="134359"/>
                  <a:pt x="134359" y="0"/>
                  <a:pt x="300099" y="0"/>
                </a:cubicBezTo>
                <a:lnTo>
                  <a:pt x="4425868" y="0"/>
                </a:lnTo>
                <a:cubicBezTo>
                  <a:pt x="4591608" y="0"/>
                  <a:pt x="4725967" y="134359"/>
                  <a:pt x="4725967" y="300099"/>
                </a:cubicBezTo>
                <a:lnTo>
                  <a:pt x="4725967" y="2700890"/>
                </a:lnTo>
                <a:cubicBezTo>
                  <a:pt x="4725967" y="2866630"/>
                  <a:pt x="4591608" y="3000989"/>
                  <a:pt x="4425868" y="3000989"/>
                </a:cubicBezTo>
                <a:lnTo>
                  <a:pt x="300099" y="3000989"/>
                </a:lnTo>
                <a:cubicBezTo>
                  <a:pt x="134359" y="3000989"/>
                  <a:pt x="0" y="2866630"/>
                  <a:pt x="0" y="2700890"/>
                </a:cubicBezTo>
                <a:lnTo>
                  <a:pt x="0" y="30009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9336" tIns="179336" rIns="179336" bIns="179336" numCol="1" spcCol="1270" anchor="ctr" anchorCtr="0">
            <a:noAutofit/>
          </a:bodyPr>
          <a:lstStyle/>
          <a:p>
            <a:pPr marL="0" lvl="0" indent="0" algn="ctr" defTabSz="1066800">
              <a:lnSpc>
                <a:spcPct val="90000"/>
              </a:lnSpc>
              <a:spcBef>
                <a:spcPct val="0"/>
              </a:spcBef>
              <a:spcAft>
                <a:spcPct val="35000"/>
              </a:spcAft>
              <a:buNone/>
            </a:pPr>
            <a:r>
              <a:rPr lang="en-GB" sz="2400" kern="1200"/>
              <a:t>Additionally, penetration testing plays an important part in an organisations overall comprehensive security strategy. </a:t>
            </a:r>
            <a:endParaRPr lang="en-US" sz="2400" kern="1200"/>
          </a:p>
        </p:txBody>
      </p:sp>
    </p:spTree>
    <p:extLst>
      <p:ext uri="{BB962C8B-B14F-4D97-AF65-F5344CB8AC3E}">
        <p14:creationId xmlns:p14="http://schemas.microsoft.com/office/powerpoint/2010/main" val="268321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93AAC-6383-1FB9-36F6-7FD2A36AB420}"/>
              </a:ext>
            </a:extLst>
          </p:cNvPr>
          <p:cNvSpPr>
            <a:spLocks noGrp="1"/>
          </p:cNvSpPr>
          <p:nvPr>
            <p:ph type="title"/>
          </p:nvPr>
        </p:nvSpPr>
        <p:spPr/>
        <p:txBody>
          <a:bodyPr/>
          <a:lstStyle/>
          <a:p>
            <a:r>
              <a:rPr lang="en-GB" dirty="0"/>
              <a:t>The role of penetration testing in a comprehensive security strategy</a:t>
            </a:r>
          </a:p>
        </p:txBody>
      </p:sp>
      <p:sp>
        <p:nvSpPr>
          <p:cNvPr id="9" name="Freeform: Shape 8">
            <a:extLst>
              <a:ext uri="{FF2B5EF4-FFF2-40B4-BE49-F238E27FC236}">
                <a16:creationId xmlns:a16="http://schemas.microsoft.com/office/drawing/2014/main" id="{4EC905AE-306E-0BC0-CF87-D106CC83DDC5}"/>
              </a:ext>
            </a:extLst>
          </p:cNvPr>
          <p:cNvSpPr/>
          <p:nvPr/>
        </p:nvSpPr>
        <p:spPr>
          <a:xfrm>
            <a:off x="586198" y="3152552"/>
            <a:ext cx="3153083" cy="2686556"/>
          </a:xfrm>
          <a:custGeom>
            <a:avLst/>
            <a:gdLst>
              <a:gd name="connsiteX0" fmla="*/ 0 w 3153083"/>
              <a:gd name="connsiteY0" fmla="*/ 268656 h 2686556"/>
              <a:gd name="connsiteX1" fmla="*/ 268656 w 3153083"/>
              <a:gd name="connsiteY1" fmla="*/ 0 h 2686556"/>
              <a:gd name="connsiteX2" fmla="*/ 2884427 w 3153083"/>
              <a:gd name="connsiteY2" fmla="*/ 0 h 2686556"/>
              <a:gd name="connsiteX3" fmla="*/ 3153083 w 3153083"/>
              <a:gd name="connsiteY3" fmla="*/ 268656 h 2686556"/>
              <a:gd name="connsiteX4" fmla="*/ 3153083 w 3153083"/>
              <a:gd name="connsiteY4" fmla="*/ 2417900 h 2686556"/>
              <a:gd name="connsiteX5" fmla="*/ 2884427 w 3153083"/>
              <a:gd name="connsiteY5" fmla="*/ 2686556 h 2686556"/>
              <a:gd name="connsiteX6" fmla="*/ 268656 w 3153083"/>
              <a:gd name="connsiteY6" fmla="*/ 2686556 h 2686556"/>
              <a:gd name="connsiteX7" fmla="*/ 0 w 3153083"/>
              <a:gd name="connsiteY7" fmla="*/ 2417900 h 2686556"/>
              <a:gd name="connsiteX8" fmla="*/ 0 w 3153083"/>
              <a:gd name="connsiteY8" fmla="*/ 268656 h 268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3083" h="2686556">
                <a:moveTo>
                  <a:pt x="0" y="268656"/>
                </a:moveTo>
                <a:cubicBezTo>
                  <a:pt x="0" y="120281"/>
                  <a:pt x="120281" y="0"/>
                  <a:pt x="268656" y="0"/>
                </a:cubicBezTo>
                <a:lnTo>
                  <a:pt x="2884427" y="0"/>
                </a:lnTo>
                <a:cubicBezTo>
                  <a:pt x="3032802" y="0"/>
                  <a:pt x="3153083" y="120281"/>
                  <a:pt x="3153083" y="268656"/>
                </a:cubicBezTo>
                <a:lnTo>
                  <a:pt x="3153083" y="2417900"/>
                </a:lnTo>
                <a:cubicBezTo>
                  <a:pt x="3153083" y="2566275"/>
                  <a:pt x="3032802" y="2686556"/>
                  <a:pt x="2884427" y="2686556"/>
                </a:cubicBezTo>
                <a:lnTo>
                  <a:pt x="268656" y="2686556"/>
                </a:lnTo>
                <a:cubicBezTo>
                  <a:pt x="120281" y="2686556"/>
                  <a:pt x="0" y="2566275"/>
                  <a:pt x="0" y="2417900"/>
                </a:cubicBezTo>
                <a:lnTo>
                  <a:pt x="0" y="268656"/>
                </a:lnTo>
                <a:close/>
              </a:path>
            </a:pathLst>
          </a:custGeom>
          <a:solidFill>
            <a:schemeClr val="accent1">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2977" tIns="101547" rIns="112977" bIns="101547"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tx1"/>
                </a:solidFill>
              </a:rPr>
              <a:t>Penetration testing is a proactive approach to security, identifying weaknesses before attackers can exploit them. It complements other security measures, such as firewalls, intrusion detection systems, and regular software updates. </a:t>
            </a:r>
            <a:endParaRPr lang="en-US" sz="1800" kern="1200" dirty="0">
              <a:solidFill>
                <a:schemeClr val="tx1"/>
              </a:solidFill>
            </a:endParaRPr>
          </a:p>
        </p:txBody>
      </p:sp>
      <p:sp>
        <p:nvSpPr>
          <p:cNvPr id="10" name="Freeform: Shape 9">
            <a:extLst>
              <a:ext uri="{FF2B5EF4-FFF2-40B4-BE49-F238E27FC236}">
                <a16:creationId xmlns:a16="http://schemas.microsoft.com/office/drawing/2014/main" id="{874AF5DB-61F6-C3F8-3F45-305D26BDB092}"/>
              </a:ext>
            </a:extLst>
          </p:cNvPr>
          <p:cNvSpPr/>
          <p:nvPr/>
        </p:nvSpPr>
        <p:spPr>
          <a:xfrm>
            <a:off x="4496964" y="3152552"/>
            <a:ext cx="3198097" cy="2692247"/>
          </a:xfrm>
          <a:custGeom>
            <a:avLst/>
            <a:gdLst>
              <a:gd name="connsiteX0" fmla="*/ 0 w 3198097"/>
              <a:gd name="connsiteY0" fmla="*/ 269225 h 2692247"/>
              <a:gd name="connsiteX1" fmla="*/ 269225 w 3198097"/>
              <a:gd name="connsiteY1" fmla="*/ 0 h 2692247"/>
              <a:gd name="connsiteX2" fmla="*/ 2928872 w 3198097"/>
              <a:gd name="connsiteY2" fmla="*/ 0 h 2692247"/>
              <a:gd name="connsiteX3" fmla="*/ 3198097 w 3198097"/>
              <a:gd name="connsiteY3" fmla="*/ 269225 h 2692247"/>
              <a:gd name="connsiteX4" fmla="*/ 3198097 w 3198097"/>
              <a:gd name="connsiteY4" fmla="*/ 2423022 h 2692247"/>
              <a:gd name="connsiteX5" fmla="*/ 2928872 w 3198097"/>
              <a:gd name="connsiteY5" fmla="*/ 2692247 h 2692247"/>
              <a:gd name="connsiteX6" fmla="*/ 269225 w 3198097"/>
              <a:gd name="connsiteY6" fmla="*/ 2692247 h 2692247"/>
              <a:gd name="connsiteX7" fmla="*/ 0 w 3198097"/>
              <a:gd name="connsiteY7" fmla="*/ 2423022 h 2692247"/>
              <a:gd name="connsiteX8" fmla="*/ 0 w 3198097"/>
              <a:gd name="connsiteY8" fmla="*/ 269225 h 2692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097" h="2692247">
                <a:moveTo>
                  <a:pt x="0" y="269225"/>
                </a:moveTo>
                <a:cubicBezTo>
                  <a:pt x="0" y="120536"/>
                  <a:pt x="120536" y="0"/>
                  <a:pt x="269225" y="0"/>
                </a:cubicBezTo>
                <a:lnTo>
                  <a:pt x="2928872" y="0"/>
                </a:lnTo>
                <a:cubicBezTo>
                  <a:pt x="3077561" y="0"/>
                  <a:pt x="3198097" y="120536"/>
                  <a:pt x="3198097" y="269225"/>
                </a:cubicBezTo>
                <a:lnTo>
                  <a:pt x="3198097" y="2423022"/>
                </a:lnTo>
                <a:cubicBezTo>
                  <a:pt x="3198097" y="2571711"/>
                  <a:pt x="3077561" y="2692247"/>
                  <a:pt x="2928872" y="2692247"/>
                </a:cubicBezTo>
                <a:lnTo>
                  <a:pt x="269225" y="2692247"/>
                </a:lnTo>
                <a:cubicBezTo>
                  <a:pt x="120536" y="2692247"/>
                  <a:pt x="0" y="2571711"/>
                  <a:pt x="0" y="2423022"/>
                </a:cubicBezTo>
                <a:lnTo>
                  <a:pt x="0" y="269225"/>
                </a:lnTo>
                <a:close/>
              </a:path>
            </a:pathLst>
          </a:custGeom>
          <a:solidFill>
            <a:schemeClr val="accent1">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143" tIns="101713" rIns="113143" bIns="101713"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tx1"/>
                </a:solidFill>
              </a:rPr>
              <a:t>By understanding and mitigating vulnerabilities through penetration testing, organisations can better manage their security risks. This process helps prioritise resources and focus on the most critical threats. </a:t>
            </a:r>
            <a:endParaRPr lang="en-US" sz="1800" kern="1200" dirty="0">
              <a:solidFill>
                <a:schemeClr val="tx1"/>
              </a:solidFill>
            </a:endParaRPr>
          </a:p>
        </p:txBody>
      </p:sp>
      <p:sp>
        <p:nvSpPr>
          <p:cNvPr id="11" name="Freeform: Shape 10">
            <a:extLst>
              <a:ext uri="{FF2B5EF4-FFF2-40B4-BE49-F238E27FC236}">
                <a16:creationId xmlns:a16="http://schemas.microsoft.com/office/drawing/2014/main" id="{085E1062-9C44-156A-AB56-8399946CAF90}"/>
              </a:ext>
            </a:extLst>
          </p:cNvPr>
          <p:cNvSpPr/>
          <p:nvPr/>
        </p:nvSpPr>
        <p:spPr>
          <a:xfrm>
            <a:off x="8363864" y="3151119"/>
            <a:ext cx="3246942" cy="2659040"/>
          </a:xfrm>
          <a:custGeom>
            <a:avLst/>
            <a:gdLst>
              <a:gd name="connsiteX0" fmla="*/ 0 w 3246942"/>
              <a:gd name="connsiteY0" fmla="*/ 265904 h 2659040"/>
              <a:gd name="connsiteX1" fmla="*/ 265904 w 3246942"/>
              <a:gd name="connsiteY1" fmla="*/ 0 h 2659040"/>
              <a:gd name="connsiteX2" fmla="*/ 2981038 w 3246942"/>
              <a:gd name="connsiteY2" fmla="*/ 0 h 2659040"/>
              <a:gd name="connsiteX3" fmla="*/ 3246942 w 3246942"/>
              <a:gd name="connsiteY3" fmla="*/ 265904 h 2659040"/>
              <a:gd name="connsiteX4" fmla="*/ 3246942 w 3246942"/>
              <a:gd name="connsiteY4" fmla="*/ 2393136 h 2659040"/>
              <a:gd name="connsiteX5" fmla="*/ 2981038 w 3246942"/>
              <a:gd name="connsiteY5" fmla="*/ 2659040 h 2659040"/>
              <a:gd name="connsiteX6" fmla="*/ 265904 w 3246942"/>
              <a:gd name="connsiteY6" fmla="*/ 2659040 h 2659040"/>
              <a:gd name="connsiteX7" fmla="*/ 0 w 3246942"/>
              <a:gd name="connsiteY7" fmla="*/ 2393136 h 2659040"/>
              <a:gd name="connsiteX8" fmla="*/ 0 w 3246942"/>
              <a:gd name="connsiteY8" fmla="*/ 265904 h 26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6942" h="2659040">
                <a:moveTo>
                  <a:pt x="0" y="265904"/>
                </a:moveTo>
                <a:cubicBezTo>
                  <a:pt x="0" y="119049"/>
                  <a:pt x="119049" y="0"/>
                  <a:pt x="265904" y="0"/>
                </a:cubicBezTo>
                <a:lnTo>
                  <a:pt x="2981038" y="0"/>
                </a:lnTo>
                <a:cubicBezTo>
                  <a:pt x="3127893" y="0"/>
                  <a:pt x="3246942" y="119049"/>
                  <a:pt x="3246942" y="265904"/>
                </a:cubicBezTo>
                <a:lnTo>
                  <a:pt x="3246942" y="2393136"/>
                </a:lnTo>
                <a:cubicBezTo>
                  <a:pt x="3246942" y="2539991"/>
                  <a:pt x="3127893" y="2659040"/>
                  <a:pt x="2981038" y="2659040"/>
                </a:cubicBezTo>
                <a:lnTo>
                  <a:pt x="265904" y="2659040"/>
                </a:lnTo>
                <a:cubicBezTo>
                  <a:pt x="119049" y="2659040"/>
                  <a:pt x="0" y="2539991"/>
                  <a:pt x="0" y="2393136"/>
                </a:cubicBezTo>
                <a:lnTo>
                  <a:pt x="0" y="265904"/>
                </a:lnTo>
                <a:close/>
              </a:path>
            </a:pathLst>
          </a:custGeom>
          <a:solidFill>
            <a:schemeClr val="accent1">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2171" tIns="100741" rIns="112171" bIns="100741"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tx1"/>
                </a:solidFill>
              </a:rPr>
              <a:t>Security is an ongoing process, and penetration testing should be part of a broader strategy of continuous improvement. Regular testing, combines with other security practices, helps organisations adapt to evolving threats and maintain a strong security posture. </a:t>
            </a:r>
            <a:endParaRPr lang="en-US" sz="1800" kern="1200" dirty="0">
              <a:solidFill>
                <a:schemeClr val="tx1"/>
              </a:solidFill>
            </a:endParaRPr>
          </a:p>
        </p:txBody>
      </p:sp>
      <p:sp>
        <p:nvSpPr>
          <p:cNvPr id="4" name="Rectangle: Rounded Corners 3">
            <a:extLst>
              <a:ext uri="{FF2B5EF4-FFF2-40B4-BE49-F238E27FC236}">
                <a16:creationId xmlns:a16="http://schemas.microsoft.com/office/drawing/2014/main" id="{2E9B13B5-C4A7-F9F4-4641-770024A4F763}"/>
              </a:ext>
            </a:extLst>
          </p:cNvPr>
          <p:cNvSpPr/>
          <p:nvPr/>
        </p:nvSpPr>
        <p:spPr>
          <a:xfrm>
            <a:off x="631735" y="2393004"/>
            <a:ext cx="3070135" cy="658636"/>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GB" sz="2000" b="1" dirty="0"/>
              <a:t>Proactive Defence </a:t>
            </a:r>
            <a:endParaRPr lang="en-GB" sz="2000" dirty="0"/>
          </a:p>
        </p:txBody>
      </p:sp>
      <p:sp>
        <p:nvSpPr>
          <p:cNvPr id="6" name="Rectangle: Rounded Corners 5">
            <a:extLst>
              <a:ext uri="{FF2B5EF4-FFF2-40B4-BE49-F238E27FC236}">
                <a16:creationId xmlns:a16="http://schemas.microsoft.com/office/drawing/2014/main" id="{29B4EBFB-CE8A-75B7-B220-C4EFFD353D27}"/>
              </a:ext>
            </a:extLst>
          </p:cNvPr>
          <p:cNvSpPr/>
          <p:nvPr/>
        </p:nvSpPr>
        <p:spPr>
          <a:xfrm>
            <a:off x="8412737" y="2393004"/>
            <a:ext cx="3147528" cy="58081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GB" sz="2000" b="1" dirty="0"/>
              <a:t>Continuous Improvement</a:t>
            </a:r>
            <a:endParaRPr lang="en-GB" sz="2000" dirty="0"/>
          </a:p>
        </p:txBody>
      </p:sp>
      <p:sp>
        <p:nvSpPr>
          <p:cNvPr id="7" name="Rectangle: Rounded Corners 6">
            <a:extLst>
              <a:ext uri="{FF2B5EF4-FFF2-40B4-BE49-F238E27FC236}">
                <a16:creationId xmlns:a16="http://schemas.microsoft.com/office/drawing/2014/main" id="{5482A296-A915-8C98-6BF2-69ECD66404F9}"/>
              </a:ext>
            </a:extLst>
          </p:cNvPr>
          <p:cNvSpPr/>
          <p:nvPr/>
        </p:nvSpPr>
        <p:spPr>
          <a:xfrm>
            <a:off x="4517868" y="2393004"/>
            <a:ext cx="3147528" cy="658636"/>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GB" sz="2000" b="1" dirty="0"/>
              <a:t>Risk Management </a:t>
            </a:r>
            <a:endParaRPr lang="en-GB" sz="2000" dirty="0"/>
          </a:p>
        </p:txBody>
      </p:sp>
    </p:spTree>
    <p:extLst>
      <p:ext uri="{BB962C8B-B14F-4D97-AF65-F5344CB8AC3E}">
        <p14:creationId xmlns:p14="http://schemas.microsoft.com/office/powerpoint/2010/main" val="419754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en-GB"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endParaRPr lang="en-GB" dirty="0">
              <a:solidFill>
                <a:schemeClr val="bg2"/>
              </a:solidFill>
            </a:endParaRPr>
          </a:p>
          <a:p>
            <a:pPr rtl="0"/>
            <a:endParaRPr lang="en-GB" dirty="0">
              <a:solidFill>
                <a:schemeClr val="bg2"/>
              </a:solidFill>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F69AFF4-BB30-4BA0-AD22-82CC3C432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0CF3B2-1F0F-4FC5-8002-3E4869ABAD55}">
  <ds:schemaRefs>
    <ds:schemaRef ds:uri="http://schemas.microsoft.com/sharepoint/v3/contenttype/forms"/>
  </ds:schemaRefs>
</ds:datastoreItem>
</file>

<file path=customXml/itemProps3.xml><?xml version="1.0" encoding="utf-8"?>
<ds:datastoreItem xmlns:ds="http://schemas.openxmlformats.org/officeDocument/2006/customXml" ds:itemID="{1EBC12AA-1C15-4500-BC9C-8EE83A441DE9}">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Dividend design</Template>
  <TotalTime>99</TotalTime>
  <Words>1208</Words>
  <Application>Microsoft Office PowerPoint</Application>
  <PresentationFormat>Widescreen</PresentationFormat>
  <Paragraphs>83</Paragraphs>
  <Slides>19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Calibri</vt:lpstr>
      <vt:lpstr>Gill Sans MT</vt:lpstr>
      <vt:lpstr>Wingdings 2</vt:lpstr>
      <vt:lpstr>Dividend</vt:lpstr>
      <vt:lpstr>Penetration testing </vt:lpstr>
      <vt:lpstr>Outcomes</vt:lpstr>
      <vt:lpstr>Assessment</vt:lpstr>
      <vt:lpstr>Penetration Testing </vt:lpstr>
      <vt:lpstr>Cyber Resilience</vt:lpstr>
      <vt:lpstr>Cyber Security </vt:lpstr>
      <vt:lpstr>Penetration Testing </vt:lpstr>
      <vt:lpstr>The Evolution of Penetration Testing </vt:lpstr>
      <vt:lpstr>Types of systems that should be tested </vt:lpstr>
      <vt:lpstr>Types of systems that should be tested </vt:lpstr>
      <vt:lpstr>When should a penetration test be carried out? </vt:lpstr>
      <vt:lpstr>Types of testers and tests</vt:lpstr>
      <vt:lpstr>Types of testers and tests</vt:lpstr>
      <vt:lpstr>Importance of documenting penetration tests </vt:lpstr>
      <vt:lpstr>Audit and compliance </vt:lpstr>
      <vt:lpstr>Legal implications</vt:lpstr>
      <vt:lpstr>The role of penetration testing </vt:lpstr>
      <vt:lpstr>The role of penetration testing in a comprehensive security strategy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 Allardice</dc:creator>
  <cp:lastModifiedBy>Emma Allardice</cp:lastModifiedBy>
  <cp:revision>4</cp:revision>
  <dcterms:created xsi:type="dcterms:W3CDTF">2024-08-25T18:57:56Z</dcterms:created>
  <dcterms:modified xsi:type="dcterms:W3CDTF">2024-08-25T20:37:51Z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