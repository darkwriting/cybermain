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84" r:id="rId7"/>
    <p:sldId id="261" r:id="rId8"/>
    <p:sldId id="262" r:id="rId9"/>
    <p:sldId id="263" r:id="rId10"/>
    <p:sldId id="267" r:id="rId11"/>
    <p:sldId id="268" r:id="rId12"/>
    <p:sldId id="264" r:id="rId13"/>
    <p:sldId id="265" r:id="rId14"/>
    <p:sldId id="266" r:id="rId15"/>
    <p:sldId id="269" r:id="rId16"/>
    <p:sldId id="270" r:id="rId17"/>
    <p:sldId id="271" r:id="rId18"/>
    <p:sldId id="272" r:id="rId19"/>
    <p:sldId id="281" r:id="rId20"/>
    <p:sldId id="282" r:id="rId21"/>
    <p:sldId id="273" r:id="rId22"/>
    <p:sldId id="274" r:id="rId23"/>
    <p:sldId id="275" r:id="rId24"/>
    <p:sldId id="276" r:id="rId25"/>
    <p:sldId id="277" r:id="rId26"/>
    <p:sldId id="278" r:id="rId27"/>
    <p:sldId id="279" r:id="rId28"/>
    <p:sldId id="280" r:id="rId29"/>
    <p:sldId id="283"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B252480-666D-462B-A201-E4E9ACFF2FEB}" v="9" dt="2023-06-24T11:48:31.6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7" autoAdjust="0"/>
    <p:restoredTop sz="94660"/>
  </p:normalViewPr>
  <p:slideViewPr>
    <p:cSldViewPr snapToGrid="0">
      <p:cViewPr varScale="1">
        <p:scale>
          <a:sx n="91" d="100"/>
          <a:sy n="91" d="100"/>
        </p:scale>
        <p:origin x="53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microsoft.com/office/2015/10/relationships/revisionInfo" Target="revisionInfo.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F26F4-7B67-B55C-987C-9294F9ED1698}"/>
              </a:ext>
            </a:extLst>
          </p:cNvPr>
          <p:cNvSpPr>
            <a:spLocks noGrp="1"/>
          </p:cNvSpPr>
          <p:nvPr>
            <p:ph type="ctrTitle"/>
          </p:nvPr>
        </p:nvSpPr>
        <p:spPr>
          <a:xfrm>
            <a:off x="1524000" y="1122363"/>
            <a:ext cx="9144000" cy="2387600"/>
          </a:xfrm>
        </p:spPr>
        <p:txBody>
          <a:bodyPr anchor="b"/>
          <a:lstStyle>
            <a:lvl1pPr algn="ctr">
              <a:defRPr sz="6000">
                <a:solidFill>
                  <a:srgbClr val="002060"/>
                </a:solidFill>
              </a:defRPr>
            </a:lvl1pPr>
          </a:lstStyle>
          <a:p>
            <a:r>
              <a:rPr lang="en-US"/>
              <a:t>Click to edit Master title style</a:t>
            </a:r>
            <a:endParaRPr lang="en-GB" dirty="0"/>
          </a:p>
        </p:txBody>
      </p:sp>
      <p:sp>
        <p:nvSpPr>
          <p:cNvPr id="3" name="Subtitle 2">
            <a:extLst>
              <a:ext uri="{FF2B5EF4-FFF2-40B4-BE49-F238E27FC236}">
                <a16:creationId xmlns:a16="http://schemas.microsoft.com/office/drawing/2014/main" id="{8DBBE4A0-A0A5-8A47-6F17-6ECA8E12B312}"/>
              </a:ext>
            </a:extLst>
          </p:cNvPr>
          <p:cNvSpPr>
            <a:spLocks noGrp="1"/>
          </p:cNvSpPr>
          <p:nvPr>
            <p:ph type="subTitle" idx="1"/>
          </p:nvPr>
        </p:nvSpPr>
        <p:spPr>
          <a:xfrm>
            <a:off x="1524000" y="3602038"/>
            <a:ext cx="9144000" cy="1655762"/>
          </a:xfrm>
        </p:spPr>
        <p:txBody>
          <a:bodyPr/>
          <a:lstStyle>
            <a:lvl1pPr marL="0" indent="0" algn="ctr">
              <a:buNone/>
              <a:defRPr sz="2400">
                <a:solidFill>
                  <a:srgbClr val="00206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Tree>
    <p:extLst>
      <p:ext uri="{BB962C8B-B14F-4D97-AF65-F5344CB8AC3E}">
        <p14:creationId xmlns:p14="http://schemas.microsoft.com/office/powerpoint/2010/main" val="37317853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16043-D524-A4E9-0CD0-954EE69ADD19}"/>
              </a:ext>
            </a:extLst>
          </p:cNvPr>
          <p:cNvSpPr>
            <a:spLocks noGrp="1"/>
          </p:cNvSpPr>
          <p:nvPr>
            <p:ph type="title"/>
          </p:nvPr>
        </p:nvSpPr>
        <p:spPr/>
        <p:txBody>
          <a:bodyPr/>
          <a:lstStyle>
            <a:lvl1pPr>
              <a:defRPr>
                <a:solidFill>
                  <a:srgbClr val="002060"/>
                </a:solidFill>
              </a:defRPr>
            </a:lvl1p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CDD6EF5E-E871-C0CD-B6D0-FCBB823EF60F}"/>
              </a:ext>
            </a:extLst>
          </p:cNvPr>
          <p:cNvSpPr>
            <a:spLocks noGrp="1"/>
          </p:cNvSpPr>
          <p:nvPr>
            <p:ph idx="1"/>
          </p:nvPr>
        </p:nvSpPr>
        <p:spPr/>
        <p:txBody>
          <a:bodyPr/>
          <a:lstStyle>
            <a:lvl1pPr>
              <a:defRPr>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730858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4677F-2437-852F-D17B-8BE4BD36032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42394DC0-E8D4-6061-C762-F50E77E19E7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41225838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62D56-5E38-74D2-8500-6E19D8801B5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1EC02D2-FE11-E3F5-5DEE-118C6255D00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C3E628D9-83C7-1318-0717-F404BD89123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1049890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7D9C8-51A5-936D-C655-8F51CC9E4352}"/>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A2A7802-8B28-529D-1385-6D12ED48B2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F6F3702-6365-9927-42FB-249644E276A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79E48870-5CBB-E804-67DC-DC22AC7B6A7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BE6EA82-7DB7-008C-903E-9A4E36ADED8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8454419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7CF6C-B7AE-53D9-D1EC-A3EC7E0606F3}"/>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4317737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4291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7B5F4-BBA2-174F-B74C-8A1A71139B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CAB77956-62D7-E597-D061-5EE8C924EA9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4B1BE8C1-B55E-A9B0-9543-B4DED920E3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486421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FC28F-0CFB-B1E5-330D-BE731E50C5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CF134CC2-C8BB-1C9C-CC45-EE7F910F368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sp>
        <p:nvSpPr>
          <p:cNvPr id="4" name="Text Placeholder 3">
            <a:extLst>
              <a:ext uri="{FF2B5EF4-FFF2-40B4-BE49-F238E27FC236}">
                <a16:creationId xmlns:a16="http://schemas.microsoft.com/office/drawing/2014/main" id="{0B1AE157-919E-CB31-836C-8BFBD642A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40663032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DCC6519-13D0-A49E-6731-44507CFCDD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07165863-1D82-AAE6-C59D-9B9988C70F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13330503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l" defTabSz="914400" rtl="0" eaLnBrk="1" latinLnBrk="0" hangingPunct="1">
        <a:lnSpc>
          <a:spcPct val="90000"/>
        </a:lnSpc>
        <a:spcBef>
          <a:spcPct val="0"/>
        </a:spcBef>
        <a:buNone/>
        <a:defRPr sz="4400" kern="1200">
          <a:solidFill>
            <a:srgbClr val="002060"/>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7" Type="http://schemas.microsoft.com/office/2007/relationships/hdphoto" Target="../media/hdphoto3.wdp"/><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5.png"/><Relationship Id="rId5" Type="http://schemas.microsoft.com/office/2007/relationships/hdphoto" Target="../media/hdphoto2.wdp"/><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emf"/><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2E6B9-F723-FFF9-8EDE-4DA965F759B0}"/>
              </a:ext>
            </a:extLst>
          </p:cNvPr>
          <p:cNvSpPr>
            <a:spLocks noGrp="1"/>
          </p:cNvSpPr>
          <p:nvPr>
            <p:ph type="ctrTitle"/>
          </p:nvPr>
        </p:nvSpPr>
        <p:spPr/>
        <p:txBody>
          <a:bodyPr/>
          <a:lstStyle/>
          <a:p>
            <a:r>
              <a:rPr lang="en-GB" dirty="0"/>
              <a:t>Wireless Device Security</a:t>
            </a:r>
          </a:p>
        </p:txBody>
      </p:sp>
      <p:sp>
        <p:nvSpPr>
          <p:cNvPr id="3" name="Subtitle 2">
            <a:extLst>
              <a:ext uri="{FF2B5EF4-FFF2-40B4-BE49-F238E27FC236}">
                <a16:creationId xmlns:a16="http://schemas.microsoft.com/office/drawing/2014/main" id="{5A71C4EF-DC33-A9DD-C38C-443E8C5AA8C3}"/>
              </a:ext>
            </a:extLst>
          </p:cNvPr>
          <p:cNvSpPr>
            <a:spLocks noGrp="1"/>
          </p:cNvSpPr>
          <p:nvPr>
            <p:ph type="subTitle" idx="1"/>
          </p:nvPr>
        </p:nvSpPr>
        <p:spPr/>
        <p:txBody>
          <a:bodyPr/>
          <a:lstStyle/>
          <a:p>
            <a:r>
              <a:rPr lang="en-GB" dirty="0"/>
              <a:t>Week 01 - Introduction</a:t>
            </a:r>
          </a:p>
        </p:txBody>
      </p:sp>
    </p:spTree>
    <p:extLst>
      <p:ext uri="{BB962C8B-B14F-4D97-AF65-F5344CB8AC3E}">
        <p14:creationId xmlns:p14="http://schemas.microsoft.com/office/powerpoint/2010/main" val="33740851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GB" dirty="0"/>
              <a:t>Wireless Device Security</a:t>
            </a:r>
          </a:p>
        </p:txBody>
      </p:sp>
      <p:sp>
        <p:nvSpPr>
          <p:cNvPr id="4" name="Content Placeholder 3">
            <a:extLst>
              <a:ext uri="{FF2B5EF4-FFF2-40B4-BE49-F238E27FC236}">
                <a16:creationId xmlns:a16="http://schemas.microsoft.com/office/drawing/2014/main" id="{482560D1-E559-BB89-5EB9-FAA21CFA0323}"/>
              </a:ext>
            </a:extLst>
          </p:cNvPr>
          <p:cNvSpPr>
            <a:spLocks noGrp="1"/>
          </p:cNvSpPr>
          <p:nvPr>
            <p:ph idx="1"/>
          </p:nvPr>
        </p:nvSpPr>
        <p:spPr/>
        <p:txBody>
          <a:bodyPr>
            <a:normAutofit/>
          </a:bodyPr>
          <a:lstStyle/>
          <a:p>
            <a:r>
              <a:rPr lang="en-GB" sz="3200" b="1" dirty="0"/>
              <a:t>What you will learn</a:t>
            </a:r>
          </a:p>
          <a:p>
            <a:endParaRPr lang="en-GB" sz="2800" dirty="0"/>
          </a:p>
          <a:p>
            <a:r>
              <a:rPr lang="en-GB" sz="2400" dirty="0"/>
              <a:t>The purpose of this unit is to allow learners to demonstrate an understanding of the processes and tools used to track, control, prevent and correct the security use of Wireless Local Area Networks (WLANs), access points, and wireless client systems. </a:t>
            </a:r>
          </a:p>
          <a:p>
            <a:endParaRPr lang="en-GB" sz="2400" dirty="0"/>
          </a:p>
          <a:p>
            <a:r>
              <a:rPr lang="en-GB" sz="2400" dirty="0"/>
              <a:t>This unit will cover the typical threats faced by wireless networks and how to find them, the mitigation procedures that can be used and the practical countermeasures that can be instigated.</a:t>
            </a:r>
          </a:p>
          <a:p>
            <a:endParaRPr lang="en-GB" sz="2800" dirty="0"/>
          </a:p>
          <a:p>
            <a:endParaRPr lang="en-GB" dirty="0"/>
          </a:p>
        </p:txBody>
      </p:sp>
    </p:spTree>
    <p:extLst>
      <p:ext uri="{BB962C8B-B14F-4D97-AF65-F5344CB8AC3E}">
        <p14:creationId xmlns:p14="http://schemas.microsoft.com/office/powerpoint/2010/main" val="36800164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003FB4-D52E-A908-6249-656794F6C941}"/>
              </a:ext>
            </a:extLst>
          </p:cNvPr>
          <p:cNvSpPr>
            <a:spLocks noGrp="1"/>
          </p:cNvSpPr>
          <p:nvPr>
            <p:ph type="title"/>
          </p:nvPr>
        </p:nvSpPr>
        <p:spPr/>
        <p:txBody>
          <a:bodyPr/>
          <a:lstStyle/>
          <a:p>
            <a:r>
              <a:rPr lang="en-GB" dirty="0"/>
              <a:t>Wireless Device Security</a:t>
            </a:r>
          </a:p>
        </p:txBody>
      </p:sp>
      <p:sp>
        <p:nvSpPr>
          <p:cNvPr id="5" name="Content Placeholder 4">
            <a:extLst>
              <a:ext uri="{FF2B5EF4-FFF2-40B4-BE49-F238E27FC236}">
                <a16:creationId xmlns:a16="http://schemas.microsoft.com/office/drawing/2014/main" id="{3EEE2F19-FC9B-5433-61F2-230E7338183C}"/>
              </a:ext>
            </a:extLst>
          </p:cNvPr>
          <p:cNvSpPr>
            <a:spLocks noGrp="1"/>
          </p:cNvSpPr>
          <p:nvPr>
            <p:ph idx="1"/>
          </p:nvPr>
        </p:nvSpPr>
        <p:spPr/>
        <p:txBody>
          <a:bodyPr/>
          <a:lstStyle/>
          <a:p>
            <a:r>
              <a:rPr lang="en-GB" sz="2400" b="1" dirty="0"/>
              <a:t>What you will learn</a:t>
            </a:r>
          </a:p>
          <a:p>
            <a:endParaRPr lang="en-GB" sz="2000" dirty="0"/>
          </a:p>
          <a:p>
            <a:pPr lvl="5"/>
            <a:r>
              <a:rPr lang="en-GB" sz="2400" b="1" dirty="0"/>
              <a:t>Knowledge and/or skills</a:t>
            </a:r>
          </a:p>
          <a:p>
            <a:pPr marL="2571750" lvl="5" indent="-285750">
              <a:buFont typeface="Arial" panose="020B0604020202020204" pitchFamily="34" charset="0"/>
              <a:buChar char="•"/>
            </a:pPr>
            <a:r>
              <a:rPr lang="en-GB" sz="2400" dirty="0"/>
              <a:t>AES encryption</a:t>
            </a:r>
          </a:p>
          <a:p>
            <a:pPr marL="2571750" lvl="5" indent="-285750">
              <a:buFont typeface="Arial" panose="020B0604020202020204" pitchFamily="34" charset="0"/>
              <a:buChar char="•"/>
            </a:pPr>
            <a:r>
              <a:rPr lang="en-GB" sz="2400" dirty="0"/>
              <a:t>WAP(Wireless Application Protocol)</a:t>
            </a:r>
          </a:p>
          <a:p>
            <a:pPr marL="2571750" lvl="5" indent="-285750">
              <a:buFont typeface="Arial" panose="020B0604020202020204" pitchFamily="34" charset="0"/>
              <a:buChar char="•"/>
            </a:pPr>
            <a:r>
              <a:rPr lang="en-GB" sz="2400" dirty="0"/>
              <a:t>WEP(Wired Equivalent Privacy)</a:t>
            </a:r>
          </a:p>
          <a:p>
            <a:pPr marL="2571750" lvl="5" indent="-285750">
              <a:buFont typeface="Arial" panose="020B0604020202020204" pitchFamily="34" charset="0"/>
              <a:buChar char="•"/>
            </a:pPr>
            <a:r>
              <a:rPr lang="en-GB" sz="2400" dirty="0"/>
              <a:t>WPA(Wi-Fi Protected Access)</a:t>
            </a:r>
          </a:p>
          <a:p>
            <a:pPr marL="2571750" lvl="5" indent="-285750">
              <a:buFont typeface="Arial" panose="020B0604020202020204" pitchFamily="34" charset="0"/>
              <a:buChar char="•"/>
            </a:pPr>
            <a:r>
              <a:rPr lang="en-GB" sz="2400" dirty="0"/>
              <a:t>WPA2</a:t>
            </a:r>
          </a:p>
          <a:p>
            <a:pPr marL="2571750" lvl="5" indent="-285750">
              <a:buFont typeface="Arial" panose="020B0604020202020204" pitchFamily="34" charset="0"/>
              <a:buChar char="•"/>
            </a:pPr>
            <a:r>
              <a:rPr lang="en-GB" sz="2400" dirty="0"/>
              <a:t>WPA2 enterprise</a:t>
            </a:r>
          </a:p>
          <a:p>
            <a:pPr marL="2571750" lvl="5" indent="-285750">
              <a:buFont typeface="Arial" panose="020B0604020202020204" pitchFamily="34" charset="0"/>
              <a:buChar char="•"/>
            </a:pPr>
            <a:r>
              <a:rPr lang="en-GB" sz="2400" dirty="0"/>
              <a:t>WPA2 enterprise with 802.1X authentication</a:t>
            </a:r>
          </a:p>
          <a:p>
            <a:pPr lvl="5"/>
            <a:endParaRPr lang="en-GB" sz="4400" dirty="0"/>
          </a:p>
          <a:p>
            <a:endParaRPr lang="en-GB" dirty="0"/>
          </a:p>
        </p:txBody>
      </p:sp>
    </p:spTree>
    <p:extLst>
      <p:ext uri="{BB962C8B-B14F-4D97-AF65-F5344CB8AC3E}">
        <p14:creationId xmlns:p14="http://schemas.microsoft.com/office/powerpoint/2010/main" val="2441825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8"/>
          <p:cNvSpPr>
            <a:spLocks noGrp="1"/>
          </p:cNvSpPr>
          <p:nvPr>
            <p:ph type="title"/>
          </p:nvPr>
        </p:nvSpPr>
        <p:spPr/>
        <p:txBody>
          <a:bodyPr/>
          <a:lstStyle/>
          <a:p>
            <a:r>
              <a:rPr lang="en-GB" dirty="0"/>
              <a:t>Wireless Device Security</a:t>
            </a:r>
          </a:p>
        </p:txBody>
      </p:sp>
      <p:sp>
        <p:nvSpPr>
          <p:cNvPr id="2" name="Content Placeholder 1">
            <a:extLst>
              <a:ext uri="{FF2B5EF4-FFF2-40B4-BE49-F238E27FC236}">
                <a16:creationId xmlns:a16="http://schemas.microsoft.com/office/drawing/2014/main" id="{8EE71677-7455-28C7-FB52-B6E45F49E074}"/>
              </a:ext>
            </a:extLst>
          </p:cNvPr>
          <p:cNvSpPr>
            <a:spLocks noGrp="1"/>
          </p:cNvSpPr>
          <p:nvPr>
            <p:ph idx="1"/>
          </p:nvPr>
        </p:nvSpPr>
        <p:spPr/>
        <p:txBody>
          <a:bodyPr>
            <a:normAutofit lnSpcReduction="10000"/>
          </a:bodyPr>
          <a:lstStyle/>
          <a:p>
            <a:r>
              <a:rPr lang="en-GB" sz="2400" b="1" dirty="0"/>
              <a:t>What you will learn</a:t>
            </a:r>
          </a:p>
          <a:p>
            <a:endParaRPr lang="en-GB" sz="2400" dirty="0"/>
          </a:p>
          <a:p>
            <a:pPr lvl="5"/>
            <a:r>
              <a:rPr lang="en-GB" sz="2400" b="1" dirty="0"/>
              <a:t>Knowledge and/or skills</a:t>
            </a:r>
          </a:p>
          <a:p>
            <a:pPr marL="2571750" lvl="5" indent="-285750">
              <a:buFont typeface="Arial" panose="020B0604020202020204" pitchFamily="34" charset="0"/>
              <a:buChar char="•"/>
            </a:pPr>
            <a:r>
              <a:rPr lang="en-GB" sz="2400" dirty="0"/>
              <a:t>Wireless fundamentals </a:t>
            </a:r>
          </a:p>
          <a:p>
            <a:pPr marL="2571750" lvl="5" indent="-285750">
              <a:buFont typeface="Arial" panose="020B0604020202020204" pitchFamily="34" charset="0"/>
              <a:buChar char="•"/>
            </a:pPr>
            <a:r>
              <a:rPr lang="en-GB" sz="2400" dirty="0"/>
              <a:t>Wired and wireless network threats</a:t>
            </a:r>
          </a:p>
          <a:p>
            <a:pPr marL="2571750" lvl="5" indent="-285750">
              <a:buFont typeface="Arial" panose="020B0604020202020204" pitchFamily="34" charset="0"/>
              <a:buChar char="•"/>
            </a:pPr>
            <a:r>
              <a:rPr lang="en-GB" sz="2400" dirty="0"/>
              <a:t> Physical security</a:t>
            </a:r>
          </a:p>
          <a:p>
            <a:pPr marL="2571750" lvl="5" indent="-285750">
              <a:buFont typeface="Arial" panose="020B0604020202020204" pitchFamily="34" charset="0"/>
              <a:buChar char="•"/>
            </a:pPr>
            <a:r>
              <a:rPr lang="en-GB" sz="2400" dirty="0"/>
              <a:t> Default passwords</a:t>
            </a:r>
          </a:p>
          <a:p>
            <a:pPr marL="2571750" lvl="5" indent="-285750">
              <a:buFont typeface="Arial" panose="020B0604020202020204" pitchFamily="34" charset="0"/>
              <a:buChar char="•"/>
            </a:pPr>
            <a:r>
              <a:rPr lang="en-GB" sz="2400" dirty="0"/>
              <a:t> Public open Wi-Fi</a:t>
            </a:r>
          </a:p>
          <a:p>
            <a:pPr marL="2571750" lvl="5" indent="-285750">
              <a:buFont typeface="Arial" panose="020B0604020202020204" pitchFamily="34" charset="0"/>
              <a:buChar char="•"/>
            </a:pPr>
            <a:r>
              <a:rPr lang="en-GB" sz="2400" dirty="0"/>
              <a:t> Service Set Identifier (SSID)</a:t>
            </a:r>
          </a:p>
          <a:p>
            <a:pPr marL="2571750" lvl="5" indent="-285750">
              <a:buFont typeface="Arial" panose="020B0604020202020204" pitchFamily="34" charset="0"/>
              <a:buChar char="•"/>
            </a:pPr>
            <a:r>
              <a:rPr lang="en-GB" sz="2400" dirty="0"/>
              <a:t> Wi-Fi spoofing</a:t>
            </a:r>
          </a:p>
          <a:p>
            <a:pPr marL="2571750" lvl="5" indent="-285750">
              <a:buFont typeface="Arial" panose="020B0604020202020204" pitchFamily="34" charset="0"/>
              <a:buChar char="•"/>
            </a:pPr>
            <a:r>
              <a:rPr lang="en-GB" sz="2400" dirty="0"/>
              <a:t> Rogue access points</a:t>
            </a:r>
          </a:p>
          <a:p>
            <a:pPr lvl="5"/>
            <a:endParaRPr lang="en-GB" sz="2400" dirty="0"/>
          </a:p>
          <a:p>
            <a:endParaRPr lang="en-GB" dirty="0"/>
          </a:p>
        </p:txBody>
      </p:sp>
    </p:spTree>
    <p:extLst>
      <p:ext uri="{BB962C8B-B14F-4D97-AF65-F5344CB8AC3E}">
        <p14:creationId xmlns:p14="http://schemas.microsoft.com/office/powerpoint/2010/main" val="41157802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C19C5BA-2C02-5CC7-6D25-9BAF3E8E9236}"/>
              </a:ext>
            </a:extLst>
          </p:cNvPr>
          <p:cNvSpPr>
            <a:spLocks noGrp="1"/>
          </p:cNvSpPr>
          <p:nvPr>
            <p:ph type="title"/>
          </p:nvPr>
        </p:nvSpPr>
        <p:spPr/>
        <p:txBody>
          <a:bodyPr/>
          <a:lstStyle/>
          <a:p>
            <a:r>
              <a:rPr lang="en-GB" dirty="0"/>
              <a:t>Wireless Device Security</a:t>
            </a:r>
          </a:p>
        </p:txBody>
      </p:sp>
      <p:sp>
        <p:nvSpPr>
          <p:cNvPr id="5" name="Content Placeholder 4">
            <a:extLst>
              <a:ext uri="{FF2B5EF4-FFF2-40B4-BE49-F238E27FC236}">
                <a16:creationId xmlns:a16="http://schemas.microsoft.com/office/drawing/2014/main" id="{38AE7004-1F0F-E574-B9EE-480E86F950EE}"/>
              </a:ext>
            </a:extLst>
          </p:cNvPr>
          <p:cNvSpPr>
            <a:spLocks noGrp="1"/>
          </p:cNvSpPr>
          <p:nvPr>
            <p:ph idx="1"/>
          </p:nvPr>
        </p:nvSpPr>
        <p:spPr/>
        <p:txBody>
          <a:bodyPr>
            <a:normAutofit lnSpcReduction="10000"/>
          </a:bodyPr>
          <a:lstStyle/>
          <a:p>
            <a:r>
              <a:rPr lang="en-GB" sz="2400" b="1" dirty="0"/>
              <a:t>What you will learn</a:t>
            </a:r>
          </a:p>
          <a:p>
            <a:endParaRPr lang="en-GB" sz="2000" dirty="0"/>
          </a:p>
          <a:p>
            <a:pPr lvl="2"/>
            <a:r>
              <a:rPr lang="en-GB" sz="2400" b="1" dirty="0"/>
              <a:t>Knowledge and/or skills</a:t>
            </a:r>
          </a:p>
          <a:p>
            <a:pPr marL="1200150" lvl="2" indent="-285750">
              <a:buFont typeface="Arial" panose="020B0604020202020204" pitchFamily="34" charset="0"/>
              <a:buChar char="•"/>
            </a:pPr>
            <a:r>
              <a:rPr lang="en-GB" sz="2400" dirty="0"/>
              <a:t>Wireless network vulnerability scanning</a:t>
            </a:r>
          </a:p>
          <a:p>
            <a:pPr marL="1200150" lvl="2" indent="-285750">
              <a:buFont typeface="Arial" panose="020B0604020202020204" pitchFamily="34" charset="0"/>
              <a:buChar char="•"/>
            </a:pPr>
            <a:r>
              <a:rPr lang="en-GB" sz="2400" dirty="0"/>
              <a:t>Rogue AP detection</a:t>
            </a:r>
          </a:p>
          <a:p>
            <a:pPr marL="1200150" lvl="2" indent="-285750">
              <a:buFont typeface="Arial" panose="020B0604020202020204" pitchFamily="34" charset="0"/>
              <a:buChar char="•"/>
            </a:pPr>
            <a:r>
              <a:rPr lang="en-GB" sz="2400" dirty="0"/>
              <a:t>Wireless Intrusion Detection Systems (WIDS)</a:t>
            </a:r>
          </a:p>
          <a:p>
            <a:pPr marL="1200150" lvl="2" indent="-285750">
              <a:buFont typeface="Arial" panose="020B0604020202020204" pitchFamily="34" charset="0"/>
              <a:buChar char="•"/>
            </a:pPr>
            <a:r>
              <a:rPr lang="en-GB" sz="2400" dirty="0"/>
              <a:t>Wired network port security</a:t>
            </a:r>
          </a:p>
          <a:p>
            <a:pPr marL="1200150" lvl="2" indent="-285750">
              <a:buFont typeface="Arial" panose="020B0604020202020204" pitchFamily="34" charset="0"/>
              <a:buChar char="•"/>
            </a:pPr>
            <a:r>
              <a:rPr lang="en-GB" sz="2400" dirty="0"/>
              <a:t>Wireless network for personal or untrusted devices</a:t>
            </a:r>
          </a:p>
          <a:p>
            <a:pPr marL="1200150" lvl="2" indent="-285750">
              <a:buFont typeface="Arial" panose="020B0604020202020204" pitchFamily="34" charset="0"/>
              <a:buChar char="•"/>
            </a:pPr>
            <a:r>
              <a:rPr lang="en-GB" sz="2400" dirty="0"/>
              <a:t>Survey networks being broadcast, disabling unneeded networks</a:t>
            </a:r>
          </a:p>
          <a:p>
            <a:pPr marL="1200150" lvl="2" indent="-285750">
              <a:buFont typeface="Arial" panose="020B0604020202020204" pitchFamily="34" charset="0"/>
              <a:buChar char="•"/>
            </a:pPr>
            <a:r>
              <a:rPr lang="en-GB" sz="2400" dirty="0"/>
              <a:t>Filter wireless traffic</a:t>
            </a:r>
          </a:p>
          <a:p>
            <a:pPr marL="1200150" lvl="2" indent="-285750">
              <a:buFont typeface="Arial" panose="020B0604020202020204" pitchFamily="34" charset="0"/>
              <a:buChar char="•"/>
            </a:pPr>
            <a:r>
              <a:rPr lang="en-GB" sz="2400" dirty="0"/>
              <a:t>Bandwidth management to prevent denial of service attacks</a:t>
            </a:r>
          </a:p>
          <a:p>
            <a:pPr marL="1200150" lvl="2" indent="-285750">
              <a:buFont typeface="Arial" panose="020B0604020202020204" pitchFamily="34" charset="0"/>
              <a:buChar char="•"/>
            </a:pPr>
            <a:r>
              <a:rPr lang="en-GB" sz="2400" dirty="0"/>
              <a:t>Virtual Private Networks (VPN)</a:t>
            </a:r>
            <a:endParaRPr lang="en-GB" sz="4800" dirty="0"/>
          </a:p>
          <a:p>
            <a:endParaRPr lang="en-GB" dirty="0"/>
          </a:p>
        </p:txBody>
      </p:sp>
    </p:spTree>
    <p:extLst>
      <p:ext uri="{BB962C8B-B14F-4D97-AF65-F5344CB8AC3E}">
        <p14:creationId xmlns:p14="http://schemas.microsoft.com/office/powerpoint/2010/main" val="13766608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4C19C5BA-2C02-5CC7-6D25-9BAF3E8E9236}"/>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rgbClr val="002060"/>
                </a:solidFill>
                <a:latin typeface="+mj-lt"/>
                <a:ea typeface="+mj-ea"/>
                <a:cs typeface="+mj-cs"/>
              </a:defRPr>
            </a:lvl1pPr>
          </a:lstStyle>
          <a:p>
            <a:r>
              <a:rPr lang="en-GB" smtClean="0"/>
              <a:t>Wireless Device Security</a:t>
            </a:r>
            <a:endParaRPr lang="en-GB" dirty="0"/>
          </a:p>
        </p:txBody>
      </p:sp>
      <p:sp>
        <p:nvSpPr>
          <p:cNvPr id="3" name="TextBox 2"/>
          <p:cNvSpPr txBox="1"/>
          <p:nvPr/>
        </p:nvSpPr>
        <p:spPr>
          <a:xfrm>
            <a:off x="1460938" y="1690688"/>
            <a:ext cx="7441324" cy="2862322"/>
          </a:xfrm>
          <a:prstGeom prst="rect">
            <a:avLst/>
          </a:prstGeom>
          <a:noFill/>
        </p:spPr>
        <p:txBody>
          <a:bodyPr wrap="square" rtlCol="0">
            <a:spAutoFit/>
          </a:bodyPr>
          <a:lstStyle/>
          <a:p>
            <a:r>
              <a:rPr lang="en-GB" sz="2000" dirty="0" smtClean="0"/>
              <a:t>Assessments for Wireless Device Securities</a:t>
            </a:r>
          </a:p>
          <a:p>
            <a:endParaRPr lang="en-GB" sz="2000" dirty="0"/>
          </a:p>
          <a:p>
            <a:pPr marL="342900" indent="-342900">
              <a:lnSpc>
                <a:spcPct val="200000"/>
              </a:lnSpc>
              <a:spcAft>
                <a:spcPts val="1200"/>
              </a:spcAft>
              <a:buFont typeface="+mj-lt"/>
              <a:buAutoNum type="arabicPeriod"/>
            </a:pPr>
            <a:r>
              <a:rPr lang="en-GB" sz="2000" dirty="0" smtClean="0"/>
              <a:t>Multiple choice 20 questions(</a:t>
            </a:r>
            <a:r>
              <a:rPr lang="en-GB" sz="2000" dirty="0"/>
              <a:t>W</a:t>
            </a:r>
            <a:r>
              <a:rPr lang="en-GB" sz="2000" dirty="0" smtClean="0"/>
              <a:t>eek 10)</a:t>
            </a:r>
          </a:p>
          <a:p>
            <a:pPr marL="342900" indent="-342900">
              <a:lnSpc>
                <a:spcPct val="200000"/>
              </a:lnSpc>
              <a:spcAft>
                <a:spcPts val="1200"/>
              </a:spcAft>
              <a:buFont typeface="+mj-lt"/>
              <a:buAutoNum type="arabicPeriod"/>
            </a:pPr>
            <a:r>
              <a:rPr lang="en-GB" sz="2000" dirty="0" smtClean="0"/>
              <a:t>Configure a radius server(Week 5)</a:t>
            </a:r>
          </a:p>
          <a:p>
            <a:pPr marL="342900" indent="-342900">
              <a:lnSpc>
                <a:spcPct val="200000"/>
              </a:lnSpc>
              <a:spcAft>
                <a:spcPts val="1200"/>
              </a:spcAft>
              <a:buFont typeface="+mj-lt"/>
              <a:buAutoNum type="arabicPeriod"/>
            </a:pPr>
            <a:r>
              <a:rPr lang="en-GB" sz="2000" dirty="0" smtClean="0"/>
              <a:t>Detect and hack a wireless access point(Week 7)</a:t>
            </a:r>
            <a:endParaRPr lang="en-GB" sz="2000" dirty="0"/>
          </a:p>
        </p:txBody>
      </p:sp>
    </p:spTree>
    <p:extLst>
      <p:ext uri="{BB962C8B-B14F-4D97-AF65-F5344CB8AC3E}">
        <p14:creationId xmlns:p14="http://schemas.microsoft.com/office/powerpoint/2010/main" val="7548319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GB" sz="4400" u="sng" dirty="0">
                <a:latin typeface="Arial" panose="020B0604020202020204" pitchFamily="34" charset="0"/>
              </a:rPr>
              <a:t>Wireless Device Fundamentals</a:t>
            </a:r>
          </a:p>
        </p:txBody>
      </p:sp>
      <p:sp>
        <p:nvSpPr>
          <p:cNvPr id="2" name="Content Placeholder 1">
            <a:extLst>
              <a:ext uri="{FF2B5EF4-FFF2-40B4-BE49-F238E27FC236}">
                <a16:creationId xmlns:a16="http://schemas.microsoft.com/office/drawing/2014/main" id="{21E24DBB-9A22-5E04-E336-7CF4C5D2F62B}"/>
              </a:ext>
            </a:extLst>
          </p:cNvPr>
          <p:cNvSpPr>
            <a:spLocks noGrp="1"/>
          </p:cNvSpPr>
          <p:nvPr>
            <p:ph idx="1"/>
          </p:nvPr>
        </p:nvSpPr>
        <p:spPr/>
        <p:txBody>
          <a:bodyPr/>
          <a:lstStyle/>
          <a:p>
            <a:r>
              <a:rPr lang="en-GB" sz="2800" dirty="0"/>
              <a:t>This presentation is to help gain familiarity with basic Wi-Fi concepts, terminology and functionality.</a:t>
            </a:r>
          </a:p>
          <a:p>
            <a:pPr marL="0" indent="0">
              <a:buNone/>
            </a:pPr>
            <a:endParaRPr lang="en-GB" sz="2800" dirty="0"/>
          </a:p>
          <a:p>
            <a:r>
              <a:rPr lang="en-GB" sz="2800" dirty="0"/>
              <a:t>To provide an overview of how Radio Frequencies can be used to encode data, error with Wi-Fi signal propagation, and how to implement Wi-Fi channels when designing a WLAN.</a:t>
            </a:r>
          </a:p>
          <a:p>
            <a:pPr marL="0" indent="0">
              <a:buNone/>
            </a:pPr>
            <a:endParaRPr lang="en-GB" sz="2800" dirty="0"/>
          </a:p>
          <a:p>
            <a:endParaRPr lang="en-GB" dirty="0"/>
          </a:p>
        </p:txBody>
      </p:sp>
    </p:spTree>
    <p:extLst>
      <p:ext uri="{BB962C8B-B14F-4D97-AF65-F5344CB8AC3E}">
        <p14:creationId xmlns:p14="http://schemas.microsoft.com/office/powerpoint/2010/main" val="38892644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What is Wi-Fi</a:t>
            </a:r>
          </a:p>
        </p:txBody>
      </p:sp>
      <p:sp>
        <p:nvSpPr>
          <p:cNvPr id="4" name="Content Placeholder 3">
            <a:extLst>
              <a:ext uri="{FF2B5EF4-FFF2-40B4-BE49-F238E27FC236}">
                <a16:creationId xmlns:a16="http://schemas.microsoft.com/office/drawing/2014/main" id="{ADF357E8-BE46-1262-4957-B6DA64AB097F}"/>
              </a:ext>
            </a:extLst>
          </p:cNvPr>
          <p:cNvSpPr>
            <a:spLocks noGrp="1"/>
          </p:cNvSpPr>
          <p:nvPr>
            <p:ph idx="1"/>
          </p:nvPr>
        </p:nvSpPr>
        <p:spPr/>
        <p:txBody>
          <a:bodyPr/>
          <a:lstStyle/>
          <a:p>
            <a:r>
              <a:rPr lang="en-GB" sz="2400" dirty="0"/>
              <a:t>Wi-Fi is not an acronym(Wireless fidelity!) a name created by the Wi-Fi Alliance.</a:t>
            </a:r>
          </a:p>
          <a:p>
            <a:r>
              <a:rPr lang="en-GB" sz="2400" dirty="0"/>
              <a:t>It uses the manipulation of electromagnetic radiation to encode data. (Radio frequencies)</a:t>
            </a:r>
          </a:p>
          <a:p>
            <a:r>
              <a:rPr lang="en-GB" sz="2400" dirty="0"/>
              <a:t>It is sometimes called “Wireless Ethernet” but this is wrong:</a:t>
            </a:r>
          </a:p>
          <a:p>
            <a:pPr marL="800100" lvl="1" indent="-342900">
              <a:buFont typeface="Arial" panose="020B0604020202020204" pitchFamily="34" charset="0"/>
              <a:buChar char="•"/>
            </a:pPr>
            <a:r>
              <a:rPr lang="en-GB" sz="2400" dirty="0"/>
              <a:t>Wi-Fi has totally different framing than Ethernet(wired).</a:t>
            </a:r>
          </a:p>
          <a:p>
            <a:pPr marL="800100" lvl="1" indent="-342900">
              <a:buFont typeface="Arial" panose="020B0604020202020204" pitchFamily="34" charset="0"/>
              <a:buChar char="•"/>
            </a:pPr>
            <a:r>
              <a:rPr lang="en-GB" sz="2400" dirty="0"/>
              <a:t>Totally different method for detecting collisions.</a:t>
            </a:r>
            <a:endParaRPr lang="en-GB" dirty="0"/>
          </a:p>
        </p:txBody>
      </p:sp>
    </p:spTree>
    <p:extLst>
      <p:ext uri="{BB962C8B-B14F-4D97-AF65-F5344CB8AC3E}">
        <p14:creationId xmlns:p14="http://schemas.microsoft.com/office/powerpoint/2010/main" val="38618256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652C61D-EA8C-0DC6-D41D-7A40BA216844}"/>
              </a:ext>
            </a:extLst>
          </p:cNvPr>
          <p:cNvSpPr>
            <a:spLocks noGrp="1"/>
          </p:cNvSpPr>
          <p:nvPr>
            <p:ph type="title"/>
          </p:nvPr>
        </p:nvSpPr>
        <p:spPr/>
        <p:txBody>
          <a:bodyPr/>
          <a:lstStyle/>
          <a:p>
            <a:r>
              <a:rPr lang="en-GB" dirty="0"/>
              <a:t>Wi-Fi Standardisation</a:t>
            </a:r>
          </a:p>
        </p:txBody>
      </p:sp>
      <p:sp>
        <p:nvSpPr>
          <p:cNvPr id="5" name="Content Placeholder 4">
            <a:extLst>
              <a:ext uri="{FF2B5EF4-FFF2-40B4-BE49-F238E27FC236}">
                <a16:creationId xmlns:a16="http://schemas.microsoft.com/office/drawing/2014/main" id="{613F2A86-E65B-165A-3F6F-00955D3B9FBD}"/>
              </a:ext>
            </a:extLst>
          </p:cNvPr>
          <p:cNvSpPr>
            <a:spLocks noGrp="1"/>
          </p:cNvSpPr>
          <p:nvPr>
            <p:ph idx="1"/>
          </p:nvPr>
        </p:nvSpPr>
        <p:spPr/>
        <p:txBody>
          <a:bodyPr>
            <a:normAutofit/>
          </a:bodyPr>
          <a:lstStyle/>
          <a:p>
            <a:r>
              <a:rPr lang="en-GB" sz="2800" dirty="0"/>
              <a:t>Created by the IEEE work group to 802.11 standard.</a:t>
            </a:r>
          </a:p>
          <a:p>
            <a:r>
              <a:rPr lang="en-GB" sz="2800" dirty="0" err="1"/>
              <a:t>WiFi</a:t>
            </a:r>
            <a:r>
              <a:rPr lang="en-GB" sz="2800" dirty="0"/>
              <a:t> standardisation is broken into two sub-categories</a:t>
            </a:r>
          </a:p>
          <a:p>
            <a:pPr lvl="1"/>
            <a:r>
              <a:rPr lang="en-GB" dirty="0"/>
              <a:t>MAC (Media Access Control Layer)</a:t>
            </a:r>
          </a:p>
          <a:p>
            <a:pPr lvl="1"/>
            <a:r>
              <a:rPr lang="en-GB" dirty="0"/>
              <a:t>PHY (Physical Layer)</a:t>
            </a:r>
          </a:p>
          <a:p>
            <a:r>
              <a:rPr lang="en-GB" sz="2800" dirty="0"/>
              <a:t>Each letter after 802.11 represents an amendment to the original standard:</a:t>
            </a:r>
          </a:p>
          <a:p>
            <a:r>
              <a:rPr lang="en-GB" sz="2800" dirty="0"/>
              <a:t>Original standard created 802.11 = 1997</a:t>
            </a:r>
          </a:p>
          <a:p>
            <a:r>
              <a:rPr lang="en-GB" sz="2800" dirty="0"/>
              <a:t>Next amendment 802.11b = 1999</a:t>
            </a:r>
          </a:p>
          <a:p>
            <a:r>
              <a:rPr lang="en-GB" sz="2800" dirty="0"/>
              <a:t>And so on……</a:t>
            </a:r>
          </a:p>
          <a:p>
            <a:endParaRPr lang="en-GB" dirty="0"/>
          </a:p>
        </p:txBody>
      </p:sp>
    </p:spTree>
    <p:extLst>
      <p:ext uri="{BB962C8B-B14F-4D97-AF65-F5344CB8AC3E}">
        <p14:creationId xmlns:p14="http://schemas.microsoft.com/office/powerpoint/2010/main" val="15686312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67E5407-7ED6-F91F-1844-C127ECC583CA}"/>
              </a:ext>
            </a:extLst>
          </p:cNvPr>
          <p:cNvSpPr>
            <a:spLocks noGrp="1"/>
          </p:cNvSpPr>
          <p:nvPr>
            <p:ph type="title"/>
          </p:nvPr>
        </p:nvSpPr>
        <p:spPr/>
        <p:txBody>
          <a:bodyPr/>
          <a:lstStyle/>
          <a:p>
            <a:r>
              <a:rPr lang="en-GB" dirty="0"/>
              <a:t>Wireless</a:t>
            </a:r>
          </a:p>
        </p:txBody>
      </p:sp>
      <p:sp>
        <p:nvSpPr>
          <p:cNvPr id="5" name="Content Placeholder 4">
            <a:extLst>
              <a:ext uri="{FF2B5EF4-FFF2-40B4-BE49-F238E27FC236}">
                <a16:creationId xmlns:a16="http://schemas.microsoft.com/office/drawing/2014/main" id="{F1CD7EA7-7CAE-3CE7-7E39-FAF74F8D67BB}"/>
              </a:ext>
            </a:extLst>
          </p:cNvPr>
          <p:cNvSpPr>
            <a:spLocks noGrp="1"/>
          </p:cNvSpPr>
          <p:nvPr>
            <p:ph idx="1"/>
          </p:nvPr>
        </p:nvSpPr>
        <p:spPr/>
        <p:txBody>
          <a:bodyPr/>
          <a:lstStyle/>
          <a:p>
            <a:pPr>
              <a:defRPr/>
            </a:pPr>
            <a:r>
              <a:rPr lang="de-DE" altLang="en-US" sz="2400" b="1" dirty="0"/>
              <a:t>A wireless LAN is an</a:t>
            </a:r>
            <a:r>
              <a:rPr lang="en-US" altLang="en-US" sz="2400" b="1" dirty="0"/>
              <a:t> 802 LAN.</a:t>
            </a:r>
          </a:p>
          <a:p>
            <a:pPr marL="800100" lvl="1" indent="-342900">
              <a:buFont typeface="Arial" panose="020B0604020202020204" pitchFamily="34" charset="0"/>
              <a:buChar char="•"/>
              <a:defRPr/>
            </a:pPr>
            <a:r>
              <a:rPr lang="en-US" altLang="en-US" sz="2000" dirty="0"/>
              <a:t>Transmits data over the </a:t>
            </a:r>
            <a:r>
              <a:rPr lang="de-DE" altLang="en-US" sz="2000" dirty="0"/>
              <a:t>air</a:t>
            </a:r>
            <a:r>
              <a:rPr lang="en-US" altLang="en-US" sz="2000" dirty="0"/>
              <a:t> vs. data over the </a:t>
            </a:r>
            <a:r>
              <a:rPr lang="de-DE" altLang="en-US" sz="2000" dirty="0"/>
              <a:t>wire</a:t>
            </a:r>
            <a:r>
              <a:rPr lang="en-US" altLang="en-US" sz="2000" dirty="0"/>
              <a:t> </a:t>
            </a:r>
          </a:p>
          <a:p>
            <a:pPr marL="800100" lvl="1" indent="-342900">
              <a:buFont typeface="Arial" panose="020B0604020202020204" pitchFamily="34" charset="0"/>
              <a:buChar char="•"/>
              <a:defRPr/>
            </a:pPr>
            <a:r>
              <a:rPr lang="en-US" altLang="en-US" sz="2000" dirty="0"/>
              <a:t>Looks like a wired network to the user </a:t>
            </a:r>
            <a:endParaRPr lang="de-DE" altLang="en-US" sz="2000" dirty="0"/>
          </a:p>
          <a:p>
            <a:pPr marL="800100" lvl="1" indent="-342900">
              <a:buFont typeface="Arial" panose="020B0604020202020204" pitchFamily="34" charset="0"/>
              <a:buChar char="•"/>
              <a:defRPr/>
            </a:pPr>
            <a:r>
              <a:rPr lang="de-DE" altLang="en-US" sz="2000" dirty="0"/>
              <a:t>Defines physical and data link layer</a:t>
            </a:r>
            <a:endParaRPr lang="en-US" altLang="en-US" sz="2000" dirty="0"/>
          </a:p>
          <a:p>
            <a:pPr marL="800100" lvl="1" indent="-342900">
              <a:buFont typeface="Arial" panose="020B0604020202020204" pitchFamily="34" charset="0"/>
              <a:buChar char="•"/>
              <a:defRPr/>
            </a:pPr>
            <a:r>
              <a:rPr lang="de-DE" altLang="en-US" sz="2000" dirty="0"/>
              <a:t>Uses MAC addresses</a:t>
            </a:r>
          </a:p>
          <a:p>
            <a:pPr marL="342900" lvl="1">
              <a:defRPr/>
            </a:pPr>
            <a:endParaRPr lang="de-DE" altLang="en-US" sz="2000" dirty="0"/>
          </a:p>
          <a:p>
            <a:pPr>
              <a:defRPr/>
            </a:pPr>
            <a:r>
              <a:rPr lang="en-US" altLang="en-US" sz="2400" b="1" dirty="0"/>
              <a:t>The same protocols</a:t>
            </a:r>
            <a:r>
              <a:rPr lang="de-DE" altLang="en-US" sz="2400" b="1" dirty="0"/>
              <a:t>/applications</a:t>
            </a:r>
            <a:r>
              <a:rPr lang="en-US" altLang="en-US" sz="2400" b="1" dirty="0"/>
              <a:t> run over both </a:t>
            </a:r>
            <a:r>
              <a:rPr lang="de-DE" altLang="en-US" sz="2400" b="1" dirty="0"/>
              <a:t>W</a:t>
            </a:r>
            <a:r>
              <a:rPr lang="en-US" altLang="en-US" sz="2400" b="1" dirty="0"/>
              <a:t>LANs and LANs.</a:t>
            </a:r>
            <a:r>
              <a:rPr lang="en-US" altLang="en-US" dirty="0"/>
              <a:t> </a:t>
            </a:r>
          </a:p>
          <a:p>
            <a:pPr marL="800100" lvl="1" indent="-342900">
              <a:buFont typeface="Arial" panose="020B0604020202020204" pitchFamily="34" charset="0"/>
              <a:buChar char="•"/>
              <a:defRPr/>
            </a:pPr>
            <a:r>
              <a:rPr lang="de-DE" altLang="en-US" sz="2000" dirty="0"/>
              <a:t>IP (network layer)</a:t>
            </a:r>
          </a:p>
          <a:p>
            <a:pPr marL="800100" lvl="1" indent="-342900">
              <a:buFont typeface="Arial" panose="020B0604020202020204" pitchFamily="34" charset="0"/>
              <a:buChar char="•"/>
              <a:defRPr/>
            </a:pPr>
            <a:r>
              <a:rPr lang="de-DE" altLang="en-US" sz="2000" dirty="0"/>
              <a:t>IPSec VPNs (IP-based)</a:t>
            </a:r>
          </a:p>
          <a:p>
            <a:pPr marL="800100" lvl="1" indent="-342900">
              <a:buFont typeface="Arial" panose="020B0604020202020204" pitchFamily="34" charset="0"/>
              <a:buChar char="•"/>
              <a:defRPr/>
            </a:pPr>
            <a:r>
              <a:rPr lang="de-DE" altLang="en-US" sz="2000" dirty="0"/>
              <a:t>Web, FTP, </a:t>
            </a:r>
            <a:r>
              <a:rPr lang="en-US" altLang="en-US" sz="2000" dirty="0"/>
              <a:t>SNMP </a:t>
            </a:r>
            <a:r>
              <a:rPr lang="de-DE" altLang="en-US" sz="2000" dirty="0"/>
              <a:t>(applications)</a:t>
            </a:r>
            <a:endParaRPr lang="en-US" altLang="en-US" sz="2000" dirty="0"/>
          </a:p>
          <a:p>
            <a:endParaRPr lang="en-GB" dirty="0"/>
          </a:p>
        </p:txBody>
      </p:sp>
    </p:spTree>
    <p:extLst>
      <p:ext uri="{BB962C8B-B14F-4D97-AF65-F5344CB8AC3E}">
        <p14:creationId xmlns:p14="http://schemas.microsoft.com/office/powerpoint/2010/main" val="12772009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nvGraphicFramePr>
        <p:xfrm>
          <a:off x="1185182" y="1172510"/>
          <a:ext cx="9535885" cy="4070701"/>
        </p:xfrm>
        <a:graphic>
          <a:graphicData uri="http://schemas.openxmlformats.org/drawingml/2006/table">
            <a:tbl>
              <a:tblPr firstRow="1" bandRow="1">
                <a:tableStyleId>{5C22544A-7EE6-4342-B048-85BDC9FD1C3A}</a:tableStyleId>
              </a:tblPr>
              <a:tblGrid>
                <a:gridCol w="1907177">
                  <a:extLst>
                    <a:ext uri="{9D8B030D-6E8A-4147-A177-3AD203B41FA5}">
                      <a16:colId xmlns:a16="http://schemas.microsoft.com/office/drawing/2014/main" val="4230992198"/>
                    </a:ext>
                  </a:extLst>
                </a:gridCol>
                <a:gridCol w="1907177">
                  <a:extLst>
                    <a:ext uri="{9D8B030D-6E8A-4147-A177-3AD203B41FA5}">
                      <a16:colId xmlns:a16="http://schemas.microsoft.com/office/drawing/2014/main" val="2111064233"/>
                    </a:ext>
                  </a:extLst>
                </a:gridCol>
                <a:gridCol w="1907177">
                  <a:extLst>
                    <a:ext uri="{9D8B030D-6E8A-4147-A177-3AD203B41FA5}">
                      <a16:colId xmlns:a16="http://schemas.microsoft.com/office/drawing/2014/main" val="3003678631"/>
                    </a:ext>
                  </a:extLst>
                </a:gridCol>
                <a:gridCol w="1907177">
                  <a:extLst>
                    <a:ext uri="{9D8B030D-6E8A-4147-A177-3AD203B41FA5}">
                      <a16:colId xmlns:a16="http://schemas.microsoft.com/office/drawing/2014/main" val="976358915"/>
                    </a:ext>
                  </a:extLst>
                </a:gridCol>
                <a:gridCol w="1907177">
                  <a:extLst>
                    <a:ext uri="{9D8B030D-6E8A-4147-A177-3AD203B41FA5}">
                      <a16:colId xmlns:a16="http://schemas.microsoft.com/office/drawing/2014/main" val="789774783"/>
                    </a:ext>
                  </a:extLst>
                </a:gridCol>
              </a:tblGrid>
              <a:tr h="360653">
                <a:tc>
                  <a:txBody>
                    <a:bodyPr/>
                    <a:lstStyle/>
                    <a:p>
                      <a:r>
                        <a:rPr lang="en-GB" sz="1600" dirty="0"/>
                        <a:t>802.11 Amendment</a:t>
                      </a:r>
                    </a:p>
                  </a:txBody>
                  <a:tcPr/>
                </a:tc>
                <a:tc>
                  <a:txBody>
                    <a:bodyPr/>
                    <a:lstStyle/>
                    <a:p>
                      <a:r>
                        <a:rPr lang="en-GB" sz="1600" dirty="0"/>
                        <a:t>Frequency</a:t>
                      </a:r>
                      <a:r>
                        <a:rPr lang="en-GB" sz="1600" baseline="0" dirty="0"/>
                        <a:t> (GHz)</a:t>
                      </a:r>
                      <a:endParaRPr lang="en-GB" sz="1600" dirty="0"/>
                    </a:p>
                  </a:txBody>
                  <a:tcPr/>
                </a:tc>
                <a:tc>
                  <a:txBody>
                    <a:bodyPr/>
                    <a:lstStyle/>
                    <a:p>
                      <a:r>
                        <a:rPr lang="en-GB" sz="1600" dirty="0"/>
                        <a:t>Max Data Rate</a:t>
                      </a:r>
                    </a:p>
                  </a:txBody>
                  <a:tcPr/>
                </a:tc>
                <a:tc>
                  <a:txBody>
                    <a:bodyPr/>
                    <a:lstStyle/>
                    <a:p>
                      <a:r>
                        <a:rPr lang="en-GB" sz="1600" dirty="0"/>
                        <a:t>Date </a:t>
                      </a:r>
                    </a:p>
                  </a:txBody>
                  <a:tcPr/>
                </a:tc>
                <a:tc>
                  <a:txBody>
                    <a:bodyPr/>
                    <a:lstStyle/>
                    <a:p>
                      <a:r>
                        <a:rPr lang="en-GB" sz="1600" dirty="0"/>
                        <a:t>Notes</a:t>
                      </a:r>
                    </a:p>
                  </a:txBody>
                  <a:tcPr/>
                </a:tc>
                <a:extLst>
                  <a:ext uri="{0D108BD9-81ED-4DB2-BD59-A6C34878D82A}">
                    <a16:rowId xmlns:a16="http://schemas.microsoft.com/office/drawing/2014/main" val="3174755527"/>
                  </a:ext>
                </a:extLst>
              </a:tr>
              <a:tr h="360653">
                <a:tc>
                  <a:txBody>
                    <a:bodyPr/>
                    <a:lstStyle/>
                    <a:p>
                      <a:r>
                        <a:rPr lang="en-GB" sz="1800" dirty="0"/>
                        <a:t>802.11</a:t>
                      </a:r>
                    </a:p>
                  </a:txBody>
                  <a:tcPr/>
                </a:tc>
                <a:tc>
                  <a:txBody>
                    <a:bodyPr/>
                    <a:lstStyle/>
                    <a:p>
                      <a:r>
                        <a:rPr lang="en-GB" sz="1600" dirty="0"/>
                        <a:t>2.4</a:t>
                      </a:r>
                    </a:p>
                  </a:txBody>
                  <a:tcPr/>
                </a:tc>
                <a:tc>
                  <a:txBody>
                    <a:bodyPr/>
                    <a:lstStyle/>
                    <a:p>
                      <a:r>
                        <a:rPr lang="en-GB" sz="1600" dirty="0"/>
                        <a:t>2 Mbps</a:t>
                      </a:r>
                    </a:p>
                  </a:txBody>
                  <a:tcPr/>
                </a:tc>
                <a:tc>
                  <a:txBody>
                    <a:bodyPr/>
                    <a:lstStyle/>
                    <a:p>
                      <a:r>
                        <a:rPr lang="en-GB" sz="1600" dirty="0"/>
                        <a:t>1997</a:t>
                      </a:r>
                    </a:p>
                  </a:txBody>
                  <a:tcPr/>
                </a:tc>
                <a:tc>
                  <a:txBody>
                    <a:bodyPr/>
                    <a:lstStyle/>
                    <a:p>
                      <a:endParaRPr lang="en-GB" sz="1600"/>
                    </a:p>
                  </a:txBody>
                  <a:tcPr/>
                </a:tc>
                <a:extLst>
                  <a:ext uri="{0D108BD9-81ED-4DB2-BD59-A6C34878D82A}">
                    <a16:rowId xmlns:a16="http://schemas.microsoft.com/office/drawing/2014/main" val="41847623"/>
                  </a:ext>
                </a:extLst>
              </a:tr>
              <a:tr h="51603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t>802.11a</a:t>
                      </a:r>
                    </a:p>
                  </a:txBody>
                  <a:tcPr/>
                </a:tc>
                <a:tc>
                  <a:txBody>
                    <a:bodyPr/>
                    <a:lstStyle/>
                    <a:p>
                      <a:r>
                        <a:rPr lang="en-GB" sz="1600" dirty="0"/>
                        <a:t>5</a:t>
                      </a:r>
                    </a:p>
                  </a:txBody>
                  <a:tcPr/>
                </a:tc>
                <a:tc>
                  <a:txBody>
                    <a:bodyPr/>
                    <a:lstStyle/>
                    <a:p>
                      <a:r>
                        <a:rPr lang="en-GB" sz="1600" dirty="0"/>
                        <a:t>54 Mbps</a:t>
                      </a:r>
                    </a:p>
                  </a:txBody>
                  <a:tcPr/>
                </a:tc>
                <a:tc>
                  <a:txBody>
                    <a:bodyPr/>
                    <a:lstStyle/>
                    <a:p>
                      <a:r>
                        <a:rPr lang="en-GB" sz="1600" dirty="0"/>
                        <a:t>1999</a:t>
                      </a:r>
                    </a:p>
                  </a:txBody>
                  <a:tcPr/>
                </a:tc>
                <a:tc>
                  <a:txBody>
                    <a:bodyPr/>
                    <a:lstStyle/>
                    <a:p>
                      <a:r>
                        <a:rPr lang="en-GB" sz="1600" dirty="0"/>
                        <a:t>To expensive</a:t>
                      </a:r>
                    </a:p>
                  </a:txBody>
                  <a:tcPr/>
                </a:tc>
                <a:extLst>
                  <a:ext uri="{0D108BD9-81ED-4DB2-BD59-A6C34878D82A}">
                    <a16:rowId xmlns:a16="http://schemas.microsoft.com/office/drawing/2014/main" val="3429642878"/>
                  </a:ext>
                </a:extLst>
              </a:tr>
              <a:tr h="51603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t>802.11b</a:t>
                      </a:r>
                    </a:p>
                  </a:txBody>
                  <a:tcPr/>
                </a:tc>
                <a:tc>
                  <a:txBody>
                    <a:bodyPr/>
                    <a:lstStyle/>
                    <a:p>
                      <a:r>
                        <a:rPr lang="en-GB" sz="1600" dirty="0"/>
                        <a:t>2.4</a:t>
                      </a:r>
                    </a:p>
                  </a:txBody>
                  <a:tcPr/>
                </a:tc>
                <a:tc>
                  <a:txBody>
                    <a:bodyPr/>
                    <a:lstStyle/>
                    <a:p>
                      <a:r>
                        <a:rPr lang="en-GB" sz="1600" dirty="0"/>
                        <a:t>11 Mbps</a:t>
                      </a:r>
                    </a:p>
                  </a:txBody>
                  <a:tcPr/>
                </a:tc>
                <a:tc>
                  <a:txBody>
                    <a:bodyPr/>
                    <a:lstStyle/>
                    <a:p>
                      <a:r>
                        <a:rPr lang="en-GB" sz="1600" dirty="0"/>
                        <a:t>1999</a:t>
                      </a:r>
                    </a:p>
                  </a:txBody>
                  <a:tcPr/>
                </a:tc>
                <a:tc>
                  <a:txBody>
                    <a:bodyPr/>
                    <a:lstStyle/>
                    <a:p>
                      <a:r>
                        <a:rPr lang="en-GB" sz="1600" dirty="0"/>
                        <a:t>Used standard</a:t>
                      </a:r>
                    </a:p>
                  </a:txBody>
                  <a:tcPr/>
                </a:tc>
                <a:extLst>
                  <a:ext uri="{0D108BD9-81ED-4DB2-BD59-A6C34878D82A}">
                    <a16:rowId xmlns:a16="http://schemas.microsoft.com/office/drawing/2014/main" val="3122816085"/>
                  </a:ext>
                </a:extLst>
              </a:tr>
              <a:tr h="51603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t>802.11g</a:t>
                      </a:r>
                    </a:p>
                  </a:txBody>
                  <a:tcPr/>
                </a:tc>
                <a:tc>
                  <a:txBody>
                    <a:bodyPr/>
                    <a:lstStyle/>
                    <a:p>
                      <a:r>
                        <a:rPr lang="en-GB" sz="1600" dirty="0"/>
                        <a:t>2.4</a:t>
                      </a:r>
                    </a:p>
                  </a:txBody>
                  <a:tcPr/>
                </a:tc>
                <a:tc>
                  <a:txBody>
                    <a:bodyPr/>
                    <a:lstStyle/>
                    <a:p>
                      <a:r>
                        <a:rPr lang="en-GB" sz="1600" dirty="0"/>
                        <a:t>54</a:t>
                      </a:r>
                      <a:r>
                        <a:rPr lang="en-GB" sz="1600" baseline="0" dirty="0"/>
                        <a:t> Mbps</a:t>
                      </a:r>
                      <a:endParaRPr lang="en-GB" sz="1600" dirty="0"/>
                    </a:p>
                  </a:txBody>
                  <a:tcPr/>
                </a:tc>
                <a:tc>
                  <a:txBody>
                    <a:bodyPr/>
                    <a:lstStyle/>
                    <a:p>
                      <a:r>
                        <a:rPr lang="en-GB" sz="1600" dirty="0"/>
                        <a:t>2003</a:t>
                      </a:r>
                    </a:p>
                  </a:txBody>
                  <a:tcPr/>
                </a:tc>
                <a:tc>
                  <a:txBody>
                    <a:bodyPr/>
                    <a:lstStyle/>
                    <a:p>
                      <a:endParaRPr lang="en-GB" sz="1600"/>
                    </a:p>
                  </a:txBody>
                  <a:tcPr/>
                </a:tc>
                <a:extLst>
                  <a:ext uri="{0D108BD9-81ED-4DB2-BD59-A6C34878D82A}">
                    <a16:rowId xmlns:a16="http://schemas.microsoft.com/office/drawing/2014/main" val="2545843223"/>
                  </a:ext>
                </a:extLst>
              </a:tr>
              <a:tr h="51603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t>802.11n</a:t>
                      </a:r>
                    </a:p>
                  </a:txBody>
                  <a:tcPr/>
                </a:tc>
                <a:tc>
                  <a:txBody>
                    <a:bodyPr/>
                    <a:lstStyle/>
                    <a:p>
                      <a:r>
                        <a:rPr lang="en-GB" sz="1600" dirty="0"/>
                        <a:t>2.4/5</a:t>
                      </a:r>
                    </a:p>
                  </a:txBody>
                  <a:tcPr/>
                </a:tc>
                <a:tc>
                  <a:txBody>
                    <a:bodyPr/>
                    <a:lstStyle/>
                    <a:p>
                      <a:r>
                        <a:rPr lang="en-GB" sz="1600" dirty="0"/>
                        <a:t>600Mbps</a:t>
                      </a:r>
                    </a:p>
                  </a:txBody>
                  <a:tcPr/>
                </a:tc>
                <a:tc>
                  <a:txBody>
                    <a:bodyPr/>
                    <a:lstStyle/>
                    <a:p>
                      <a:r>
                        <a:rPr lang="en-GB" sz="1600" dirty="0"/>
                        <a:t>2009</a:t>
                      </a:r>
                    </a:p>
                  </a:txBody>
                  <a:tcPr/>
                </a:tc>
                <a:tc>
                  <a:txBody>
                    <a:bodyPr/>
                    <a:lstStyle/>
                    <a:p>
                      <a:endParaRPr lang="en-GB" sz="1600"/>
                    </a:p>
                  </a:txBody>
                  <a:tcPr/>
                </a:tc>
                <a:extLst>
                  <a:ext uri="{0D108BD9-81ED-4DB2-BD59-A6C34878D82A}">
                    <a16:rowId xmlns:a16="http://schemas.microsoft.com/office/drawing/2014/main" val="829171955"/>
                  </a:ext>
                </a:extLst>
              </a:tr>
              <a:tr h="51603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t>802.11ac</a:t>
                      </a:r>
                    </a:p>
                    <a:p>
                      <a:endParaRPr lang="en-GB" sz="1800" dirty="0"/>
                    </a:p>
                  </a:txBody>
                  <a:tcPr/>
                </a:tc>
                <a:tc>
                  <a:txBody>
                    <a:bodyPr/>
                    <a:lstStyle/>
                    <a:p>
                      <a:r>
                        <a:rPr lang="en-GB" sz="1600" dirty="0"/>
                        <a:t>5</a:t>
                      </a:r>
                    </a:p>
                  </a:txBody>
                  <a:tcPr/>
                </a:tc>
                <a:tc>
                  <a:txBody>
                    <a:bodyPr/>
                    <a:lstStyle/>
                    <a:p>
                      <a:r>
                        <a:rPr lang="en-GB" sz="1600" dirty="0"/>
                        <a:t>7Gbps</a:t>
                      </a:r>
                    </a:p>
                  </a:txBody>
                  <a:tcPr/>
                </a:tc>
                <a:tc>
                  <a:txBody>
                    <a:bodyPr/>
                    <a:lstStyle/>
                    <a:p>
                      <a:r>
                        <a:rPr lang="en-GB" sz="1600" dirty="0"/>
                        <a:t>2013</a:t>
                      </a:r>
                    </a:p>
                  </a:txBody>
                  <a:tcPr/>
                </a:tc>
                <a:tc>
                  <a:txBody>
                    <a:bodyPr/>
                    <a:lstStyle/>
                    <a:p>
                      <a:r>
                        <a:rPr lang="en-GB" sz="1600" dirty="0"/>
                        <a:t>Known</a:t>
                      </a:r>
                      <a:r>
                        <a:rPr lang="en-GB" sz="1600" baseline="0" dirty="0"/>
                        <a:t> as</a:t>
                      </a:r>
                    </a:p>
                    <a:p>
                      <a:r>
                        <a:rPr lang="en-GB" sz="1600" baseline="0" dirty="0"/>
                        <a:t>“Wi-Fi5”</a:t>
                      </a:r>
                      <a:endParaRPr lang="en-GB" sz="1600" dirty="0"/>
                    </a:p>
                  </a:txBody>
                  <a:tcPr/>
                </a:tc>
                <a:extLst>
                  <a:ext uri="{0D108BD9-81ED-4DB2-BD59-A6C34878D82A}">
                    <a16:rowId xmlns:a16="http://schemas.microsoft.com/office/drawing/2014/main" val="1122230322"/>
                  </a:ext>
                </a:extLst>
              </a:tr>
              <a:tr h="51603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t>802.11ax</a:t>
                      </a:r>
                    </a:p>
                    <a:p>
                      <a:endParaRPr lang="en-GB" sz="1800" dirty="0"/>
                    </a:p>
                  </a:txBody>
                  <a:tcPr/>
                </a:tc>
                <a:tc>
                  <a:txBody>
                    <a:bodyPr/>
                    <a:lstStyle/>
                    <a:p>
                      <a:r>
                        <a:rPr lang="en-GB" sz="1600" dirty="0"/>
                        <a:t>2.4/5</a:t>
                      </a:r>
                    </a:p>
                  </a:txBody>
                  <a:tcPr/>
                </a:tc>
                <a:tc>
                  <a:txBody>
                    <a:bodyPr/>
                    <a:lstStyle/>
                    <a:p>
                      <a:r>
                        <a:rPr lang="en-GB" sz="1600" dirty="0"/>
                        <a:t>14Gbps</a:t>
                      </a:r>
                    </a:p>
                  </a:txBody>
                  <a:tcPr/>
                </a:tc>
                <a:tc>
                  <a:txBody>
                    <a:bodyPr/>
                    <a:lstStyle/>
                    <a:p>
                      <a:r>
                        <a:rPr lang="en-GB" sz="1600" dirty="0"/>
                        <a:t>2020</a:t>
                      </a:r>
                    </a:p>
                    <a:p>
                      <a:r>
                        <a:rPr lang="en-GB" sz="1600" dirty="0"/>
                        <a:t>(Estimated)</a:t>
                      </a:r>
                    </a:p>
                  </a:txBody>
                  <a:tcPr/>
                </a:tc>
                <a:tc>
                  <a:txBody>
                    <a:bodyPr/>
                    <a:lstStyle/>
                    <a:p>
                      <a:r>
                        <a:rPr lang="en-GB" sz="1600" dirty="0"/>
                        <a:t>Known</a:t>
                      </a:r>
                      <a:r>
                        <a:rPr lang="en-GB" sz="1600" baseline="0" dirty="0"/>
                        <a:t> as</a:t>
                      </a:r>
                    </a:p>
                    <a:p>
                      <a:r>
                        <a:rPr lang="en-GB" sz="1600" baseline="0" dirty="0"/>
                        <a:t>“Wi-Fi6”</a:t>
                      </a:r>
                      <a:endParaRPr lang="en-GB" sz="1600" dirty="0"/>
                    </a:p>
                  </a:txBody>
                  <a:tcPr/>
                </a:tc>
                <a:extLst>
                  <a:ext uri="{0D108BD9-81ED-4DB2-BD59-A6C34878D82A}">
                    <a16:rowId xmlns:a16="http://schemas.microsoft.com/office/drawing/2014/main" val="1575385283"/>
                  </a:ext>
                </a:extLst>
              </a:tr>
            </a:tbl>
          </a:graphicData>
        </a:graphic>
      </p:graphicFrame>
      <p:sp>
        <p:nvSpPr>
          <p:cNvPr id="4" name="TextBox 3"/>
          <p:cNvSpPr txBox="1"/>
          <p:nvPr/>
        </p:nvSpPr>
        <p:spPr>
          <a:xfrm>
            <a:off x="2054472" y="5599612"/>
            <a:ext cx="7797303" cy="369332"/>
          </a:xfrm>
          <a:prstGeom prst="rect">
            <a:avLst/>
          </a:prstGeom>
          <a:solidFill>
            <a:schemeClr val="accent1">
              <a:lumMod val="60000"/>
              <a:lumOff val="40000"/>
            </a:schemeClr>
          </a:solidFill>
        </p:spPr>
        <p:txBody>
          <a:bodyPr wrap="square" rtlCol="0">
            <a:spAutoFit/>
          </a:bodyPr>
          <a:lstStyle/>
          <a:p>
            <a:r>
              <a:rPr lang="en-GB" dirty="0"/>
              <a:t>Each amendment is an update and the previous clause is added to the next</a:t>
            </a:r>
          </a:p>
        </p:txBody>
      </p:sp>
    </p:spTree>
    <p:extLst>
      <p:ext uri="{BB962C8B-B14F-4D97-AF65-F5344CB8AC3E}">
        <p14:creationId xmlns:p14="http://schemas.microsoft.com/office/powerpoint/2010/main" val="1406688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extLst>
              <a:ext uri="{BEBA8EAE-BF5A-486C-A8C5-ECC9F3942E4B}">
                <a14:imgProps xmlns:a14="http://schemas.microsoft.com/office/drawing/2010/main">
                  <a14:imgLayer r:embed="rId3">
                    <a14:imgEffect>
                      <a14:backgroundRemoval t="10000" b="90000" l="10000" r="90000"/>
                    </a14:imgEffect>
                  </a14:imgLayer>
                </a14:imgProps>
              </a:ext>
            </a:extLst>
          </a:blip>
          <a:srcRect l="20438" t="33619" r="44819" b="8781"/>
          <a:stretch/>
        </p:blipFill>
        <p:spPr>
          <a:xfrm rot="1240628">
            <a:off x="8448371" y="1924481"/>
            <a:ext cx="550028" cy="911888"/>
          </a:xfrm>
          <a:prstGeom prst="rect">
            <a:avLst/>
          </a:prstGeom>
        </p:spPr>
      </p:pic>
      <p:pic>
        <p:nvPicPr>
          <p:cNvPr id="8" name="Picture 7"/>
          <p:cNvPicPr>
            <a:picLocks noChangeAspect="1"/>
          </p:cNvPicPr>
          <p:nvPr/>
        </p:nvPicPr>
        <p:blipFill rotWithShape="1">
          <a:blip r:embed="rId4">
            <a:extLst>
              <a:ext uri="{BEBA8EAE-BF5A-486C-A8C5-ECC9F3942E4B}">
                <a14:imgProps xmlns:a14="http://schemas.microsoft.com/office/drawing/2010/main">
                  <a14:imgLayer r:embed="rId5">
                    <a14:imgEffect>
                      <a14:backgroundRemoval t="19255" b="73877" l="10000" r="90000"/>
                    </a14:imgEffect>
                  </a14:imgLayer>
                </a14:imgProps>
              </a:ext>
            </a:extLst>
          </a:blip>
          <a:srcRect t="12428" b="19295"/>
          <a:stretch/>
        </p:blipFill>
        <p:spPr>
          <a:xfrm>
            <a:off x="7911339" y="3076654"/>
            <a:ext cx="1737757" cy="1279872"/>
          </a:xfrm>
          <a:prstGeom prst="rect">
            <a:avLst/>
          </a:prstGeom>
        </p:spPr>
      </p:pic>
      <p:pic>
        <p:nvPicPr>
          <p:cNvPr id="10" name="Picture 9"/>
          <p:cNvPicPr>
            <a:picLocks noChangeAspect="1"/>
          </p:cNvPicPr>
          <p:nvPr/>
        </p:nvPicPr>
        <p:blipFill>
          <a:blip r:embed="rId6">
            <a:extLst>
              <a:ext uri="{BEBA8EAE-BF5A-486C-A8C5-ECC9F3942E4B}">
                <a14:imgProps xmlns:a14="http://schemas.microsoft.com/office/drawing/2010/main">
                  <a14:imgLayer r:embed="rId7">
                    <a14:imgEffect>
                      <a14:backgroundRemoval t="6667" b="95111" l="889" r="97333"/>
                    </a14:imgEffect>
                  </a14:imgLayer>
                </a14:imgProps>
              </a:ext>
            </a:extLst>
          </a:blip>
          <a:stretch>
            <a:fillRect/>
          </a:stretch>
        </p:blipFill>
        <p:spPr>
          <a:xfrm>
            <a:off x="8068263" y="4529072"/>
            <a:ext cx="1423908" cy="1423908"/>
          </a:xfrm>
          <a:prstGeom prst="rect">
            <a:avLst/>
          </a:prstGeom>
        </p:spPr>
      </p:pic>
      <p:sp>
        <p:nvSpPr>
          <p:cNvPr id="4" name="Title 3">
            <a:extLst>
              <a:ext uri="{FF2B5EF4-FFF2-40B4-BE49-F238E27FC236}">
                <a16:creationId xmlns:a16="http://schemas.microsoft.com/office/drawing/2014/main" id="{88D7678D-FD47-40EF-0320-88FE4A1E5D6B}"/>
              </a:ext>
            </a:extLst>
          </p:cNvPr>
          <p:cNvSpPr>
            <a:spLocks noGrp="1"/>
          </p:cNvSpPr>
          <p:nvPr>
            <p:ph type="title"/>
          </p:nvPr>
        </p:nvSpPr>
        <p:spPr/>
        <p:txBody>
          <a:bodyPr/>
          <a:lstStyle/>
          <a:p>
            <a:r>
              <a:rPr lang="en-GB" sz="4400" dirty="0"/>
              <a:t>Wi-Fi Wireless Local Area Network</a:t>
            </a:r>
            <a:br>
              <a:rPr lang="en-GB" sz="4400" dirty="0"/>
            </a:br>
            <a:endParaRPr lang="en-GB" dirty="0"/>
          </a:p>
        </p:txBody>
      </p:sp>
      <p:sp>
        <p:nvSpPr>
          <p:cNvPr id="6" name="Content Placeholder 5">
            <a:extLst>
              <a:ext uri="{FF2B5EF4-FFF2-40B4-BE49-F238E27FC236}">
                <a16:creationId xmlns:a16="http://schemas.microsoft.com/office/drawing/2014/main" id="{11F0DE64-239A-FE1A-BEE0-14897CA897A6}"/>
              </a:ext>
            </a:extLst>
          </p:cNvPr>
          <p:cNvSpPr>
            <a:spLocks noGrp="1"/>
          </p:cNvSpPr>
          <p:nvPr>
            <p:ph idx="1"/>
          </p:nvPr>
        </p:nvSpPr>
        <p:spPr/>
        <p:txBody>
          <a:bodyPr>
            <a:normAutofit fontScale="85000" lnSpcReduction="20000"/>
          </a:bodyPr>
          <a:lstStyle/>
          <a:p>
            <a:pPr algn="ctr"/>
            <a:r>
              <a:rPr lang="en-GB" sz="2800" u="sng" dirty="0"/>
              <a:t>Components</a:t>
            </a:r>
          </a:p>
          <a:p>
            <a:r>
              <a:rPr lang="en-GB" sz="2000" dirty="0"/>
              <a:t>Clients</a:t>
            </a:r>
          </a:p>
          <a:p>
            <a:pPr marL="800100" lvl="1" indent="-342900">
              <a:buFont typeface="Arial" panose="020B0604020202020204" pitchFamily="34" charset="0"/>
              <a:buChar char="•"/>
            </a:pPr>
            <a:r>
              <a:rPr lang="en-GB" sz="2000" dirty="0"/>
              <a:t>Clients are the end point for data</a:t>
            </a:r>
          </a:p>
          <a:p>
            <a:pPr marL="800100" lvl="1" indent="-342900">
              <a:buFont typeface="Arial" panose="020B0604020202020204" pitchFamily="34" charset="0"/>
              <a:buChar char="•"/>
            </a:pPr>
            <a:r>
              <a:rPr lang="en-GB" sz="2000" dirty="0"/>
              <a:t>Wi-Fi does not pass through clients</a:t>
            </a:r>
          </a:p>
          <a:p>
            <a:endParaRPr lang="en-GB" sz="2000" dirty="0"/>
          </a:p>
          <a:p>
            <a:r>
              <a:rPr lang="en-GB" sz="2000" dirty="0"/>
              <a:t>Wi-Fi Client differentiations</a:t>
            </a:r>
          </a:p>
          <a:p>
            <a:pPr lvl="1"/>
            <a:r>
              <a:rPr lang="en-GB" sz="2000" dirty="0"/>
              <a:t>Power source</a:t>
            </a:r>
          </a:p>
          <a:p>
            <a:pPr marL="1257300" lvl="2" indent="-342900">
              <a:buFont typeface="Arial" panose="020B0604020202020204" pitchFamily="34" charset="0"/>
              <a:buChar char="•"/>
            </a:pPr>
            <a:r>
              <a:rPr lang="en-GB" sz="2000" dirty="0"/>
              <a:t>Battery </a:t>
            </a:r>
          </a:p>
          <a:p>
            <a:pPr marL="1257300" lvl="2" indent="-342900">
              <a:buFont typeface="Arial" panose="020B0604020202020204" pitchFamily="34" charset="0"/>
              <a:buChar char="•"/>
            </a:pPr>
            <a:r>
              <a:rPr lang="en-GB" sz="2000" dirty="0"/>
              <a:t>AC</a:t>
            </a:r>
          </a:p>
          <a:p>
            <a:pPr lvl="2"/>
            <a:endParaRPr lang="en-GB" sz="2000" dirty="0"/>
          </a:p>
          <a:p>
            <a:r>
              <a:rPr lang="en-GB" sz="2000" dirty="0"/>
              <a:t>Quantity and types of antennas</a:t>
            </a:r>
          </a:p>
          <a:p>
            <a:pPr marL="800100" lvl="1" indent="-342900">
              <a:buFont typeface="Arial" panose="020B0604020202020204" pitchFamily="34" charset="0"/>
              <a:buChar char="•"/>
            </a:pPr>
            <a:r>
              <a:rPr lang="en-GB" sz="2000" dirty="0"/>
              <a:t>More antennas the faster the data rate</a:t>
            </a:r>
          </a:p>
          <a:p>
            <a:pPr lvl="1"/>
            <a:endParaRPr lang="en-GB" sz="2000" dirty="0"/>
          </a:p>
          <a:p>
            <a:r>
              <a:rPr lang="en-GB" sz="2000" dirty="0"/>
              <a:t>Type of transceivers the client has.</a:t>
            </a:r>
          </a:p>
          <a:p>
            <a:pPr marL="800100" lvl="1" indent="-342900">
              <a:buFont typeface="Arial" panose="020B0604020202020204" pitchFamily="34" charset="0"/>
              <a:buChar char="•"/>
            </a:pPr>
            <a:r>
              <a:rPr lang="en-GB" sz="2000" dirty="0"/>
              <a:t>Hardware that can transmit and receive data</a:t>
            </a:r>
          </a:p>
          <a:p>
            <a:endParaRPr lang="en-GB" dirty="0"/>
          </a:p>
        </p:txBody>
      </p:sp>
    </p:spTree>
    <p:extLst>
      <p:ext uri="{BB962C8B-B14F-4D97-AF65-F5344CB8AC3E}">
        <p14:creationId xmlns:p14="http://schemas.microsoft.com/office/powerpoint/2010/main" val="9950740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8101965" y="1463040"/>
            <a:ext cx="2127264" cy="2137954"/>
          </a:xfrm>
          <a:prstGeom prst="rect">
            <a:avLst/>
          </a:prstGeom>
        </p:spPr>
      </p:pic>
      <p:sp>
        <p:nvSpPr>
          <p:cNvPr id="4" name="Title 3">
            <a:extLst>
              <a:ext uri="{FF2B5EF4-FFF2-40B4-BE49-F238E27FC236}">
                <a16:creationId xmlns:a16="http://schemas.microsoft.com/office/drawing/2014/main" id="{671168FE-BDCA-4921-CD55-CAB34AC5907A}"/>
              </a:ext>
            </a:extLst>
          </p:cNvPr>
          <p:cNvSpPr>
            <a:spLocks noGrp="1"/>
          </p:cNvSpPr>
          <p:nvPr>
            <p:ph type="title"/>
          </p:nvPr>
        </p:nvSpPr>
        <p:spPr/>
        <p:txBody>
          <a:bodyPr/>
          <a:lstStyle/>
          <a:p>
            <a:r>
              <a:rPr lang="en-GB" dirty="0"/>
              <a:t>Wi-Fi Wireless LAN</a:t>
            </a:r>
          </a:p>
        </p:txBody>
      </p:sp>
      <p:sp>
        <p:nvSpPr>
          <p:cNvPr id="6" name="Content Placeholder 5">
            <a:extLst>
              <a:ext uri="{FF2B5EF4-FFF2-40B4-BE49-F238E27FC236}">
                <a16:creationId xmlns:a16="http://schemas.microsoft.com/office/drawing/2014/main" id="{3C0BB73F-B17E-2C4F-465A-B507A20A910E}"/>
              </a:ext>
            </a:extLst>
          </p:cNvPr>
          <p:cNvSpPr>
            <a:spLocks noGrp="1"/>
          </p:cNvSpPr>
          <p:nvPr>
            <p:ph idx="1"/>
          </p:nvPr>
        </p:nvSpPr>
        <p:spPr/>
        <p:txBody>
          <a:bodyPr>
            <a:normAutofit fontScale="85000" lnSpcReduction="20000"/>
          </a:bodyPr>
          <a:lstStyle/>
          <a:p>
            <a:pPr algn="ctr"/>
            <a:r>
              <a:rPr lang="en-GB" sz="2800" u="sng" dirty="0"/>
              <a:t>Components</a:t>
            </a:r>
          </a:p>
          <a:p>
            <a:endParaRPr lang="en-GB" sz="2400" u="sng" dirty="0"/>
          </a:p>
          <a:p>
            <a:r>
              <a:rPr lang="en-GB" sz="2000" u="sng" dirty="0"/>
              <a:t>Access Points(AP’s)</a:t>
            </a:r>
          </a:p>
          <a:p>
            <a:pPr marL="800100" lvl="1" indent="-342900">
              <a:buFont typeface="Arial" panose="020B0604020202020204" pitchFamily="34" charset="0"/>
              <a:buChar char="•"/>
            </a:pPr>
            <a:r>
              <a:rPr lang="en-GB" sz="2000" dirty="0"/>
              <a:t>Consolidation point for Clients</a:t>
            </a:r>
          </a:p>
          <a:p>
            <a:pPr marL="800100" lvl="1" indent="-342900">
              <a:buFont typeface="Arial" panose="020B0604020202020204" pitchFamily="34" charset="0"/>
              <a:buChar char="•"/>
            </a:pPr>
            <a:r>
              <a:rPr lang="en-GB" sz="2000" dirty="0"/>
              <a:t>Creates Wireless Bridges and Wired domains </a:t>
            </a:r>
          </a:p>
          <a:p>
            <a:endParaRPr lang="en-GB" sz="2000" dirty="0"/>
          </a:p>
          <a:p>
            <a:r>
              <a:rPr lang="en-GB" sz="2000" u="sng" dirty="0"/>
              <a:t>AP differentiators</a:t>
            </a:r>
          </a:p>
          <a:p>
            <a:r>
              <a:rPr lang="en-GB" sz="2000" dirty="0"/>
              <a:t>Centrally Managed</a:t>
            </a:r>
          </a:p>
          <a:p>
            <a:pPr marL="800100" lvl="1" indent="-342900">
              <a:buFont typeface="Arial" panose="020B0604020202020204" pitchFamily="34" charset="0"/>
              <a:buChar char="•"/>
            </a:pPr>
            <a:r>
              <a:rPr lang="en-GB" sz="2000" dirty="0"/>
              <a:t>Lightweight centrally managed offering basic configurations</a:t>
            </a:r>
          </a:p>
          <a:p>
            <a:pPr lvl="1"/>
            <a:endParaRPr lang="en-GB" sz="2000" dirty="0"/>
          </a:p>
          <a:p>
            <a:r>
              <a:rPr lang="en-GB" sz="2000" dirty="0"/>
              <a:t>Individually Managed</a:t>
            </a:r>
          </a:p>
          <a:p>
            <a:pPr marL="800100" lvl="1" indent="-342900">
              <a:buFont typeface="Arial" panose="020B0604020202020204" pitchFamily="34" charset="0"/>
              <a:buChar char="•"/>
            </a:pPr>
            <a:r>
              <a:rPr lang="en-GB" sz="2000" dirty="0"/>
              <a:t>Autonomous</a:t>
            </a:r>
          </a:p>
          <a:p>
            <a:pPr marL="800100" lvl="1" indent="-342900">
              <a:buFont typeface="Arial" panose="020B0604020202020204" pitchFamily="34" charset="0"/>
              <a:buChar char="•"/>
            </a:pPr>
            <a:r>
              <a:rPr lang="en-GB" sz="2000" dirty="0"/>
              <a:t>Command line management capabilities</a:t>
            </a:r>
          </a:p>
          <a:p>
            <a:pPr marL="800100" lvl="1" indent="-342900">
              <a:buFont typeface="Arial" panose="020B0604020202020204" pitchFamily="34" charset="0"/>
              <a:buChar char="•"/>
            </a:pPr>
            <a:r>
              <a:rPr lang="en-GB" sz="2000" dirty="0"/>
              <a:t>Quantities and types of receivers (2.4Ghz, 5Ghz)</a:t>
            </a:r>
          </a:p>
          <a:p>
            <a:pPr marL="800100" lvl="1" indent="-342900">
              <a:buFont typeface="Arial" panose="020B0604020202020204" pitchFamily="34" charset="0"/>
              <a:buChar char="•"/>
            </a:pPr>
            <a:r>
              <a:rPr lang="en-GB" sz="2000" dirty="0"/>
              <a:t>Quantities and types of antennas</a:t>
            </a:r>
          </a:p>
          <a:p>
            <a:pPr marL="800100" lvl="1" indent="-342900">
              <a:buFont typeface="Arial" panose="020B0604020202020204" pitchFamily="34" charset="0"/>
              <a:buChar char="•"/>
            </a:pPr>
            <a:endParaRPr lang="en-GB" sz="2000" dirty="0"/>
          </a:p>
          <a:p>
            <a:endParaRPr lang="en-GB" dirty="0"/>
          </a:p>
        </p:txBody>
      </p:sp>
    </p:spTree>
    <p:extLst>
      <p:ext uri="{BB962C8B-B14F-4D97-AF65-F5344CB8AC3E}">
        <p14:creationId xmlns:p14="http://schemas.microsoft.com/office/powerpoint/2010/main" val="22707290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BEBA8EAE-BF5A-486C-A8C5-ECC9F3942E4B}">
                <a14:imgProps xmlns:a14="http://schemas.microsoft.com/office/drawing/2010/main">
                  <a14:imgLayer r:embed="rId3">
                    <a14:imgEffect>
                      <a14:backgroundRemoval t="10000" b="90000" l="723" r="99157"/>
                    </a14:imgEffect>
                  </a14:imgLayer>
                </a14:imgProps>
              </a:ext>
            </a:extLst>
          </a:blip>
          <a:stretch>
            <a:fillRect/>
          </a:stretch>
        </p:blipFill>
        <p:spPr>
          <a:xfrm>
            <a:off x="8414657" y="1479640"/>
            <a:ext cx="1861457" cy="1861457"/>
          </a:xfrm>
          <a:prstGeom prst="rect">
            <a:avLst/>
          </a:prstGeom>
        </p:spPr>
      </p:pic>
      <p:sp>
        <p:nvSpPr>
          <p:cNvPr id="5" name="Title 4">
            <a:extLst>
              <a:ext uri="{FF2B5EF4-FFF2-40B4-BE49-F238E27FC236}">
                <a16:creationId xmlns:a16="http://schemas.microsoft.com/office/drawing/2014/main" id="{A5DFAC83-7304-DEE8-D594-1E6449256EAC}"/>
              </a:ext>
            </a:extLst>
          </p:cNvPr>
          <p:cNvSpPr>
            <a:spLocks noGrp="1"/>
          </p:cNvSpPr>
          <p:nvPr>
            <p:ph type="title"/>
          </p:nvPr>
        </p:nvSpPr>
        <p:spPr/>
        <p:txBody>
          <a:bodyPr/>
          <a:lstStyle/>
          <a:p>
            <a:r>
              <a:rPr lang="en-GB" dirty="0"/>
              <a:t>Wi-Fi Wireless LAN</a:t>
            </a:r>
          </a:p>
        </p:txBody>
      </p:sp>
      <p:sp>
        <p:nvSpPr>
          <p:cNvPr id="6" name="Content Placeholder 5">
            <a:extLst>
              <a:ext uri="{FF2B5EF4-FFF2-40B4-BE49-F238E27FC236}">
                <a16:creationId xmlns:a16="http://schemas.microsoft.com/office/drawing/2014/main" id="{559E816D-D367-D582-FAD0-C3C416984721}"/>
              </a:ext>
            </a:extLst>
          </p:cNvPr>
          <p:cNvSpPr>
            <a:spLocks noGrp="1"/>
          </p:cNvSpPr>
          <p:nvPr>
            <p:ph idx="1"/>
          </p:nvPr>
        </p:nvSpPr>
        <p:spPr/>
        <p:txBody>
          <a:bodyPr/>
          <a:lstStyle/>
          <a:p>
            <a:pPr algn="ctr"/>
            <a:r>
              <a:rPr lang="en-GB" sz="2800" u="sng" dirty="0"/>
              <a:t>Components</a:t>
            </a:r>
          </a:p>
          <a:p>
            <a:r>
              <a:rPr lang="en-GB" sz="2400" u="sng" dirty="0"/>
              <a:t>Controllers</a:t>
            </a:r>
          </a:p>
          <a:p>
            <a:pPr marL="800100" lvl="1" indent="-342900">
              <a:buFont typeface="Arial" panose="020B0604020202020204" pitchFamily="34" charset="0"/>
              <a:buChar char="•"/>
            </a:pPr>
            <a:r>
              <a:rPr lang="en-GB" sz="2000" dirty="0"/>
              <a:t>Central point of management for groups of Access Points</a:t>
            </a:r>
          </a:p>
          <a:p>
            <a:pPr marL="800100" lvl="1" indent="-342900">
              <a:buFont typeface="Arial" panose="020B0604020202020204" pitchFamily="34" charset="0"/>
              <a:buChar char="•"/>
            </a:pPr>
            <a:r>
              <a:rPr lang="en-GB" sz="2000" dirty="0"/>
              <a:t>Control Wi-Fi access for Clients</a:t>
            </a:r>
          </a:p>
          <a:p>
            <a:endParaRPr lang="en-GB" sz="2000" dirty="0"/>
          </a:p>
          <a:p>
            <a:r>
              <a:rPr lang="en-GB" sz="2400" u="sng" dirty="0"/>
              <a:t>The uses of a controller</a:t>
            </a:r>
          </a:p>
          <a:p>
            <a:endParaRPr lang="en-GB" sz="2000" dirty="0"/>
          </a:p>
          <a:p>
            <a:pPr marL="800100" lvl="1" indent="-342900">
              <a:buFont typeface="Arial" panose="020B0604020202020204" pitchFamily="34" charset="0"/>
              <a:buChar char="•"/>
            </a:pPr>
            <a:r>
              <a:rPr lang="en-GB" sz="2000" dirty="0"/>
              <a:t>Discover all IP addresses on the system and to what AP they are connected.</a:t>
            </a:r>
          </a:p>
          <a:p>
            <a:pPr marL="800100" lvl="1" indent="-342900">
              <a:buFont typeface="Arial" panose="020B0604020202020204" pitchFamily="34" charset="0"/>
              <a:buChar char="•"/>
            </a:pPr>
            <a:r>
              <a:rPr lang="en-GB" sz="2000" dirty="0"/>
              <a:t>Ensure that all access points have the same software levels. </a:t>
            </a:r>
          </a:p>
          <a:p>
            <a:pPr marL="800100" lvl="1" indent="-342900">
              <a:buFont typeface="Arial" panose="020B0604020202020204" pitchFamily="34" charset="0"/>
              <a:buChar char="•"/>
            </a:pPr>
            <a:r>
              <a:rPr lang="en-GB" sz="2000" dirty="0"/>
              <a:t>Enforces standard configuration to all AP’s in the system.</a:t>
            </a:r>
          </a:p>
          <a:p>
            <a:pPr marL="800100" lvl="1" indent="-342900">
              <a:buFont typeface="Arial" panose="020B0604020202020204" pitchFamily="34" charset="0"/>
              <a:buChar char="•"/>
            </a:pPr>
            <a:r>
              <a:rPr lang="en-GB" sz="2000" dirty="0"/>
              <a:t>Client permission status and what level they have for the system.(Access Control).</a:t>
            </a:r>
          </a:p>
          <a:p>
            <a:endParaRPr lang="en-GB" sz="2000" dirty="0"/>
          </a:p>
          <a:p>
            <a:endParaRPr lang="en-GB" sz="2000" dirty="0"/>
          </a:p>
          <a:p>
            <a:endParaRPr lang="en-GB" sz="2000" dirty="0"/>
          </a:p>
          <a:p>
            <a:endParaRPr lang="en-GB" dirty="0"/>
          </a:p>
        </p:txBody>
      </p:sp>
    </p:spTree>
    <p:extLst>
      <p:ext uri="{BB962C8B-B14F-4D97-AF65-F5344CB8AC3E}">
        <p14:creationId xmlns:p14="http://schemas.microsoft.com/office/powerpoint/2010/main" val="3224186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874856E-A8C0-998D-CAA4-F7287EAD1EF7}"/>
              </a:ext>
            </a:extLst>
          </p:cNvPr>
          <p:cNvSpPr>
            <a:spLocks noGrp="1"/>
          </p:cNvSpPr>
          <p:nvPr>
            <p:ph type="title"/>
          </p:nvPr>
        </p:nvSpPr>
        <p:spPr/>
        <p:txBody>
          <a:bodyPr/>
          <a:lstStyle/>
          <a:p>
            <a:r>
              <a:rPr lang="en-GB" dirty="0"/>
              <a:t>Wi-Fi Wireless LAN</a:t>
            </a:r>
          </a:p>
        </p:txBody>
      </p:sp>
      <p:sp>
        <p:nvSpPr>
          <p:cNvPr id="5" name="Content Placeholder 4">
            <a:extLst>
              <a:ext uri="{FF2B5EF4-FFF2-40B4-BE49-F238E27FC236}">
                <a16:creationId xmlns:a16="http://schemas.microsoft.com/office/drawing/2014/main" id="{DCAAEB56-9B57-8506-2E4D-7993FA43D000}"/>
              </a:ext>
            </a:extLst>
          </p:cNvPr>
          <p:cNvSpPr>
            <a:spLocks noGrp="1"/>
          </p:cNvSpPr>
          <p:nvPr>
            <p:ph idx="1"/>
          </p:nvPr>
        </p:nvSpPr>
        <p:spPr/>
        <p:txBody>
          <a:bodyPr>
            <a:normAutofit fontScale="92500" lnSpcReduction="10000"/>
          </a:bodyPr>
          <a:lstStyle/>
          <a:p>
            <a:pPr algn="ctr"/>
            <a:r>
              <a:rPr lang="en-GB" sz="2400" u="sng" dirty="0"/>
              <a:t>Types of Wi-Fi Networks</a:t>
            </a:r>
            <a:endParaRPr lang="en-GB" sz="2000" u="sng" dirty="0"/>
          </a:p>
          <a:p>
            <a:r>
              <a:rPr lang="en-GB" sz="2000" u="sng" dirty="0"/>
              <a:t>AD-Hoc</a:t>
            </a:r>
          </a:p>
          <a:p>
            <a:pPr marL="800100" lvl="1" indent="-342900">
              <a:buFont typeface="Arial" panose="020B0604020202020204" pitchFamily="34" charset="0"/>
              <a:buChar char="•"/>
            </a:pPr>
            <a:r>
              <a:rPr lang="en-GB" dirty="0"/>
              <a:t>Wi-Fi Clients communicate directly, point-to-point.</a:t>
            </a:r>
          </a:p>
          <a:p>
            <a:pPr marL="800100" lvl="1" indent="-342900">
              <a:buFont typeface="Arial" panose="020B0604020202020204" pitchFamily="34" charset="0"/>
              <a:buChar char="•"/>
            </a:pPr>
            <a:r>
              <a:rPr lang="en-GB" dirty="0"/>
              <a:t>No access points involved</a:t>
            </a:r>
          </a:p>
          <a:p>
            <a:pPr marL="800100" lvl="1" indent="-342900">
              <a:buFont typeface="Arial" panose="020B0604020202020204" pitchFamily="34" charset="0"/>
              <a:buChar char="•"/>
            </a:pPr>
            <a:r>
              <a:rPr lang="en-GB" dirty="0"/>
              <a:t>Infrequently used</a:t>
            </a:r>
          </a:p>
          <a:p>
            <a:endParaRPr lang="en-GB" sz="2000" dirty="0"/>
          </a:p>
          <a:p>
            <a:pPr lvl="0" fontAlgn="base">
              <a:spcBef>
                <a:spcPct val="0"/>
              </a:spcBef>
              <a:spcAft>
                <a:spcPct val="0"/>
              </a:spcAft>
            </a:pPr>
            <a:r>
              <a:rPr lang="en-GB" altLang="en-US" sz="2000" u="sng" dirty="0"/>
              <a:t>No network infrastructure available</a:t>
            </a:r>
          </a:p>
          <a:p>
            <a:pPr lvl="1" fontAlgn="base">
              <a:spcBef>
                <a:spcPct val="0"/>
              </a:spcBef>
              <a:spcAft>
                <a:spcPct val="0"/>
              </a:spcAft>
              <a:buFont typeface="Wingdings" panose="05000000000000000000" pitchFamily="2" charset="2"/>
              <a:buChar char="ü"/>
            </a:pPr>
            <a:r>
              <a:rPr lang="en-GB" altLang="en-US" sz="2000" dirty="0"/>
              <a:t> </a:t>
            </a:r>
            <a:r>
              <a:rPr lang="en-GB" altLang="en-US" sz="2200" dirty="0"/>
              <a:t>Remote area</a:t>
            </a:r>
          </a:p>
          <a:p>
            <a:pPr lvl="1" fontAlgn="base">
              <a:spcBef>
                <a:spcPct val="0"/>
              </a:spcBef>
              <a:spcAft>
                <a:spcPct val="0"/>
              </a:spcAft>
              <a:buFont typeface="Wingdings" panose="05000000000000000000" pitchFamily="2" charset="2"/>
              <a:buChar char="ü"/>
            </a:pPr>
            <a:endParaRPr lang="en-GB" altLang="en-US" sz="2200" dirty="0"/>
          </a:p>
          <a:p>
            <a:pPr lvl="1" fontAlgn="base">
              <a:spcBef>
                <a:spcPct val="0"/>
              </a:spcBef>
              <a:spcAft>
                <a:spcPct val="0"/>
              </a:spcAft>
              <a:buFont typeface="Wingdings" panose="05000000000000000000" pitchFamily="2" charset="2"/>
              <a:buChar char="ü"/>
            </a:pPr>
            <a:r>
              <a:rPr lang="en-GB" altLang="en-US" sz="2200" dirty="0">
                <a:solidFill>
                  <a:srgbClr val="000000"/>
                </a:solidFill>
                <a:cs typeface="Arial" panose="020B0604020202020204" pitchFamily="34" charset="0"/>
              </a:rPr>
              <a:t> </a:t>
            </a:r>
            <a:r>
              <a:rPr lang="en-GB" altLang="en-US" sz="2200" dirty="0"/>
              <a:t>Military</a:t>
            </a:r>
            <a:r>
              <a:rPr lang="en-GB" altLang="en-US" sz="2200" dirty="0">
                <a:solidFill>
                  <a:srgbClr val="0066FF"/>
                </a:solidFill>
                <a:cs typeface="Arial" panose="020B0604020202020204" pitchFamily="34" charset="0"/>
              </a:rPr>
              <a:t> </a:t>
            </a:r>
            <a:r>
              <a:rPr lang="en-GB" altLang="en-US" sz="2200" dirty="0">
                <a:solidFill>
                  <a:srgbClr val="000000"/>
                </a:solidFill>
                <a:cs typeface="Arial" panose="020B0604020202020204" pitchFamily="34" charset="0"/>
              </a:rPr>
              <a:t>battle field where the </a:t>
            </a:r>
            <a:r>
              <a:rPr lang="en-GB" altLang="en-US" sz="2200" dirty="0"/>
              <a:t>infrastructure</a:t>
            </a:r>
            <a:r>
              <a:rPr lang="en-GB" altLang="en-US" sz="2200" dirty="0">
                <a:solidFill>
                  <a:srgbClr val="000000"/>
                </a:solidFill>
                <a:cs typeface="Arial" panose="020B0604020202020204" pitchFamily="34" charset="0"/>
              </a:rPr>
              <a:t> has been destroyed or become insecure </a:t>
            </a:r>
          </a:p>
          <a:p>
            <a:pPr lvl="1" fontAlgn="base">
              <a:spcBef>
                <a:spcPct val="0"/>
              </a:spcBef>
              <a:spcAft>
                <a:spcPct val="0"/>
              </a:spcAft>
              <a:buFont typeface="Wingdings" panose="05000000000000000000" pitchFamily="2" charset="2"/>
              <a:buChar char="ü"/>
            </a:pPr>
            <a:endParaRPr lang="en-GB" altLang="en-US" sz="2200" dirty="0">
              <a:solidFill>
                <a:srgbClr val="000000"/>
              </a:solidFill>
              <a:cs typeface="Arial" panose="020B0604020202020204" pitchFamily="34" charset="0"/>
            </a:endParaRPr>
          </a:p>
          <a:p>
            <a:pPr lvl="1" fontAlgn="base">
              <a:spcBef>
                <a:spcPct val="0"/>
              </a:spcBef>
              <a:spcAft>
                <a:spcPct val="0"/>
              </a:spcAft>
              <a:buFont typeface="Wingdings" panose="05000000000000000000" pitchFamily="2" charset="2"/>
              <a:buChar char="ü"/>
            </a:pPr>
            <a:r>
              <a:rPr lang="en-GB" altLang="en-US" sz="2200" dirty="0">
                <a:solidFill>
                  <a:srgbClr val="000000"/>
                </a:solidFill>
                <a:cs typeface="Arial" panose="020B0604020202020204" pitchFamily="34" charset="0"/>
              </a:rPr>
              <a:t> </a:t>
            </a:r>
            <a:r>
              <a:rPr lang="en-GB" altLang="en-US" sz="2200" dirty="0"/>
              <a:t>Emergency</a:t>
            </a:r>
            <a:r>
              <a:rPr lang="en-GB" altLang="en-US" sz="2200" dirty="0">
                <a:solidFill>
                  <a:srgbClr val="000000"/>
                </a:solidFill>
                <a:cs typeface="Arial" panose="020B0604020202020204" pitchFamily="34" charset="0"/>
              </a:rPr>
              <a:t>: “When properly combined with </a:t>
            </a:r>
            <a:r>
              <a:rPr lang="en-GB" altLang="en-US" sz="2200" dirty="0"/>
              <a:t>satellite-based</a:t>
            </a:r>
            <a:r>
              <a:rPr lang="en-GB" altLang="en-US" sz="2200" dirty="0">
                <a:solidFill>
                  <a:srgbClr val="000000"/>
                </a:solidFill>
                <a:cs typeface="Arial" panose="020B0604020202020204" pitchFamily="34" charset="0"/>
              </a:rPr>
              <a:t> information delivery, MANET technology can provide an extremely flexible method for establishing communications for </a:t>
            </a:r>
            <a:r>
              <a:rPr lang="en-GB" altLang="en-US" sz="2200" dirty="0"/>
              <a:t>fire/safety/rescue operations </a:t>
            </a:r>
            <a:r>
              <a:rPr lang="en-GB" altLang="en-US" sz="2200" dirty="0">
                <a:solidFill>
                  <a:srgbClr val="000000"/>
                </a:solidFill>
                <a:cs typeface="Arial" panose="020B0604020202020204" pitchFamily="34" charset="0"/>
              </a:rPr>
              <a:t>or other scenarios requiring rapidly-deployable communications with survivable, efficient dynamic networking” (RFC 2501)</a:t>
            </a:r>
          </a:p>
          <a:p>
            <a:endParaRPr lang="en-GB" dirty="0"/>
          </a:p>
        </p:txBody>
      </p:sp>
    </p:spTree>
    <p:extLst>
      <p:ext uri="{BB962C8B-B14F-4D97-AF65-F5344CB8AC3E}">
        <p14:creationId xmlns:p14="http://schemas.microsoft.com/office/powerpoint/2010/main" val="17471811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duotone>
              <a:prstClr val="black"/>
              <a:schemeClr val="accent3">
                <a:tint val="45000"/>
                <a:satMod val="400000"/>
              </a:schemeClr>
            </a:duotone>
          </a:blip>
          <a:stretch>
            <a:fillRect/>
          </a:stretch>
        </p:blipFill>
        <p:spPr>
          <a:xfrm>
            <a:off x="7208656" y="2858075"/>
            <a:ext cx="4002269" cy="2745482"/>
          </a:xfrm>
          <a:prstGeom prst="rect">
            <a:avLst/>
          </a:prstGeom>
        </p:spPr>
      </p:pic>
      <p:sp>
        <p:nvSpPr>
          <p:cNvPr id="6" name="Title 5">
            <a:extLst>
              <a:ext uri="{FF2B5EF4-FFF2-40B4-BE49-F238E27FC236}">
                <a16:creationId xmlns:a16="http://schemas.microsoft.com/office/drawing/2014/main" id="{D764ECC0-703C-87C8-31D6-1A76BC5910CD}"/>
              </a:ext>
            </a:extLst>
          </p:cNvPr>
          <p:cNvSpPr>
            <a:spLocks noGrp="1"/>
          </p:cNvSpPr>
          <p:nvPr>
            <p:ph type="title"/>
          </p:nvPr>
        </p:nvSpPr>
        <p:spPr/>
        <p:txBody>
          <a:bodyPr/>
          <a:lstStyle/>
          <a:p>
            <a:r>
              <a:rPr lang="en-GB" dirty="0"/>
              <a:t>Wi-Fi Wireless LAN</a:t>
            </a:r>
          </a:p>
        </p:txBody>
      </p:sp>
      <p:sp>
        <p:nvSpPr>
          <p:cNvPr id="7" name="Content Placeholder 6">
            <a:extLst>
              <a:ext uri="{FF2B5EF4-FFF2-40B4-BE49-F238E27FC236}">
                <a16:creationId xmlns:a16="http://schemas.microsoft.com/office/drawing/2014/main" id="{51D8D5F7-652D-90B6-9F09-28CA46331563}"/>
              </a:ext>
            </a:extLst>
          </p:cNvPr>
          <p:cNvSpPr>
            <a:spLocks noGrp="1"/>
          </p:cNvSpPr>
          <p:nvPr>
            <p:ph idx="1"/>
          </p:nvPr>
        </p:nvSpPr>
        <p:spPr>
          <a:xfrm>
            <a:off x="838200" y="1825626"/>
            <a:ext cx="6260184" cy="4103834"/>
          </a:xfrm>
        </p:spPr>
        <p:txBody>
          <a:bodyPr>
            <a:normAutofit fontScale="92500" lnSpcReduction="20000"/>
          </a:bodyPr>
          <a:lstStyle/>
          <a:p>
            <a:pPr algn="ctr"/>
            <a:r>
              <a:rPr lang="en-GB" dirty="0"/>
              <a:t>Types of Wi-Fi Networks</a:t>
            </a:r>
          </a:p>
          <a:p>
            <a:r>
              <a:rPr lang="en-GB" dirty="0"/>
              <a:t>Infrastructure</a:t>
            </a:r>
          </a:p>
          <a:p>
            <a:r>
              <a:rPr lang="en-GB" sz="2400" dirty="0"/>
              <a:t>Integration of an Access Point to co-ordinate Wi-Fi usage among multiple Clients</a:t>
            </a:r>
          </a:p>
          <a:p>
            <a:r>
              <a:rPr lang="en-GB" sz="2400" dirty="0"/>
              <a:t>In Infrastructure mode, an AP is connected to a wired infrastructure (such as Ethernet) and all of the wireless devices communicate with the AP. Even if two wireless devices are located right next to each other, all communication between the devices occurs through an AP. </a:t>
            </a:r>
          </a:p>
          <a:p>
            <a:r>
              <a:rPr lang="en-GB" sz="2400" dirty="0"/>
              <a:t>When using Infrastructure mode, a collection of wireless devices connected to an AP is referred to as a Basic Service Set (BSS).</a:t>
            </a:r>
          </a:p>
          <a:p>
            <a:endParaRPr lang="en-GB" sz="2400"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p:txBody>
      </p:sp>
    </p:spTree>
    <p:extLst>
      <p:ext uri="{BB962C8B-B14F-4D97-AF65-F5344CB8AC3E}">
        <p14:creationId xmlns:p14="http://schemas.microsoft.com/office/powerpoint/2010/main" val="9956659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8062344" y="2128527"/>
            <a:ext cx="3642252" cy="2847703"/>
          </a:xfrm>
          <a:prstGeom prst="rect">
            <a:avLst/>
          </a:prstGeom>
        </p:spPr>
      </p:pic>
      <p:sp>
        <p:nvSpPr>
          <p:cNvPr id="5" name="Title 4">
            <a:extLst>
              <a:ext uri="{FF2B5EF4-FFF2-40B4-BE49-F238E27FC236}">
                <a16:creationId xmlns:a16="http://schemas.microsoft.com/office/drawing/2014/main" id="{01DC932A-54BA-DE3F-909E-08BD1AE4EB26}"/>
              </a:ext>
            </a:extLst>
          </p:cNvPr>
          <p:cNvSpPr>
            <a:spLocks noGrp="1"/>
          </p:cNvSpPr>
          <p:nvPr>
            <p:ph type="title"/>
          </p:nvPr>
        </p:nvSpPr>
        <p:spPr/>
        <p:txBody>
          <a:bodyPr/>
          <a:lstStyle/>
          <a:p>
            <a:r>
              <a:rPr lang="en-GB" dirty="0"/>
              <a:t>Wi-Fi Wireless LAN</a:t>
            </a:r>
          </a:p>
        </p:txBody>
      </p:sp>
      <p:sp>
        <p:nvSpPr>
          <p:cNvPr id="6" name="Content Placeholder 5">
            <a:extLst>
              <a:ext uri="{FF2B5EF4-FFF2-40B4-BE49-F238E27FC236}">
                <a16:creationId xmlns:a16="http://schemas.microsoft.com/office/drawing/2014/main" id="{45874C54-4882-0468-41A5-E88D7AC4DD42}"/>
              </a:ext>
            </a:extLst>
          </p:cNvPr>
          <p:cNvSpPr>
            <a:spLocks noGrp="1"/>
          </p:cNvSpPr>
          <p:nvPr>
            <p:ph idx="1"/>
          </p:nvPr>
        </p:nvSpPr>
        <p:spPr/>
        <p:txBody>
          <a:bodyPr>
            <a:normAutofit lnSpcReduction="10000"/>
          </a:bodyPr>
          <a:lstStyle/>
          <a:p>
            <a:pPr algn="ctr"/>
            <a:r>
              <a:rPr lang="en-GB" sz="3200" u="sng" dirty="0"/>
              <a:t>Types of Wi-Fi Networks</a:t>
            </a:r>
            <a:endParaRPr lang="en-GB" sz="2800" u="sng" dirty="0"/>
          </a:p>
          <a:p>
            <a:r>
              <a:rPr lang="en-GB" sz="2100" u="sng" dirty="0"/>
              <a:t>Mesh</a:t>
            </a:r>
          </a:p>
          <a:p>
            <a:pPr lvl="1"/>
            <a:r>
              <a:rPr lang="en-GB" sz="2100" dirty="0"/>
              <a:t>Access points are daisy changed together</a:t>
            </a:r>
          </a:p>
          <a:p>
            <a:pPr lvl="1"/>
            <a:r>
              <a:rPr lang="en-GB" sz="2100" dirty="0"/>
              <a:t>Clients connect to one point at a time</a:t>
            </a:r>
          </a:p>
          <a:p>
            <a:pPr lvl="1"/>
            <a:r>
              <a:rPr lang="en-GB" sz="2100" dirty="0"/>
              <a:t>Clients data is relayed from one AP to another until it reaches </a:t>
            </a:r>
            <a:br>
              <a:rPr lang="en-GB" sz="2100" dirty="0"/>
            </a:br>
            <a:r>
              <a:rPr lang="en-GB" sz="2100" dirty="0"/>
              <a:t>a wired network to continue its determined path</a:t>
            </a:r>
          </a:p>
          <a:p>
            <a:endParaRPr lang="en-GB" sz="2100" u="sng" dirty="0"/>
          </a:p>
          <a:p>
            <a:r>
              <a:rPr lang="en-GB" sz="2100" u="sng" dirty="0"/>
              <a:t>When is Mesh utilised</a:t>
            </a:r>
          </a:p>
          <a:p>
            <a:pPr marL="800100" lvl="1" indent="-342900"/>
            <a:r>
              <a:rPr lang="en-GB" sz="2100" dirty="0"/>
              <a:t>Outdoor environments</a:t>
            </a:r>
          </a:p>
          <a:p>
            <a:pPr marL="800100" lvl="1" indent="-342900"/>
            <a:r>
              <a:rPr lang="en-GB" sz="2100" dirty="0"/>
              <a:t>Geographical areas where there is a lack of wired Ethernet connectivity</a:t>
            </a:r>
          </a:p>
          <a:p>
            <a:pPr marL="800100" lvl="1" indent="-342900"/>
            <a:r>
              <a:rPr lang="en-GB" sz="2100" dirty="0"/>
              <a:t>A true mesh is a network with more than three nodes having a connection schema that can process a communication link through more than two hops.</a:t>
            </a:r>
          </a:p>
          <a:p>
            <a:endParaRPr lang="en-GB" sz="2800" dirty="0"/>
          </a:p>
          <a:p>
            <a:endParaRPr lang="en-GB" dirty="0"/>
          </a:p>
        </p:txBody>
      </p:sp>
    </p:spTree>
    <p:extLst>
      <p:ext uri="{BB962C8B-B14F-4D97-AF65-F5344CB8AC3E}">
        <p14:creationId xmlns:p14="http://schemas.microsoft.com/office/powerpoint/2010/main" val="34461409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8305662" y="1732061"/>
            <a:ext cx="2199190" cy="1477992"/>
          </a:xfrm>
          <a:prstGeom prst="rect">
            <a:avLst/>
          </a:prstGeom>
        </p:spPr>
      </p:pic>
      <p:pic>
        <p:nvPicPr>
          <p:cNvPr id="5" name="Picture 4"/>
          <p:cNvPicPr>
            <a:picLocks noChangeAspect="1"/>
          </p:cNvPicPr>
          <p:nvPr/>
        </p:nvPicPr>
        <p:blipFill rotWithShape="1">
          <a:blip r:embed="rId3"/>
          <a:srcRect r="18054" b="29924"/>
          <a:stretch/>
        </p:blipFill>
        <p:spPr>
          <a:xfrm>
            <a:off x="5862427" y="3713900"/>
            <a:ext cx="4642425" cy="1487896"/>
          </a:xfrm>
          <a:prstGeom prst="rect">
            <a:avLst/>
          </a:prstGeom>
        </p:spPr>
      </p:pic>
      <p:pic>
        <p:nvPicPr>
          <p:cNvPr id="8" name="Picture 7"/>
          <p:cNvPicPr>
            <a:picLocks noChangeAspect="1"/>
          </p:cNvPicPr>
          <p:nvPr/>
        </p:nvPicPr>
        <p:blipFill rotWithShape="1">
          <a:blip r:embed="rId4"/>
          <a:srcRect b="42381"/>
          <a:stretch/>
        </p:blipFill>
        <p:spPr>
          <a:xfrm>
            <a:off x="8047402" y="5426393"/>
            <a:ext cx="2457450" cy="1070202"/>
          </a:xfrm>
          <a:prstGeom prst="rect">
            <a:avLst/>
          </a:prstGeom>
        </p:spPr>
      </p:pic>
      <p:sp>
        <p:nvSpPr>
          <p:cNvPr id="6" name="Title 5">
            <a:extLst>
              <a:ext uri="{FF2B5EF4-FFF2-40B4-BE49-F238E27FC236}">
                <a16:creationId xmlns:a16="http://schemas.microsoft.com/office/drawing/2014/main" id="{BD916A62-C4B6-819B-D7BF-F3E55F97B6A2}"/>
              </a:ext>
            </a:extLst>
          </p:cNvPr>
          <p:cNvSpPr>
            <a:spLocks noGrp="1"/>
          </p:cNvSpPr>
          <p:nvPr>
            <p:ph type="title"/>
          </p:nvPr>
        </p:nvSpPr>
        <p:spPr/>
        <p:txBody>
          <a:bodyPr/>
          <a:lstStyle/>
          <a:p>
            <a:r>
              <a:rPr lang="en-GB" dirty="0"/>
              <a:t>Wi-Fi Definitions</a:t>
            </a:r>
          </a:p>
        </p:txBody>
      </p:sp>
      <p:sp>
        <p:nvSpPr>
          <p:cNvPr id="9" name="Content Placeholder 8">
            <a:extLst>
              <a:ext uri="{FF2B5EF4-FFF2-40B4-BE49-F238E27FC236}">
                <a16:creationId xmlns:a16="http://schemas.microsoft.com/office/drawing/2014/main" id="{8B19E626-A318-944A-7598-09DEC2975838}"/>
              </a:ext>
            </a:extLst>
          </p:cNvPr>
          <p:cNvSpPr>
            <a:spLocks noGrp="1"/>
          </p:cNvSpPr>
          <p:nvPr>
            <p:ph idx="1"/>
          </p:nvPr>
        </p:nvSpPr>
        <p:spPr>
          <a:xfrm>
            <a:off x="838200" y="1825624"/>
            <a:ext cx="10515600" cy="4320651"/>
          </a:xfrm>
        </p:spPr>
        <p:txBody>
          <a:bodyPr>
            <a:noAutofit/>
          </a:bodyPr>
          <a:lstStyle/>
          <a:p>
            <a:r>
              <a:rPr lang="en-GB" sz="1800" dirty="0"/>
              <a:t>BSS</a:t>
            </a:r>
          </a:p>
          <a:p>
            <a:pPr lvl="1"/>
            <a:r>
              <a:rPr lang="en-GB" sz="1400" u="sng" dirty="0"/>
              <a:t>Basis Service Set a single access point and its coverage area</a:t>
            </a:r>
          </a:p>
          <a:p>
            <a:pPr lvl="1"/>
            <a:r>
              <a:rPr lang="en-GB" sz="1400" dirty="0"/>
              <a:t>Radio networks generally posses a cellular structure, larger networks are subdivided into </a:t>
            </a:r>
            <a:br>
              <a:rPr lang="en-GB" sz="1400" dirty="0"/>
            </a:br>
            <a:r>
              <a:rPr lang="en-GB" sz="1400" dirty="0"/>
              <a:t>discrete radio cells. A cell corresponds to the area covered by the range of the radio </a:t>
            </a:r>
            <a:br>
              <a:rPr lang="en-GB" sz="1400" dirty="0"/>
            </a:br>
            <a:r>
              <a:rPr lang="en-GB" sz="1400" dirty="0"/>
              <a:t>signals of a particular sender.  These ranges again depend on the antennas employed.</a:t>
            </a:r>
          </a:p>
          <a:p>
            <a:r>
              <a:rPr lang="en-GB" sz="1800" dirty="0"/>
              <a:t>BSSID</a:t>
            </a:r>
          </a:p>
          <a:p>
            <a:pPr lvl="1"/>
            <a:r>
              <a:rPr lang="en-GB" sz="1400" dirty="0"/>
              <a:t>ID MAC address of the access point, constant </a:t>
            </a:r>
            <a:br>
              <a:rPr lang="en-GB" sz="1400" dirty="0"/>
            </a:br>
            <a:r>
              <a:rPr lang="en-GB" sz="1400" dirty="0"/>
              <a:t>Wi-Fi messages announcing the AP’s </a:t>
            </a:r>
            <a:br>
              <a:rPr lang="en-GB" sz="1400" dirty="0"/>
            </a:br>
            <a:r>
              <a:rPr lang="en-GB" sz="1400" dirty="0"/>
              <a:t>MAC address.</a:t>
            </a:r>
          </a:p>
          <a:p>
            <a:r>
              <a:rPr lang="en-GB" sz="1800" dirty="0"/>
              <a:t>SSID</a:t>
            </a:r>
          </a:p>
          <a:p>
            <a:pPr lvl="1"/>
            <a:r>
              <a:rPr lang="en-GB" sz="1400" dirty="0"/>
              <a:t>Service Set Identifier</a:t>
            </a:r>
          </a:p>
          <a:p>
            <a:pPr lvl="1"/>
            <a:r>
              <a:rPr lang="en-GB" sz="1400" dirty="0"/>
              <a:t>Configurable name of the WLAN</a:t>
            </a:r>
          </a:p>
          <a:p>
            <a:endParaRPr lang="en-GB" sz="1800" dirty="0"/>
          </a:p>
        </p:txBody>
      </p:sp>
    </p:spTree>
    <p:extLst>
      <p:ext uri="{BB962C8B-B14F-4D97-AF65-F5344CB8AC3E}">
        <p14:creationId xmlns:p14="http://schemas.microsoft.com/office/powerpoint/2010/main" val="17529807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EA847F-8F4E-ACFE-6347-04F6A2B1E583}"/>
              </a:ext>
            </a:extLst>
          </p:cNvPr>
          <p:cNvSpPr>
            <a:spLocks noGrp="1"/>
          </p:cNvSpPr>
          <p:nvPr>
            <p:ph type="title"/>
          </p:nvPr>
        </p:nvSpPr>
        <p:spPr/>
        <p:txBody>
          <a:bodyPr/>
          <a:lstStyle/>
          <a:p>
            <a:r>
              <a:rPr lang="en-GB" dirty="0"/>
              <a:t>Wi-Fi Definitions</a:t>
            </a:r>
          </a:p>
        </p:txBody>
      </p:sp>
      <p:sp>
        <p:nvSpPr>
          <p:cNvPr id="5" name="Content Placeholder 4">
            <a:extLst>
              <a:ext uri="{FF2B5EF4-FFF2-40B4-BE49-F238E27FC236}">
                <a16:creationId xmlns:a16="http://schemas.microsoft.com/office/drawing/2014/main" id="{CDD1B8AE-69B2-15A4-228E-5BDA6FDC83F5}"/>
              </a:ext>
            </a:extLst>
          </p:cNvPr>
          <p:cNvSpPr>
            <a:spLocks noGrp="1"/>
          </p:cNvSpPr>
          <p:nvPr>
            <p:ph idx="1"/>
          </p:nvPr>
        </p:nvSpPr>
        <p:spPr/>
        <p:txBody>
          <a:bodyPr>
            <a:normAutofit fontScale="70000" lnSpcReduction="20000"/>
          </a:bodyPr>
          <a:lstStyle/>
          <a:p>
            <a:pPr>
              <a:buFontTx/>
              <a:buNone/>
            </a:pPr>
            <a:r>
              <a:rPr lang="en-US" altLang="en-US" sz="3600" u="sng" dirty="0"/>
              <a:t>Service Set Identifier (SSID):</a:t>
            </a:r>
            <a:endParaRPr lang="en-US" altLang="en-US" sz="3600" dirty="0"/>
          </a:p>
          <a:p>
            <a:r>
              <a:rPr lang="en-US" altLang="en-US" sz="2800" dirty="0"/>
              <a:t>Network name </a:t>
            </a:r>
            <a:endParaRPr lang="en-US" altLang="en-US" sz="800" dirty="0"/>
          </a:p>
          <a:p>
            <a:r>
              <a:rPr lang="en-US" altLang="en-US" sz="2800" dirty="0"/>
              <a:t>32 octets long</a:t>
            </a:r>
            <a:endParaRPr lang="en-US" altLang="en-US" sz="800" dirty="0"/>
          </a:p>
          <a:p>
            <a:r>
              <a:rPr lang="en-US" altLang="en-US" sz="2800" dirty="0"/>
              <a:t>One network (ESS or </a:t>
            </a:r>
            <a:r>
              <a:rPr lang="en-GB" altLang="en-US" sz="2800" dirty="0"/>
              <a:t>Independent Basic Service Set (IBSS)</a:t>
            </a:r>
            <a:r>
              <a:rPr lang="en-US" altLang="en-US" sz="2800" dirty="0"/>
              <a:t>) has one SSID</a:t>
            </a:r>
          </a:p>
          <a:p>
            <a:r>
              <a:rPr lang="en-GB" altLang="en-US" sz="2800" dirty="0"/>
              <a:t>There are two possible ways for the client to know the SSID of the network. Either the SSID is told to the client by the AP (often called Open Network mode), or the SSID must be known by the client via some other method, such as being pre-programmed into the client device by the system administrator (often called Closed Network mode).</a:t>
            </a:r>
            <a:endParaRPr lang="en-US" altLang="en-US" sz="2800" dirty="0"/>
          </a:p>
          <a:p>
            <a:pPr>
              <a:buFontTx/>
              <a:buNone/>
            </a:pPr>
            <a:r>
              <a:rPr lang="en-US" altLang="en-US" sz="3600" u="sng" dirty="0"/>
              <a:t>Basic Service Set Identifier (BSSID)</a:t>
            </a:r>
            <a:endParaRPr lang="en-US" altLang="en-US" sz="800" dirty="0"/>
          </a:p>
          <a:p>
            <a:r>
              <a:rPr lang="en-US" altLang="en-US" sz="3200" dirty="0"/>
              <a:t>“cell identifier”</a:t>
            </a:r>
          </a:p>
          <a:p>
            <a:r>
              <a:rPr lang="en-US" altLang="en-US" sz="3200" dirty="0"/>
              <a:t>6 octets long (MAC address format)</a:t>
            </a:r>
          </a:p>
          <a:p>
            <a:r>
              <a:rPr lang="en-US" altLang="en-US" sz="3200" dirty="0"/>
              <a:t>One BSS has one SSID </a:t>
            </a:r>
          </a:p>
          <a:p>
            <a:r>
              <a:rPr lang="en-US" altLang="en-US" sz="3200" dirty="0"/>
              <a:t>Value of BSSID is the same as the MAC address of the radio in the Access-Point</a:t>
            </a:r>
          </a:p>
          <a:p>
            <a:endParaRPr lang="en-GB" dirty="0"/>
          </a:p>
        </p:txBody>
      </p:sp>
    </p:spTree>
    <p:extLst>
      <p:ext uri="{BB962C8B-B14F-4D97-AF65-F5344CB8AC3E}">
        <p14:creationId xmlns:p14="http://schemas.microsoft.com/office/powerpoint/2010/main" val="10986652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499440" y="501564"/>
            <a:ext cx="6907367" cy="3353091"/>
          </a:xfrm>
          <a:prstGeom prst="rect">
            <a:avLst/>
          </a:prstGeom>
        </p:spPr>
      </p:pic>
      <p:sp>
        <p:nvSpPr>
          <p:cNvPr id="6" name="Content Placeholder 5">
            <a:extLst>
              <a:ext uri="{FF2B5EF4-FFF2-40B4-BE49-F238E27FC236}">
                <a16:creationId xmlns:a16="http://schemas.microsoft.com/office/drawing/2014/main" id="{A2F459CB-30A4-9B05-DF88-0E9F0546C85C}"/>
              </a:ext>
            </a:extLst>
          </p:cNvPr>
          <p:cNvSpPr>
            <a:spLocks noGrp="1"/>
          </p:cNvSpPr>
          <p:nvPr>
            <p:ph idx="1"/>
          </p:nvPr>
        </p:nvSpPr>
        <p:spPr/>
        <p:txBody>
          <a:bodyPr/>
          <a:lstStyle/>
          <a:p>
            <a:pPr lvl="0" fontAlgn="base">
              <a:lnSpc>
                <a:spcPct val="90000"/>
              </a:lnSpc>
              <a:spcBef>
                <a:spcPct val="20000"/>
              </a:spcBef>
              <a:spcAft>
                <a:spcPct val="0"/>
              </a:spcAft>
            </a:pPr>
            <a:endParaRPr lang="en-US" altLang="en-US" sz="2000" kern="0" dirty="0">
              <a:latin typeface="Arial"/>
            </a:endParaRPr>
          </a:p>
          <a:p>
            <a:pPr lvl="0" fontAlgn="base">
              <a:lnSpc>
                <a:spcPct val="90000"/>
              </a:lnSpc>
              <a:spcBef>
                <a:spcPct val="20000"/>
              </a:spcBef>
              <a:spcAft>
                <a:spcPct val="0"/>
              </a:spcAft>
            </a:pPr>
            <a:endParaRPr lang="en-US" altLang="en-US" sz="2000" kern="0" dirty="0">
              <a:latin typeface="Arial"/>
            </a:endParaRPr>
          </a:p>
          <a:p>
            <a:pPr lvl="0" fontAlgn="base">
              <a:lnSpc>
                <a:spcPct val="90000"/>
              </a:lnSpc>
              <a:spcBef>
                <a:spcPct val="20000"/>
              </a:spcBef>
              <a:spcAft>
                <a:spcPct val="0"/>
              </a:spcAft>
            </a:pPr>
            <a:endParaRPr lang="en-US" altLang="en-US" sz="2000" kern="0" dirty="0">
              <a:latin typeface="Arial"/>
            </a:endParaRPr>
          </a:p>
          <a:p>
            <a:pPr lvl="0" fontAlgn="base">
              <a:lnSpc>
                <a:spcPct val="90000"/>
              </a:lnSpc>
              <a:spcBef>
                <a:spcPct val="20000"/>
              </a:spcBef>
              <a:spcAft>
                <a:spcPct val="0"/>
              </a:spcAft>
            </a:pPr>
            <a:endParaRPr lang="en-US" altLang="en-US" sz="2000" kern="0" dirty="0">
              <a:latin typeface="Arial"/>
            </a:endParaRPr>
          </a:p>
          <a:p>
            <a:pPr lvl="0" fontAlgn="base">
              <a:lnSpc>
                <a:spcPct val="90000"/>
              </a:lnSpc>
              <a:spcBef>
                <a:spcPct val="20000"/>
              </a:spcBef>
              <a:spcAft>
                <a:spcPct val="0"/>
              </a:spcAft>
            </a:pPr>
            <a:endParaRPr lang="en-US" altLang="en-US" sz="2000" kern="0" dirty="0">
              <a:latin typeface="Arial"/>
            </a:endParaRPr>
          </a:p>
          <a:p>
            <a:pPr lvl="0" fontAlgn="base">
              <a:lnSpc>
                <a:spcPct val="90000"/>
              </a:lnSpc>
              <a:spcBef>
                <a:spcPct val="20000"/>
              </a:spcBef>
              <a:spcAft>
                <a:spcPct val="0"/>
              </a:spcAft>
            </a:pPr>
            <a:endParaRPr lang="en-US" altLang="en-US" sz="2000" kern="0" dirty="0">
              <a:latin typeface="Arial"/>
            </a:endParaRPr>
          </a:p>
          <a:p>
            <a:pPr lvl="0" fontAlgn="base">
              <a:lnSpc>
                <a:spcPct val="90000"/>
              </a:lnSpc>
              <a:spcBef>
                <a:spcPct val="20000"/>
              </a:spcBef>
              <a:spcAft>
                <a:spcPct val="0"/>
              </a:spcAft>
            </a:pPr>
            <a:endParaRPr lang="en-US" altLang="en-US" sz="2000" kern="0" dirty="0">
              <a:latin typeface="Arial"/>
            </a:endParaRPr>
          </a:p>
          <a:p>
            <a:pPr lvl="0" fontAlgn="base">
              <a:lnSpc>
                <a:spcPct val="90000"/>
              </a:lnSpc>
              <a:spcBef>
                <a:spcPct val="20000"/>
              </a:spcBef>
              <a:spcAft>
                <a:spcPct val="0"/>
              </a:spcAft>
            </a:pPr>
            <a:endParaRPr lang="en-US" altLang="en-US" sz="2000" kern="0" dirty="0">
              <a:latin typeface="Arial"/>
            </a:endParaRPr>
          </a:p>
          <a:p>
            <a:pPr lvl="0" fontAlgn="base">
              <a:lnSpc>
                <a:spcPct val="90000"/>
              </a:lnSpc>
              <a:spcBef>
                <a:spcPct val="20000"/>
              </a:spcBef>
              <a:spcAft>
                <a:spcPct val="0"/>
              </a:spcAft>
            </a:pPr>
            <a:r>
              <a:rPr lang="en-US" altLang="en-US" sz="2000" kern="0" dirty="0">
                <a:latin typeface="Arial"/>
              </a:rPr>
              <a:t>DS</a:t>
            </a:r>
            <a:r>
              <a:rPr lang="en-US" altLang="en-US" sz="2000" kern="0" dirty="0">
                <a:solidFill>
                  <a:srgbClr val="FF0000"/>
                </a:solidFill>
                <a:latin typeface="Arial"/>
              </a:rPr>
              <a:t> </a:t>
            </a:r>
            <a:r>
              <a:rPr lang="en-US" altLang="en-US" sz="2000" kern="0" dirty="0">
                <a:solidFill>
                  <a:srgbClr val="000000"/>
                </a:solidFill>
                <a:latin typeface="Arial"/>
              </a:rPr>
              <a:t>= Distribution System</a:t>
            </a:r>
          </a:p>
          <a:p>
            <a:pPr marL="800100" lvl="1" indent="-342900" fontAlgn="base">
              <a:lnSpc>
                <a:spcPct val="90000"/>
              </a:lnSpc>
              <a:spcBef>
                <a:spcPct val="20000"/>
              </a:spcBef>
              <a:spcAft>
                <a:spcPct val="0"/>
              </a:spcAft>
              <a:buFont typeface="Arial" panose="020B0604020202020204" pitchFamily="34" charset="0"/>
              <a:buChar char="•"/>
            </a:pPr>
            <a:r>
              <a:rPr lang="en-US" altLang="en-US" sz="2000" kern="0" dirty="0">
                <a:solidFill>
                  <a:srgbClr val="000000"/>
                </a:solidFill>
                <a:latin typeface="Arial"/>
              </a:rPr>
              <a:t>Wired network connect to the wireless networks</a:t>
            </a:r>
          </a:p>
          <a:p>
            <a:pPr lvl="0" fontAlgn="base">
              <a:lnSpc>
                <a:spcPct val="90000"/>
              </a:lnSpc>
              <a:spcBef>
                <a:spcPct val="20000"/>
              </a:spcBef>
              <a:spcAft>
                <a:spcPct val="0"/>
              </a:spcAft>
            </a:pPr>
            <a:r>
              <a:rPr lang="en-US" altLang="en-US" sz="2000" kern="0" dirty="0">
                <a:latin typeface="Arial"/>
              </a:rPr>
              <a:t>ESS</a:t>
            </a:r>
            <a:r>
              <a:rPr lang="en-US" altLang="en-US" sz="2000" kern="0" dirty="0">
                <a:solidFill>
                  <a:srgbClr val="000000"/>
                </a:solidFill>
                <a:latin typeface="Arial"/>
              </a:rPr>
              <a:t> = Extended Service Set = interconnection of several BSSs via DS</a:t>
            </a:r>
          </a:p>
          <a:p>
            <a:pPr marL="800100" lvl="1" indent="-342900" fontAlgn="base">
              <a:lnSpc>
                <a:spcPct val="90000"/>
              </a:lnSpc>
              <a:spcBef>
                <a:spcPct val="20000"/>
              </a:spcBef>
              <a:spcAft>
                <a:spcPct val="0"/>
              </a:spcAft>
              <a:buFont typeface="Arial" panose="020B0604020202020204" pitchFamily="34" charset="0"/>
              <a:buChar char="•"/>
            </a:pPr>
            <a:r>
              <a:rPr lang="en-US" altLang="en-US" sz="2000" kern="0" dirty="0">
                <a:solidFill>
                  <a:srgbClr val="000000"/>
                </a:solidFill>
                <a:latin typeface="Arial"/>
              </a:rPr>
              <a:t>A collection of access points connected to the same Distribution System</a:t>
            </a:r>
          </a:p>
          <a:p>
            <a:endParaRPr lang="en-GB" dirty="0"/>
          </a:p>
        </p:txBody>
      </p:sp>
    </p:spTree>
    <p:extLst>
      <p:ext uri="{BB962C8B-B14F-4D97-AF65-F5344CB8AC3E}">
        <p14:creationId xmlns:p14="http://schemas.microsoft.com/office/powerpoint/2010/main" val="1515380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FDEFC49-B6E6-C91F-56EA-310701C86584}"/>
              </a:ext>
            </a:extLst>
          </p:cNvPr>
          <p:cNvSpPr>
            <a:spLocks noGrp="1"/>
          </p:cNvSpPr>
          <p:nvPr>
            <p:ph type="title"/>
          </p:nvPr>
        </p:nvSpPr>
        <p:spPr/>
        <p:txBody>
          <a:bodyPr/>
          <a:lstStyle/>
          <a:p>
            <a:r>
              <a:rPr lang="en-GB" dirty="0"/>
              <a:t>Wi-Fi Wireless Frequencies</a:t>
            </a:r>
          </a:p>
        </p:txBody>
      </p:sp>
      <p:sp>
        <p:nvSpPr>
          <p:cNvPr id="5" name="Content Placeholder 4">
            <a:extLst>
              <a:ext uri="{FF2B5EF4-FFF2-40B4-BE49-F238E27FC236}">
                <a16:creationId xmlns:a16="http://schemas.microsoft.com/office/drawing/2014/main" id="{4C0F11A8-C8F1-75F1-9BF3-84C77DDEB9A9}"/>
              </a:ext>
            </a:extLst>
          </p:cNvPr>
          <p:cNvSpPr>
            <a:spLocks noGrp="1"/>
          </p:cNvSpPr>
          <p:nvPr>
            <p:ph idx="1"/>
          </p:nvPr>
        </p:nvSpPr>
        <p:spPr/>
        <p:txBody>
          <a:bodyPr>
            <a:normAutofit/>
          </a:bodyPr>
          <a:lstStyle/>
          <a:p>
            <a:r>
              <a:rPr lang="en-GB" sz="2800" dirty="0"/>
              <a:t>What is a frequency?</a:t>
            </a:r>
          </a:p>
          <a:p>
            <a:pPr lvl="1"/>
            <a:r>
              <a:rPr lang="en-GB" dirty="0"/>
              <a:t>It is a measurement of how often something changes over a given time interval, the name chosen to display this measurement was HERTZ. The HERTZ measurement is calculated using one second intervals.</a:t>
            </a:r>
            <a:endParaRPr lang="en-GB" sz="2800" dirty="0"/>
          </a:p>
          <a:p>
            <a:pPr lvl="1"/>
            <a:r>
              <a:rPr lang="en-GB" i="1" dirty="0"/>
              <a:t>1Hz = 1 change/cycle per second</a:t>
            </a:r>
          </a:p>
          <a:p>
            <a:pPr lvl="1"/>
            <a:r>
              <a:rPr lang="en-GB" dirty="0"/>
              <a:t>Measurement of radio frequencies are not measured in one’s but millions or billions per second!</a:t>
            </a:r>
          </a:p>
          <a:p>
            <a:pPr lvl="2"/>
            <a:r>
              <a:rPr lang="en-GB" dirty="0"/>
              <a:t>MHz = Millions </a:t>
            </a:r>
          </a:p>
          <a:p>
            <a:pPr lvl="2"/>
            <a:r>
              <a:rPr lang="en-GB" dirty="0"/>
              <a:t>GHz = Billions</a:t>
            </a:r>
          </a:p>
          <a:p>
            <a:endParaRPr lang="en-GB" dirty="0"/>
          </a:p>
        </p:txBody>
      </p:sp>
    </p:spTree>
    <p:extLst>
      <p:ext uri="{BB962C8B-B14F-4D97-AF65-F5344CB8AC3E}">
        <p14:creationId xmlns:p14="http://schemas.microsoft.com/office/powerpoint/2010/main" val="40953575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B91A585B-7E3A-8993-2B75-E49BA8C7D88B}"/>
              </a:ext>
            </a:extLst>
          </p:cNvPr>
          <p:cNvGrpSpPr/>
          <p:nvPr/>
        </p:nvGrpSpPr>
        <p:grpSpPr>
          <a:xfrm>
            <a:off x="1970495" y="3839772"/>
            <a:ext cx="8840568" cy="2557950"/>
            <a:chOff x="1499155" y="3835246"/>
            <a:chExt cx="9139442" cy="2644427"/>
          </a:xfrm>
        </p:grpSpPr>
        <p:sp>
          <p:nvSpPr>
            <p:cNvPr id="6" name="TextBox 5"/>
            <p:cNvSpPr txBox="1"/>
            <p:nvPr/>
          </p:nvSpPr>
          <p:spPr>
            <a:xfrm>
              <a:off x="1499155" y="4974598"/>
              <a:ext cx="1785257" cy="923330"/>
            </a:xfrm>
            <a:prstGeom prst="rect">
              <a:avLst/>
            </a:prstGeom>
            <a:solidFill>
              <a:schemeClr val="bg2">
                <a:lumMod val="50000"/>
              </a:schemeClr>
            </a:solidFill>
          </p:spPr>
          <p:txBody>
            <a:bodyPr wrap="square" rtlCol="0">
              <a:spAutoFit/>
            </a:bodyPr>
            <a:lstStyle/>
            <a:p>
              <a:pPr algn="ctr"/>
              <a:endParaRPr lang="en-GB" dirty="0"/>
            </a:p>
            <a:p>
              <a:pPr algn="ctr"/>
              <a:r>
                <a:rPr lang="en-GB" dirty="0"/>
                <a:t>Battery</a:t>
              </a:r>
            </a:p>
            <a:p>
              <a:endParaRPr lang="en-GB" dirty="0"/>
            </a:p>
          </p:txBody>
        </p:sp>
        <p:sp>
          <p:nvSpPr>
            <p:cNvPr id="8" name="TextBox 7"/>
            <p:cNvSpPr txBox="1"/>
            <p:nvPr/>
          </p:nvSpPr>
          <p:spPr>
            <a:xfrm>
              <a:off x="6528151" y="4985310"/>
              <a:ext cx="1785257" cy="923330"/>
            </a:xfrm>
            <a:prstGeom prst="rect">
              <a:avLst/>
            </a:prstGeom>
            <a:solidFill>
              <a:schemeClr val="bg2">
                <a:lumMod val="50000"/>
              </a:schemeClr>
            </a:solidFill>
          </p:spPr>
          <p:txBody>
            <a:bodyPr wrap="square" rtlCol="0">
              <a:spAutoFit/>
            </a:bodyPr>
            <a:lstStyle/>
            <a:p>
              <a:pPr algn="ctr"/>
              <a:endParaRPr lang="en-GB" dirty="0"/>
            </a:p>
            <a:p>
              <a:pPr algn="ctr"/>
              <a:r>
                <a:rPr lang="en-GB" dirty="0"/>
                <a:t>Battery</a:t>
              </a:r>
            </a:p>
            <a:p>
              <a:endParaRPr lang="en-GB" dirty="0"/>
            </a:p>
          </p:txBody>
        </p:sp>
        <p:cxnSp>
          <p:nvCxnSpPr>
            <p:cNvPr id="10" name="Straight Connector 9"/>
            <p:cNvCxnSpPr/>
            <p:nvPr/>
          </p:nvCxnSpPr>
          <p:spPr>
            <a:xfrm>
              <a:off x="3282440" y="5436263"/>
              <a:ext cx="3245711"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4227320" y="5251269"/>
              <a:ext cx="1738176" cy="0"/>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cxnSp>
          <p:nvCxnSpPr>
            <p:cNvPr id="13" name="Straight Arrow Connector 12"/>
            <p:cNvCxnSpPr/>
            <p:nvPr/>
          </p:nvCxnSpPr>
          <p:spPr>
            <a:xfrm flipH="1">
              <a:off x="4157651" y="5618197"/>
              <a:ext cx="1807845" cy="0"/>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sp>
          <p:nvSpPr>
            <p:cNvPr id="17" name="TextBox 16"/>
            <p:cNvSpPr txBox="1"/>
            <p:nvPr/>
          </p:nvSpPr>
          <p:spPr>
            <a:xfrm>
              <a:off x="2158079" y="3835246"/>
              <a:ext cx="3064602" cy="923330"/>
            </a:xfrm>
            <a:prstGeom prst="rect">
              <a:avLst/>
            </a:prstGeom>
            <a:solidFill>
              <a:schemeClr val="accent1"/>
            </a:solidFill>
          </p:spPr>
          <p:txBody>
            <a:bodyPr wrap="square" rtlCol="0">
              <a:spAutoFit/>
            </a:bodyPr>
            <a:lstStyle/>
            <a:p>
              <a:pPr algn="ctr"/>
              <a:r>
                <a:rPr lang="en-GB" dirty="0"/>
                <a:t>Radiation emitted outwards from the movement of electrons</a:t>
              </a:r>
            </a:p>
          </p:txBody>
        </p:sp>
        <p:cxnSp>
          <p:nvCxnSpPr>
            <p:cNvPr id="18" name="Straight Arrow Connector 17"/>
            <p:cNvCxnSpPr/>
            <p:nvPr/>
          </p:nvCxnSpPr>
          <p:spPr>
            <a:xfrm flipV="1">
              <a:off x="3633605" y="4663021"/>
              <a:ext cx="0" cy="728072"/>
            </a:xfrm>
            <a:prstGeom prst="straightConnector1">
              <a:avLst/>
            </a:prstGeom>
            <a:ln w="57150">
              <a:solidFill>
                <a:schemeClr val="accent4">
                  <a:lumMod val="40000"/>
                  <a:lumOff val="60000"/>
                </a:schemeClr>
              </a:solidFill>
              <a:tailEnd type="triangle"/>
            </a:ln>
          </p:spPr>
          <p:style>
            <a:lnRef idx="3">
              <a:schemeClr val="dk1"/>
            </a:lnRef>
            <a:fillRef idx="0">
              <a:schemeClr val="dk1"/>
            </a:fillRef>
            <a:effectRef idx="2">
              <a:schemeClr val="dk1"/>
            </a:effectRef>
            <a:fontRef idx="minor">
              <a:schemeClr val="tx1"/>
            </a:fontRef>
          </p:style>
        </p:cxnSp>
        <p:cxnSp>
          <p:nvCxnSpPr>
            <p:cNvPr id="20" name="Straight Arrow Connector 19"/>
            <p:cNvCxnSpPr/>
            <p:nvPr/>
          </p:nvCxnSpPr>
          <p:spPr>
            <a:xfrm flipH="1">
              <a:off x="3633605" y="5498321"/>
              <a:ext cx="14696" cy="773243"/>
            </a:xfrm>
            <a:prstGeom prst="straightConnector1">
              <a:avLst/>
            </a:prstGeom>
            <a:ln w="57150">
              <a:solidFill>
                <a:schemeClr val="accent4">
                  <a:lumMod val="40000"/>
                  <a:lumOff val="60000"/>
                </a:schemeClr>
              </a:solidFill>
              <a:tailEnd type="triangle"/>
            </a:ln>
          </p:spPr>
          <p:style>
            <a:lnRef idx="3">
              <a:schemeClr val="dk1"/>
            </a:lnRef>
            <a:fillRef idx="0">
              <a:schemeClr val="dk1"/>
            </a:fillRef>
            <a:effectRef idx="2">
              <a:schemeClr val="dk1"/>
            </a:effectRef>
            <a:fontRef idx="minor">
              <a:schemeClr val="tx1"/>
            </a:fontRef>
          </p:style>
        </p:cxnSp>
        <p:sp>
          <p:nvSpPr>
            <p:cNvPr id="25" name="TextBox 24"/>
            <p:cNvSpPr txBox="1"/>
            <p:nvPr/>
          </p:nvSpPr>
          <p:spPr>
            <a:xfrm>
              <a:off x="4038316" y="5833342"/>
              <a:ext cx="2116183" cy="646331"/>
            </a:xfrm>
            <a:prstGeom prst="rect">
              <a:avLst/>
            </a:prstGeom>
            <a:solidFill>
              <a:schemeClr val="accent1"/>
            </a:solidFill>
          </p:spPr>
          <p:txBody>
            <a:bodyPr wrap="square" rtlCol="0">
              <a:spAutoFit/>
            </a:bodyPr>
            <a:lstStyle/>
            <a:p>
              <a:pPr algn="ctr"/>
              <a:r>
                <a:rPr lang="en-GB" dirty="0"/>
                <a:t>Electrons going back and forward</a:t>
              </a:r>
            </a:p>
          </p:txBody>
        </p:sp>
        <p:grpSp>
          <p:nvGrpSpPr>
            <p:cNvPr id="39" name="Group 38"/>
            <p:cNvGrpSpPr/>
            <p:nvPr/>
          </p:nvGrpSpPr>
          <p:grpSpPr>
            <a:xfrm>
              <a:off x="8876063" y="4254137"/>
              <a:ext cx="1762534" cy="1994263"/>
              <a:chOff x="8861923" y="4254137"/>
              <a:chExt cx="1762534" cy="1994263"/>
            </a:xfrm>
          </p:grpSpPr>
          <p:sp>
            <p:nvSpPr>
              <p:cNvPr id="28" name="Oval 27"/>
              <p:cNvSpPr/>
              <p:nvPr/>
            </p:nvSpPr>
            <p:spPr>
              <a:xfrm>
                <a:off x="8861923" y="4254137"/>
                <a:ext cx="1762534" cy="19942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9604738" y="5053462"/>
                <a:ext cx="278674" cy="337631"/>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9" name="Straight Arrow Connector 28"/>
              <p:cNvCxnSpPr/>
              <p:nvPr/>
            </p:nvCxnSpPr>
            <p:spPr>
              <a:xfrm flipV="1">
                <a:off x="9755129" y="4298985"/>
                <a:ext cx="0" cy="728072"/>
              </a:xfrm>
              <a:prstGeom prst="straightConnector1">
                <a:avLst/>
              </a:prstGeom>
              <a:ln w="57150">
                <a:solidFill>
                  <a:schemeClr val="accent4">
                    <a:lumMod val="40000"/>
                    <a:lumOff val="60000"/>
                  </a:schemeClr>
                </a:solidFill>
                <a:tailEnd type="triangle"/>
              </a:ln>
            </p:spPr>
            <p:style>
              <a:lnRef idx="3">
                <a:schemeClr val="dk1"/>
              </a:lnRef>
              <a:fillRef idx="0">
                <a:schemeClr val="dk1"/>
              </a:fillRef>
              <a:effectRef idx="2">
                <a:schemeClr val="dk1"/>
              </a:effectRef>
              <a:fontRef idx="minor">
                <a:schemeClr val="tx1"/>
              </a:fontRef>
            </p:style>
          </p:cxnSp>
          <p:cxnSp>
            <p:nvCxnSpPr>
              <p:cNvPr id="30" name="Straight Arrow Connector 29"/>
              <p:cNvCxnSpPr>
                <a:stCxn id="27" idx="2"/>
              </p:cNvCxnSpPr>
              <p:nvPr/>
            </p:nvCxnSpPr>
            <p:spPr>
              <a:xfrm flipH="1" flipV="1">
                <a:off x="8915946" y="5222277"/>
                <a:ext cx="688792" cy="1"/>
              </a:xfrm>
              <a:prstGeom prst="straightConnector1">
                <a:avLst/>
              </a:prstGeom>
              <a:ln w="57150">
                <a:solidFill>
                  <a:schemeClr val="accent4">
                    <a:lumMod val="40000"/>
                    <a:lumOff val="60000"/>
                  </a:schemeClr>
                </a:solidFill>
                <a:tailEnd type="triangle"/>
              </a:ln>
            </p:spPr>
            <p:style>
              <a:lnRef idx="3">
                <a:schemeClr val="dk1"/>
              </a:lnRef>
              <a:fillRef idx="0">
                <a:schemeClr val="dk1"/>
              </a:fillRef>
              <a:effectRef idx="2">
                <a:schemeClr val="dk1"/>
              </a:effectRef>
              <a:fontRef idx="minor">
                <a:schemeClr val="tx1"/>
              </a:fontRef>
            </p:style>
          </p:cxnSp>
          <p:cxnSp>
            <p:nvCxnSpPr>
              <p:cNvPr id="34" name="Straight Arrow Connector 33"/>
              <p:cNvCxnSpPr/>
              <p:nvPr/>
            </p:nvCxnSpPr>
            <p:spPr>
              <a:xfrm>
                <a:off x="9756658" y="5446975"/>
                <a:ext cx="37083" cy="709532"/>
              </a:xfrm>
              <a:prstGeom prst="straightConnector1">
                <a:avLst/>
              </a:prstGeom>
              <a:ln w="57150">
                <a:solidFill>
                  <a:schemeClr val="accent4">
                    <a:lumMod val="40000"/>
                    <a:lumOff val="60000"/>
                  </a:schemeClr>
                </a:solidFill>
                <a:tailEnd type="triangle"/>
              </a:ln>
            </p:spPr>
            <p:style>
              <a:lnRef idx="3">
                <a:schemeClr val="dk1"/>
              </a:lnRef>
              <a:fillRef idx="0">
                <a:schemeClr val="dk1"/>
              </a:fillRef>
              <a:effectRef idx="2">
                <a:schemeClr val="dk1"/>
              </a:effectRef>
              <a:fontRef idx="minor">
                <a:schemeClr val="tx1"/>
              </a:fontRef>
            </p:style>
          </p:cxnSp>
          <p:cxnSp>
            <p:nvCxnSpPr>
              <p:cNvPr id="37" name="Straight Arrow Connector 36"/>
              <p:cNvCxnSpPr/>
              <p:nvPr/>
            </p:nvCxnSpPr>
            <p:spPr>
              <a:xfrm flipV="1">
                <a:off x="9897410" y="5199691"/>
                <a:ext cx="713049" cy="45172"/>
              </a:xfrm>
              <a:prstGeom prst="straightConnector1">
                <a:avLst/>
              </a:prstGeom>
              <a:ln w="57150">
                <a:solidFill>
                  <a:schemeClr val="accent4">
                    <a:lumMod val="40000"/>
                    <a:lumOff val="60000"/>
                  </a:schemeClr>
                </a:solidFill>
                <a:tailEnd type="triangle"/>
              </a:ln>
            </p:spPr>
            <p:style>
              <a:lnRef idx="3">
                <a:schemeClr val="dk1"/>
              </a:lnRef>
              <a:fillRef idx="0">
                <a:schemeClr val="dk1"/>
              </a:fillRef>
              <a:effectRef idx="2">
                <a:schemeClr val="dk1"/>
              </a:effectRef>
              <a:fontRef idx="minor">
                <a:schemeClr val="tx1"/>
              </a:fontRef>
            </p:style>
          </p:cxnSp>
        </p:grpSp>
      </p:grpSp>
      <p:sp>
        <p:nvSpPr>
          <p:cNvPr id="9" name="Title 8">
            <a:extLst>
              <a:ext uri="{FF2B5EF4-FFF2-40B4-BE49-F238E27FC236}">
                <a16:creationId xmlns:a16="http://schemas.microsoft.com/office/drawing/2014/main" id="{62B1E785-D92C-DFE3-AF5B-D6F05AE3A0AE}"/>
              </a:ext>
            </a:extLst>
          </p:cNvPr>
          <p:cNvSpPr>
            <a:spLocks noGrp="1"/>
          </p:cNvSpPr>
          <p:nvPr>
            <p:ph type="title"/>
          </p:nvPr>
        </p:nvSpPr>
        <p:spPr/>
        <p:txBody>
          <a:bodyPr/>
          <a:lstStyle/>
          <a:p>
            <a:r>
              <a:rPr lang="en-GB" dirty="0"/>
              <a:t>Electro Magnetic Radiation</a:t>
            </a:r>
          </a:p>
        </p:txBody>
      </p:sp>
      <p:sp>
        <p:nvSpPr>
          <p:cNvPr id="11" name="Content Placeholder 10">
            <a:extLst>
              <a:ext uri="{FF2B5EF4-FFF2-40B4-BE49-F238E27FC236}">
                <a16:creationId xmlns:a16="http://schemas.microsoft.com/office/drawing/2014/main" id="{485F0703-62C4-F412-29CC-1DA1B2F02682}"/>
              </a:ext>
            </a:extLst>
          </p:cNvPr>
          <p:cNvSpPr>
            <a:spLocks noGrp="1"/>
          </p:cNvSpPr>
          <p:nvPr>
            <p:ph idx="1"/>
          </p:nvPr>
        </p:nvSpPr>
        <p:spPr>
          <a:xfrm>
            <a:off x="838200" y="1868536"/>
            <a:ext cx="10515600" cy="4351338"/>
          </a:xfrm>
        </p:spPr>
        <p:txBody>
          <a:bodyPr/>
          <a:lstStyle/>
          <a:p>
            <a:r>
              <a:rPr lang="en-GB" sz="2800" dirty="0"/>
              <a:t>Like the name says EMR has both electrical and magnetic properties</a:t>
            </a:r>
          </a:p>
          <a:p>
            <a:r>
              <a:rPr lang="en-GB" sz="2800" dirty="0"/>
              <a:t>In the display bellow electron passing through a wire from two connected batteries emit a radiation field at 90 degree angles</a:t>
            </a:r>
          </a:p>
          <a:p>
            <a:endParaRPr lang="en-GB" dirty="0"/>
          </a:p>
        </p:txBody>
      </p:sp>
    </p:spTree>
    <p:extLst>
      <p:ext uri="{BB962C8B-B14F-4D97-AF65-F5344CB8AC3E}">
        <p14:creationId xmlns:p14="http://schemas.microsoft.com/office/powerpoint/2010/main" val="24016629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9FE1D16-8786-C2A7-C046-DF0F87769AD2}"/>
              </a:ext>
            </a:extLst>
          </p:cNvPr>
          <p:cNvSpPr>
            <a:spLocks noGrp="1"/>
          </p:cNvSpPr>
          <p:nvPr>
            <p:ph type="title"/>
          </p:nvPr>
        </p:nvSpPr>
        <p:spPr/>
        <p:txBody>
          <a:bodyPr/>
          <a:lstStyle/>
          <a:p>
            <a:r>
              <a:rPr lang="en-GB" dirty="0"/>
              <a:t>Wi-Fi Wireless Frequencies</a:t>
            </a:r>
          </a:p>
        </p:txBody>
      </p:sp>
      <p:sp>
        <p:nvSpPr>
          <p:cNvPr id="5" name="Content Placeholder 4">
            <a:extLst>
              <a:ext uri="{FF2B5EF4-FFF2-40B4-BE49-F238E27FC236}">
                <a16:creationId xmlns:a16="http://schemas.microsoft.com/office/drawing/2014/main" id="{39773260-4AE0-2084-5783-603609956970}"/>
              </a:ext>
            </a:extLst>
          </p:cNvPr>
          <p:cNvSpPr>
            <a:spLocks noGrp="1"/>
          </p:cNvSpPr>
          <p:nvPr>
            <p:ph idx="1"/>
          </p:nvPr>
        </p:nvSpPr>
        <p:spPr/>
        <p:txBody>
          <a:bodyPr>
            <a:normAutofit/>
          </a:bodyPr>
          <a:lstStyle/>
          <a:p>
            <a:r>
              <a:rPr lang="en-GB" sz="2400" dirty="0"/>
              <a:t>Unlike other wireless activities, such as radio or TV broadcasting, we do not need to purchase frequencies or pay a monthly service fee to use the airways for Wi-Fi. </a:t>
            </a:r>
          </a:p>
          <a:p>
            <a:r>
              <a:rPr lang="en-GB" sz="2400" dirty="0"/>
              <a:t>Requires no medium to propagate.</a:t>
            </a:r>
          </a:p>
          <a:p>
            <a:r>
              <a:rPr lang="en-GB" sz="2400" dirty="0"/>
              <a:t>It can even go through the vacuum of space, scientists use this ability to detect new solar systems in the universe.</a:t>
            </a:r>
          </a:p>
          <a:p>
            <a:r>
              <a:rPr lang="en-GB" sz="2400" dirty="0"/>
              <a:t>EMR has a detectable waveform, known as oscillations.</a:t>
            </a:r>
          </a:p>
          <a:p>
            <a:r>
              <a:rPr lang="en-GB" sz="2400" dirty="0"/>
              <a:t>The cycle of the wave form is measured in HERTZ.</a:t>
            </a:r>
          </a:p>
          <a:p>
            <a:r>
              <a:rPr lang="en-GB" sz="2400" dirty="0"/>
              <a:t>Radio frequency is the measurement of the oscillation of EMR.</a:t>
            </a:r>
          </a:p>
          <a:p>
            <a:endParaRPr lang="en-GB" dirty="0"/>
          </a:p>
        </p:txBody>
      </p:sp>
    </p:spTree>
    <p:extLst>
      <p:ext uri="{BB962C8B-B14F-4D97-AF65-F5344CB8AC3E}">
        <p14:creationId xmlns:p14="http://schemas.microsoft.com/office/powerpoint/2010/main" val="25472734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803752" y="715506"/>
            <a:ext cx="10464595" cy="5509200"/>
          </a:xfrm>
          <a:prstGeom prst="rect">
            <a:avLst/>
          </a:prstGeom>
          <a:solidFill>
            <a:schemeClr val="accent1">
              <a:lumMod val="60000"/>
              <a:lumOff val="40000"/>
            </a:schemeClr>
          </a:solidFill>
        </p:spPr>
        <p:txBody>
          <a:bodyPr wrap="square">
            <a:spAutoFit/>
          </a:bodyPr>
          <a:lstStyle/>
          <a:p>
            <a:pPr algn="ctr"/>
            <a:r>
              <a:rPr lang="en-GB" sz="3200" dirty="0"/>
              <a:t>Wireless Frequencies</a:t>
            </a:r>
          </a:p>
          <a:p>
            <a:pPr algn="ctr"/>
            <a:r>
              <a:rPr lang="en-GB" sz="2400" u="sng" dirty="0"/>
              <a:t>ISM Bands</a:t>
            </a:r>
          </a:p>
          <a:p>
            <a:r>
              <a:rPr lang="en-GB" sz="2400" dirty="0"/>
              <a:t>EMR oscillates at certain frequencies</a:t>
            </a:r>
          </a:p>
          <a:p>
            <a:r>
              <a:rPr lang="en-GB" sz="2400" dirty="0"/>
              <a:t>All EMR frequencies have assigned labels</a:t>
            </a:r>
          </a:p>
          <a:p>
            <a:endParaRPr lang="en-GB" sz="2400" dirty="0"/>
          </a:p>
          <a:p>
            <a:r>
              <a:rPr lang="en-GB" sz="2400" dirty="0"/>
              <a:t>               Audio           AM Radio    Broadcast TV</a:t>
            </a:r>
          </a:p>
          <a:p>
            <a:endParaRPr lang="en-GB" sz="2400" dirty="0"/>
          </a:p>
          <a:p>
            <a:endParaRPr lang="en-GB" sz="2400" dirty="0"/>
          </a:p>
          <a:p>
            <a:endParaRPr lang="en-GB" sz="2400" dirty="0"/>
          </a:p>
          <a:p>
            <a:endParaRPr lang="en-GB" sz="2400" dirty="0"/>
          </a:p>
          <a:p>
            <a:endParaRPr lang="en-GB" sz="2400" dirty="0"/>
          </a:p>
          <a:p>
            <a:endParaRPr lang="en-GB" sz="2400" dirty="0"/>
          </a:p>
          <a:p>
            <a:endParaRPr lang="en-GB" sz="2400" dirty="0"/>
          </a:p>
          <a:p>
            <a:endParaRPr lang="en-GB" sz="1600" dirty="0"/>
          </a:p>
          <a:p>
            <a:r>
              <a:rPr lang="en-GB" sz="1600" dirty="0"/>
              <a:t>ISM (Industrial, Scientific and Medical)</a:t>
            </a:r>
          </a:p>
        </p:txBody>
      </p:sp>
      <p:graphicFrame>
        <p:nvGraphicFramePr>
          <p:cNvPr id="4" name="Table 3"/>
          <p:cNvGraphicFramePr>
            <a:graphicFrameLocks noGrp="1"/>
          </p:cNvGraphicFramePr>
          <p:nvPr>
            <p:extLst>
              <p:ext uri="{D42A27DB-BD31-4B8C-83A1-F6EECF244321}">
                <p14:modId xmlns:p14="http://schemas.microsoft.com/office/powerpoint/2010/main" val="4250485113"/>
              </p:ext>
            </p:extLst>
          </p:nvPr>
        </p:nvGraphicFramePr>
        <p:xfrm>
          <a:off x="1077607" y="3347172"/>
          <a:ext cx="9916884" cy="518160"/>
        </p:xfrm>
        <a:graphic>
          <a:graphicData uri="http://schemas.openxmlformats.org/drawingml/2006/table">
            <a:tbl>
              <a:tblPr firstRow="1" bandRow="1">
                <a:tableStyleId>{5C22544A-7EE6-4342-B048-85BDC9FD1C3A}</a:tableStyleId>
              </a:tblPr>
              <a:tblGrid>
                <a:gridCol w="835150">
                  <a:extLst>
                    <a:ext uri="{9D8B030D-6E8A-4147-A177-3AD203B41FA5}">
                      <a16:colId xmlns:a16="http://schemas.microsoft.com/office/drawing/2014/main" val="4029359972"/>
                    </a:ext>
                  </a:extLst>
                </a:gridCol>
                <a:gridCol w="817664">
                  <a:extLst>
                    <a:ext uri="{9D8B030D-6E8A-4147-A177-3AD203B41FA5}">
                      <a16:colId xmlns:a16="http://schemas.microsoft.com/office/drawing/2014/main" val="2382914739"/>
                    </a:ext>
                  </a:extLst>
                </a:gridCol>
                <a:gridCol w="826407">
                  <a:extLst>
                    <a:ext uri="{9D8B030D-6E8A-4147-A177-3AD203B41FA5}">
                      <a16:colId xmlns:a16="http://schemas.microsoft.com/office/drawing/2014/main" val="2748208054"/>
                    </a:ext>
                  </a:extLst>
                </a:gridCol>
                <a:gridCol w="826407">
                  <a:extLst>
                    <a:ext uri="{9D8B030D-6E8A-4147-A177-3AD203B41FA5}">
                      <a16:colId xmlns:a16="http://schemas.microsoft.com/office/drawing/2014/main" val="3891422413"/>
                    </a:ext>
                  </a:extLst>
                </a:gridCol>
                <a:gridCol w="826407">
                  <a:extLst>
                    <a:ext uri="{9D8B030D-6E8A-4147-A177-3AD203B41FA5}">
                      <a16:colId xmlns:a16="http://schemas.microsoft.com/office/drawing/2014/main" val="3638673788"/>
                    </a:ext>
                  </a:extLst>
                </a:gridCol>
                <a:gridCol w="826407">
                  <a:extLst>
                    <a:ext uri="{9D8B030D-6E8A-4147-A177-3AD203B41FA5}">
                      <a16:colId xmlns:a16="http://schemas.microsoft.com/office/drawing/2014/main" val="2947111437"/>
                    </a:ext>
                  </a:extLst>
                </a:gridCol>
                <a:gridCol w="826407">
                  <a:extLst>
                    <a:ext uri="{9D8B030D-6E8A-4147-A177-3AD203B41FA5}">
                      <a16:colId xmlns:a16="http://schemas.microsoft.com/office/drawing/2014/main" val="1696411121"/>
                    </a:ext>
                  </a:extLst>
                </a:gridCol>
                <a:gridCol w="826407">
                  <a:extLst>
                    <a:ext uri="{9D8B030D-6E8A-4147-A177-3AD203B41FA5}">
                      <a16:colId xmlns:a16="http://schemas.microsoft.com/office/drawing/2014/main" val="3928672748"/>
                    </a:ext>
                  </a:extLst>
                </a:gridCol>
                <a:gridCol w="826407">
                  <a:extLst>
                    <a:ext uri="{9D8B030D-6E8A-4147-A177-3AD203B41FA5}">
                      <a16:colId xmlns:a16="http://schemas.microsoft.com/office/drawing/2014/main" val="3413751536"/>
                    </a:ext>
                  </a:extLst>
                </a:gridCol>
                <a:gridCol w="826407">
                  <a:extLst>
                    <a:ext uri="{9D8B030D-6E8A-4147-A177-3AD203B41FA5}">
                      <a16:colId xmlns:a16="http://schemas.microsoft.com/office/drawing/2014/main" val="77481902"/>
                    </a:ext>
                  </a:extLst>
                </a:gridCol>
                <a:gridCol w="826407">
                  <a:extLst>
                    <a:ext uri="{9D8B030D-6E8A-4147-A177-3AD203B41FA5}">
                      <a16:colId xmlns:a16="http://schemas.microsoft.com/office/drawing/2014/main" val="11519716"/>
                    </a:ext>
                  </a:extLst>
                </a:gridCol>
                <a:gridCol w="826407">
                  <a:extLst>
                    <a:ext uri="{9D8B030D-6E8A-4147-A177-3AD203B41FA5}">
                      <a16:colId xmlns:a16="http://schemas.microsoft.com/office/drawing/2014/main" val="2079489289"/>
                    </a:ext>
                  </a:extLst>
                </a:gridCol>
              </a:tblGrid>
              <a:tr h="370840">
                <a:tc>
                  <a:txBody>
                    <a:bodyPr/>
                    <a:lstStyle/>
                    <a:p>
                      <a:r>
                        <a:rPr lang="en-GB" sz="1200" b="1" dirty="0">
                          <a:solidFill>
                            <a:schemeClr val="tx1"/>
                          </a:solidFill>
                        </a:rPr>
                        <a:t>Extremely Low(Elf)</a:t>
                      </a:r>
                    </a:p>
                  </a:txBody>
                  <a:tcPr>
                    <a:solidFill>
                      <a:schemeClr val="bg2">
                        <a:lumMod val="90000"/>
                      </a:schemeClr>
                    </a:solidFill>
                  </a:tcPr>
                </a:tc>
                <a:tc>
                  <a:txBody>
                    <a:bodyPr/>
                    <a:lstStyle/>
                    <a:p>
                      <a:r>
                        <a:rPr lang="en-GB" sz="1400" b="1" dirty="0">
                          <a:solidFill>
                            <a:schemeClr val="tx1"/>
                          </a:solidFill>
                        </a:rPr>
                        <a:t>Very</a:t>
                      </a:r>
                    </a:p>
                    <a:p>
                      <a:r>
                        <a:rPr lang="en-GB" sz="1400" b="1" dirty="0">
                          <a:solidFill>
                            <a:schemeClr val="tx1"/>
                          </a:solidFill>
                        </a:rPr>
                        <a:t>Low</a:t>
                      </a:r>
                    </a:p>
                  </a:txBody>
                  <a:tcPr>
                    <a:solidFill>
                      <a:schemeClr val="bg2">
                        <a:lumMod val="90000"/>
                      </a:schemeClr>
                    </a:solidFill>
                  </a:tcPr>
                </a:tc>
                <a:tc>
                  <a:txBody>
                    <a:bodyPr/>
                    <a:lstStyle/>
                    <a:p>
                      <a:r>
                        <a:rPr lang="en-GB" sz="1400" b="1" dirty="0">
                          <a:solidFill>
                            <a:schemeClr val="tx1"/>
                          </a:solidFill>
                        </a:rPr>
                        <a:t>Low</a:t>
                      </a:r>
                    </a:p>
                  </a:txBody>
                  <a:tcPr>
                    <a:solidFill>
                      <a:schemeClr val="bg2">
                        <a:lumMod val="90000"/>
                      </a:schemeClr>
                    </a:solidFill>
                  </a:tcPr>
                </a:tc>
                <a:tc>
                  <a:txBody>
                    <a:bodyPr/>
                    <a:lstStyle/>
                    <a:p>
                      <a:r>
                        <a:rPr lang="en-GB" sz="1400" b="1" dirty="0">
                          <a:solidFill>
                            <a:schemeClr val="tx1"/>
                          </a:solidFill>
                        </a:rPr>
                        <a:t>Medium</a:t>
                      </a:r>
                    </a:p>
                  </a:txBody>
                  <a:tcPr>
                    <a:solidFill>
                      <a:schemeClr val="bg2">
                        <a:lumMod val="90000"/>
                      </a:schemeClr>
                    </a:solidFill>
                  </a:tcPr>
                </a:tc>
                <a:tc>
                  <a:txBody>
                    <a:bodyPr/>
                    <a:lstStyle/>
                    <a:p>
                      <a:r>
                        <a:rPr lang="en-GB" sz="1400" b="1" dirty="0">
                          <a:solidFill>
                            <a:schemeClr val="tx1"/>
                          </a:solidFill>
                        </a:rPr>
                        <a:t>High</a:t>
                      </a:r>
                    </a:p>
                  </a:txBody>
                  <a:tcPr>
                    <a:solidFill>
                      <a:schemeClr val="bg2">
                        <a:lumMod val="90000"/>
                      </a:schemeClr>
                    </a:solidFill>
                  </a:tcPr>
                </a:tc>
                <a:tc>
                  <a:txBody>
                    <a:bodyPr/>
                    <a:lstStyle/>
                    <a:p>
                      <a:r>
                        <a:rPr lang="en-GB" sz="1400" b="1" dirty="0">
                          <a:solidFill>
                            <a:schemeClr val="tx1"/>
                          </a:solidFill>
                        </a:rPr>
                        <a:t>Very High</a:t>
                      </a:r>
                    </a:p>
                  </a:txBody>
                  <a:tcPr>
                    <a:solidFill>
                      <a:schemeClr val="bg2">
                        <a:lumMod val="90000"/>
                      </a:schemeClr>
                    </a:solidFill>
                  </a:tcPr>
                </a:tc>
                <a:tc>
                  <a:txBody>
                    <a:bodyPr/>
                    <a:lstStyle/>
                    <a:p>
                      <a:r>
                        <a:rPr lang="en-GB" sz="1400" b="1" dirty="0">
                          <a:solidFill>
                            <a:schemeClr val="tx1"/>
                          </a:solidFill>
                        </a:rPr>
                        <a:t>Ultra </a:t>
                      </a:r>
                    </a:p>
                    <a:p>
                      <a:r>
                        <a:rPr lang="en-GB" sz="1400" b="1" dirty="0">
                          <a:solidFill>
                            <a:schemeClr val="tx1"/>
                          </a:solidFill>
                        </a:rPr>
                        <a:t>High</a:t>
                      </a:r>
                    </a:p>
                  </a:txBody>
                  <a:tcPr>
                    <a:solidFill>
                      <a:schemeClr val="bg2">
                        <a:lumMod val="90000"/>
                      </a:schemeClr>
                    </a:solidFill>
                  </a:tcPr>
                </a:tc>
                <a:tc>
                  <a:txBody>
                    <a:bodyPr/>
                    <a:lstStyle/>
                    <a:p>
                      <a:r>
                        <a:rPr lang="en-GB" sz="1400" b="1" dirty="0">
                          <a:solidFill>
                            <a:schemeClr val="tx1"/>
                          </a:solidFill>
                        </a:rPr>
                        <a:t>Infrared</a:t>
                      </a:r>
                    </a:p>
                  </a:txBody>
                  <a:tcPr>
                    <a:solidFill>
                      <a:schemeClr val="bg2">
                        <a:lumMod val="90000"/>
                      </a:schemeClr>
                    </a:solidFill>
                  </a:tcPr>
                </a:tc>
                <a:tc>
                  <a:txBody>
                    <a:bodyPr/>
                    <a:lstStyle/>
                    <a:p>
                      <a:r>
                        <a:rPr lang="en-GB" sz="1400" b="1" dirty="0">
                          <a:solidFill>
                            <a:schemeClr val="tx1"/>
                          </a:solidFill>
                        </a:rPr>
                        <a:t>Visible </a:t>
                      </a:r>
                    </a:p>
                    <a:p>
                      <a:r>
                        <a:rPr lang="en-GB" sz="1400" b="1" dirty="0">
                          <a:solidFill>
                            <a:schemeClr val="tx1"/>
                          </a:solidFill>
                        </a:rPr>
                        <a:t>Light</a:t>
                      </a:r>
                    </a:p>
                  </a:txBody>
                  <a:tcPr>
                    <a:solidFill>
                      <a:schemeClr val="bg2">
                        <a:lumMod val="90000"/>
                      </a:schemeClr>
                    </a:solidFill>
                  </a:tcPr>
                </a:tc>
                <a:tc>
                  <a:txBody>
                    <a:bodyPr/>
                    <a:lstStyle/>
                    <a:p>
                      <a:r>
                        <a:rPr lang="en-GB" sz="1400" b="1" dirty="0">
                          <a:solidFill>
                            <a:schemeClr val="tx1"/>
                          </a:solidFill>
                        </a:rPr>
                        <a:t>Ultra violet</a:t>
                      </a:r>
                    </a:p>
                  </a:txBody>
                  <a:tcPr>
                    <a:solidFill>
                      <a:schemeClr val="bg2">
                        <a:lumMod val="90000"/>
                      </a:schemeClr>
                    </a:solidFill>
                  </a:tcPr>
                </a:tc>
                <a:tc>
                  <a:txBody>
                    <a:bodyPr/>
                    <a:lstStyle/>
                    <a:p>
                      <a:r>
                        <a:rPr lang="en-GB" sz="1400" b="1" dirty="0">
                          <a:solidFill>
                            <a:schemeClr val="tx1"/>
                          </a:solidFill>
                        </a:rPr>
                        <a:t>X-rays</a:t>
                      </a:r>
                    </a:p>
                  </a:txBody>
                  <a:tcPr>
                    <a:solidFill>
                      <a:schemeClr val="bg2">
                        <a:lumMod val="90000"/>
                      </a:schemeClr>
                    </a:solidFill>
                  </a:tcPr>
                </a:tc>
                <a:tc>
                  <a:txBody>
                    <a:bodyPr/>
                    <a:lstStyle/>
                    <a:p>
                      <a:r>
                        <a:rPr lang="en-GB" sz="1400" b="1" dirty="0">
                          <a:solidFill>
                            <a:schemeClr val="tx1"/>
                          </a:solidFill>
                        </a:rPr>
                        <a:t>Gamma </a:t>
                      </a:r>
                    </a:p>
                    <a:p>
                      <a:r>
                        <a:rPr lang="en-GB" sz="1400" b="1" dirty="0">
                          <a:solidFill>
                            <a:schemeClr val="tx1"/>
                          </a:solidFill>
                        </a:rPr>
                        <a:t>Rays</a:t>
                      </a:r>
                    </a:p>
                  </a:txBody>
                  <a:tcPr>
                    <a:solidFill>
                      <a:schemeClr val="bg2">
                        <a:lumMod val="90000"/>
                      </a:schemeClr>
                    </a:solidFill>
                  </a:tcPr>
                </a:tc>
                <a:extLst>
                  <a:ext uri="{0D108BD9-81ED-4DB2-BD59-A6C34878D82A}">
                    <a16:rowId xmlns:a16="http://schemas.microsoft.com/office/drawing/2014/main" val="2674062378"/>
                  </a:ext>
                </a:extLst>
              </a:tr>
            </a:tbl>
          </a:graphicData>
        </a:graphic>
      </p:graphicFrame>
      <p:sp>
        <p:nvSpPr>
          <p:cNvPr id="5" name="Left Brace 4"/>
          <p:cNvSpPr/>
          <p:nvPr/>
        </p:nvSpPr>
        <p:spPr>
          <a:xfrm rot="5400000">
            <a:off x="2175170" y="2822684"/>
            <a:ext cx="232549" cy="816428"/>
          </a:xfrm>
          <a:prstGeom prst="leftBrace">
            <a:avLst>
              <a:gd name="adj1" fmla="val 60484"/>
              <a:gd name="adj2" fmla="val 50000"/>
            </a:avLst>
          </a:prstGeom>
          <a:ln w="28575">
            <a:solidFill>
              <a:schemeClr val="bg2">
                <a:lumMod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6" name="Left Brace 5"/>
          <p:cNvSpPr/>
          <p:nvPr/>
        </p:nvSpPr>
        <p:spPr>
          <a:xfrm rot="5400000">
            <a:off x="3851651" y="2822684"/>
            <a:ext cx="232549" cy="816428"/>
          </a:xfrm>
          <a:prstGeom prst="leftBrace">
            <a:avLst>
              <a:gd name="adj1" fmla="val 60484"/>
              <a:gd name="adj2" fmla="val 50000"/>
            </a:avLst>
          </a:prstGeom>
          <a:ln w="28575">
            <a:solidFill>
              <a:schemeClr val="bg2">
                <a:lumMod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7" name="Left Brace 6"/>
          <p:cNvSpPr/>
          <p:nvPr/>
        </p:nvSpPr>
        <p:spPr>
          <a:xfrm rot="5400000">
            <a:off x="5484345" y="2822684"/>
            <a:ext cx="232549" cy="816428"/>
          </a:xfrm>
          <a:prstGeom prst="leftBrace">
            <a:avLst>
              <a:gd name="adj1" fmla="val 60484"/>
              <a:gd name="adj2" fmla="val 50000"/>
            </a:avLst>
          </a:prstGeom>
          <a:ln w="28575">
            <a:solidFill>
              <a:schemeClr val="bg2">
                <a:lumMod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8" name="TextBox 7"/>
          <p:cNvSpPr txBox="1"/>
          <p:nvPr/>
        </p:nvSpPr>
        <p:spPr>
          <a:xfrm>
            <a:off x="4033160" y="4498717"/>
            <a:ext cx="1159245" cy="646331"/>
          </a:xfrm>
          <a:prstGeom prst="rect">
            <a:avLst/>
          </a:prstGeom>
          <a:solidFill>
            <a:schemeClr val="accent6">
              <a:lumMod val="60000"/>
              <a:lumOff val="40000"/>
            </a:schemeClr>
          </a:solidFill>
        </p:spPr>
        <p:txBody>
          <a:bodyPr wrap="square" rtlCol="0">
            <a:spAutoFit/>
          </a:bodyPr>
          <a:lstStyle/>
          <a:p>
            <a:pPr algn="ctr"/>
            <a:r>
              <a:rPr lang="en-GB" dirty="0"/>
              <a:t> ISM</a:t>
            </a:r>
          </a:p>
          <a:p>
            <a:pPr algn="ctr"/>
            <a:r>
              <a:rPr lang="en-GB" dirty="0"/>
              <a:t>902 - 928</a:t>
            </a:r>
          </a:p>
        </p:txBody>
      </p:sp>
      <p:sp>
        <p:nvSpPr>
          <p:cNvPr id="9" name="TextBox 8"/>
          <p:cNvSpPr txBox="1"/>
          <p:nvPr/>
        </p:nvSpPr>
        <p:spPr>
          <a:xfrm>
            <a:off x="5480960" y="4498717"/>
            <a:ext cx="1485897" cy="646331"/>
          </a:xfrm>
          <a:prstGeom prst="rect">
            <a:avLst/>
          </a:prstGeom>
          <a:solidFill>
            <a:schemeClr val="accent6">
              <a:lumMod val="40000"/>
              <a:lumOff val="60000"/>
            </a:schemeClr>
          </a:solidFill>
        </p:spPr>
        <p:txBody>
          <a:bodyPr wrap="square" rtlCol="0">
            <a:spAutoFit/>
          </a:bodyPr>
          <a:lstStyle/>
          <a:p>
            <a:pPr algn="ctr"/>
            <a:r>
              <a:rPr lang="en-GB" dirty="0"/>
              <a:t> ISM</a:t>
            </a:r>
          </a:p>
          <a:p>
            <a:pPr algn="ctr"/>
            <a:r>
              <a:rPr lang="en-GB" dirty="0"/>
              <a:t>2.4 – 2.5GHz</a:t>
            </a:r>
          </a:p>
        </p:txBody>
      </p:sp>
      <p:sp>
        <p:nvSpPr>
          <p:cNvPr id="10" name="TextBox 9"/>
          <p:cNvSpPr txBox="1"/>
          <p:nvPr/>
        </p:nvSpPr>
        <p:spPr>
          <a:xfrm>
            <a:off x="7124702" y="4498718"/>
            <a:ext cx="1485897" cy="646331"/>
          </a:xfrm>
          <a:prstGeom prst="rect">
            <a:avLst/>
          </a:prstGeom>
          <a:solidFill>
            <a:schemeClr val="accent6">
              <a:lumMod val="20000"/>
              <a:lumOff val="80000"/>
            </a:schemeClr>
          </a:solidFill>
        </p:spPr>
        <p:txBody>
          <a:bodyPr wrap="square" rtlCol="0">
            <a:spAutoFit/>
          </a:bodyPr>
          <a:lstStyle/>
          <a:p>
            <a:pPr algn="ctr"/>
            <a:r>
              <a:rPr lang="en-GB" dirty="0"/>
              <a:t> ISM</a:t>
            </a:r>
          </a:p>
          <a:p>
            <a:pPr algn="ctr"/>
            <a:r>
              <a:rPr lang="en-GB" dirty="0"/>
              <a:t>5GHz</a:t>
            </a:r>
          </a:p>
        </p:txBody>
      </p:sp>
      <p:cxnSp>
        <p:nvCxnSpPr>
          <p:cNvPr id="12" name="Straight Connector 11"/>
          <p:cNvCxnSpPr/>
          <p:nvPr/>
        </p:nvCxnSpPr>
        <p:spPr>
          <a:xfrm flipV="1">
            <a:off x="4767943" y="3911502"/>
            <a:ext cx="1455965" cy="587215"/>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V="1">
            <a:off x="6332335" y="3887830"/>
            <a:ext cx="0" cy="564717"/>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H="1" flipV="1">
            <a:off x="6606191" y="3911502"/>
            <a:ext cx="1261459" cy="587215"/>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43241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8024227" y="4362383"/>
            <a:ext cx="3648810" cy="1298361"/>
          </a:xfrm>
          <a:prstGeom prst="rect">
            <a:avLst/>
          </a:prstGeom>
        </p:spPr>
      </p:pic>
      <p:sp>
        <p:nvSpPr>
          <p:cNvPr id="5" name="Title 4">
            <a:extLst>
              <a:ext uri="{FF2B5EF4-FFF2-40B4-BE49-F238E27FC236}">
                <a16:creationId xmlns:a16="http://schemas.microsoft.com/office/drawing/2014/main" id="{B2732434-C149-D766-12F7-4075B5D74691}"/>
              </a:ext>
            </a:extLst>
          </p:cNvPr>
          <p:cNvSpPr>
            <a:spLocks noGrp="1"/>
          </p:cNvSpPr>
          <p:nvPr>
            <p:ph type="title"/>
          </p:nvPr>
        </p:nvSpPr>
        <p:spPr/>
        <p:txBody>
          <a:bodyPr/>
          <a:lstStyle/>
          <a:p>
            <a:r>
              <a:rPr lang="en-GB" dirty="0"/>
              <a:t>Wireless Frequencies</a:t>
            </a:r>
          </a:p>
        </p:txBody>
      </p:sp>
      <p:sp>
        <p:nvSpPr>
          <p:cNvPr id="6" name="Content Placeholder 5">
            <a:extLst>
              <a:ext uri="{FF2B5EF4-FFF2-40B4-BE49-F238E27FC236}">
                <a16:creationId xmlns:a16="http://schemas.microsoft.com/office/drawing/2014/main" id="{7F2E7496-E89D-95DD-46B4-B86A0A2F0CBC}"/>
              </a:ext>
            </a:extLst>
          </p:cNvPr>
          <p:cNvSpPr>
            <a:spLocks noGrp="1"/>
          </p:cNvSpPr>
          <p:nvPr>
            <p:ph idx="1"/>
          </p:nvPr>
        </p:nvSpPr>
        <p:spPr/>
        <p:txBody>
          <a:bodyPr>
            <a:normAutofit/>
          </a:bodyPr>
          <a:lstStyle/>
          <a:p>
            <a:pPr marL="0" indent="0">
              <a:buNone/>
            </a:pPr>
            <a:r>
              <a:rPr lang="en-GB" sz="2800" u="sng" dirty="0"/>
              <a:t>Modulation</a:t>
            </a:r>
          </a:p>
          <a:p>
            <a:r>
              <a:rPr lang="en-GB" sz="2400" dirty="0"/>
              <a:t>Radio frequencies(EMR) has several properties, these can be artificially changed to encode data.</a:t>
            </a:r>
          </a:p>
          <a:p>
            <a:r>
              <a:rPr lang="en-GB" sz="2400" dirty="0"/>
              <a:t>The process is called “Modulation”</a:t>
            </a:r>
          </a:p>
          <a:p>
            <a:r>
              <a:rPr lang="en-GB" sz="2400" dirty="0"/>
              <a:t>The greater the frequency the more data can be encoded into a Wi-Fi signal.</a:t>
            </a:r>
          </a:p>
          <a:p>
            <a:r>
              <a:rPr lang="en-GB" sz="2400" dirty="0"/>
              <a:t>The FM radio that we listen to uses a slower </a:t>
            </a:r>
            <a:br>
              <a:rPr lang="en-GB" sz="2400" dirty="0"/>
            </a:br>
            <a:r>
              <a:rPr lang="en-GB" sz="2400" dirty="0"/>
              <a:t>frequency of MHz unlike Wi-Fi that utilises GHz</a:t>
            </a:r>
          </a:p>
          <a:p>
            <a:r>
              <a:rPr lang="en-GB" sz="2400" dirty="0"/>
              <a:t>Radio Forth 97.3MHz oscillates at over 97 million times a second. </a:t>
            </a:r>
          </a:p>
          <a:p>
            <a:endParaRPr lang="en-GB" dirty="0"/>
          </a:p>
        </p:txBody>
      </p:sp>
    </p:spTree>
    <p:extLst>
      <p:ext uri="{BB962C8B-B14F-4D97-AF65-F5344CB8AC3E}">
        <p14:creationId xmlns:p14="http://schemas.microsoft.com/office/powerpoint/2010/main" val="26220183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43016" y="3969123"/>
            <a:ext cx="4420217" cy="1162212"/>
          </a:xfrm>
          <a:prstGeom prst="rect">
            <a:avLst/>
          </a:prstGeom>
        </p:spPr>
      </p:pic>
      <p:sp>
        <p:nvSpPr>
          <p:cNvPr id="4" name="Title 3">
            <a:extLst>
              <a:ext uri="{FF2B5EF4-FFF2-40B4-BE49-F238E27FC236}">
                <a16:creationId xmlns:a16="http://schemas.microsoft.com/office/drawing/2014/main" id="{F900804F-9D3B-146F-F241-8EA6FC0EA402}"/>
              </a:ext>
            </a:extLst>
          </p:cNvPr>
          <p:cNvSpPr>
            <a:spLocks noGrp="1"/>
          </p:cNvSpPr>
          <p:nvPr>
            <p:ph type="title"/>
          </p:nvPr>
        </p:nvSpPr>
        <p:spPr/>
        <p:txBody>
          <a:bodyPr/>
          <a:lstStyle/>
          <a:p>
            <a:r>
              <a:rPr lang="en-GB" dirty="0"/>
              <a:t>Wavelengths</a:t>
            </a:r>
          </a:p>
        </p:txBody>
      </p:sp>
      <p:sp>
        <p:nvSpPr>
          <p:cNvPr id="6" name="Content Placeholder 5">
            <a:extLst>
              <a:ext uri="{FF2B5EF4-FFF2-40B4-BE49-F238E27FC236}">
                <a16:creationId xmlns:a16="http://schemas.microsoft.com/office/drawing/2014/main" id="{7E4788EF-F6C2-0743-1D51-1CE7EDA93709}"/>
              </a:ext>
            </a:extLst>
          </p:cNvPr>
          <p:cNvSpPr>
            <a:spLocks noGrp="1"/>
          </p:cNvSpPr>
          <p:nvPr>
            <p:ph idx="1"/>
          </p:nvPr>
        </p:nvSpPr>
        <p:spPr/>
        <p:txBody>
          <a:bodyPr>
            <a:normAutofit fontScale="92500" lnSpcReduction="10000"/>
          </a:bodyPr>
          <a:lstStyle/>
          <a:p>
            <a:pPr marL="342900" indent="-342900">
              <a:buFont typeface="Arial" panose="020B0604020202020204" pitchFamily="34" charset="0"/>
              <a:buChar char="•"/>
            </a:pPr>
            <a:r>
              <a:rPr lang="en-GB" sz="2400" dirty="0"/>
              <a:t>Measured in metres</a:t>
            </a:r>
          </a:p>
          <a:p>
            <a:pPr marL="342900" indent="-342900">
              <a:buFont typeface="Arial" panose="020B0604020202020204" pitchFamily="34" charset="0"/>
              <a:buChar char="•"/>
            </a:pPr>
            <a:r>
              <a:rPr lang="en-GB" sz="2400" dirty="0"/>
              <a:t>Wavelength is related to frequency</a:t>
            </a:r>
          </a:p>
          <a:p>
            <a:pPr marL="342900" indent="-342900">
              <a:buFont typeface="Arial" panose="020B0604020202020204" pitchFamily="34" charset="0"/>
              <a:buChar char="•"/>
            </a:pPr>
            <a:r>
              <a:rPr lang="en-GB" sz="2400" dirty="0"/>
              <a:t>The higher the frequency, the shorter the wavelength</a:t>
            </a:r>
          </a:p>
          <a:p>
            <a:pPr marL="342900" indent="-342900">
              <a:buFont typeface="Arial" panose="020B0604020202020204" pitchFamily="34" charset="0"/>
              <a:buChar char="•"/>
            </a:pPr>
            <a:r>
              <a:rPr lang="en-GB" sz="2400" dirty="0"/>
              <a:t>The longer the wavelength, the better the signal propagates through obstacles to Wi-Fi.</a:t>
            </a:r>
          </a:p>
          <a:p>
            <a:endParaRPr lang="en-GB" sz="2400" dirty="0"/>
          </a:p>
          <a:p>
            <a:endParaRPr lang="en-GB" sz="2400" dirty="0"/>
          </a:p>
          <a:p>
            <a:endParaRPr lang="en-GB" sz="2400" dirty="0"/>
          </a:p>
          <a:p>
            <a:pPr algn="ctr"/>
            <a:endParaRPr lang="en-GB" sz="2400" dirty="0"/>
          </a:p>
          <a:p>
            <a:pPr algn="ctr"/>
            <a:endParaRPr lang="en-GB" sz="2400" dirty="0"/>
          </a:p>
          <a:p>
            <a:r>
              <a:rPr lang="en-GB" sz="2400" dirty="0"/>
              <a:t>5GHz is faster but if you have obstacles between you AP and Client 2.4GHz could be more advantageous.</a:t>
            </a:r>
          </a:p>
          <a:p>
            <a:endParaRPr lang="en-GB" dirty="0"/>
          </a:p>
        </p:txBody>
      </p:sp>
    </p:spTree>
    <p:extLst>
      <p:ext uri="{BB962C8B-B14F-4D97-AF65-F5344CB8AC3E}">
        <p14:creationId xmlns:p14="http://schemas.microsoft.com/office/powerpoint/2010/main" val="6776025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33622" y="2214558"/>
            <a:ext cx="1754205" cy="987339"/>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38661" y="4191001"/>
            <a:ext cx="1749166" cy="985368"/>
          </a:xfrm>
          <a:prstGeom prst="rect">
            <a:avLst/>
          </a:prstGeom>
        </p:spPr>
      </p:pic>
      <p:sp>
        <p:nvSpPr>
          <p:cNvPr id="6" name="Title 5">
            <a:extLst>
              <a:ext uri="{FF2B5EF4-FFF2-40B4-BE49-F238E27FC236}">
                <a16:creationId xmlns:a16="http://schemas.microsoft.com/office/drawing/2014/main" id="{AFAF9824-96F7-BA40-92EF-4A3D550D975A}"/>
              </a:ext>
            </a:extLst>
          </p:cNvPr>
          <p:cNvSpPr>
            <a:spLocks noGrp="1"/>
          </p:cNvSpPr>
          <p:nvPr>
            <p:ph type="title"/>
          </p:nvPr>
        </p:nvSpPr>
        <p:spPr/>
        <p:txBody>
          <a:bodyPr/>
          <a:lstStyle/>
          <a:p>
            <a:r>
              <a:rPr lang="en-GB" sz="4400" dirty="0"/>
              <a:t>Amplitude</a:t>
            </a:r>
            <a:endParaRPr lang="en-GB" dirty="0"/>
          </a:p>
        </p:txBody>
      </p:sp>
      <p:sp>
        <p:nvSpPr>
          <p:cNvPr id="7" name="Content Placeholder 6">
            <a:extLst>
              <a:ext uri="{FF2B5EF4-FFF2-40B4-BE49-F238E27FC236}">
                <a16:creationId xmlns:a16="http://schemas.microsoft.com/office/drawing/2014/main" id="{2DD69AAC-93FA-1B79-EA89-B63BE77BDB93}"/>
              </a:ext>
            </a:extLst>
          </p:cNvPr>
          <p:cNvSpPr>
            <a:spLocks noGrp="1"/>
          </p:cNvSpPr>
          <p:nvPr>
            <p:ph idx="1"/>
          </p:nvPr>
        </p:nvSpPr>
        <p:spPr/>
        <p:txBody>
          <a:bodyPr>
            <a:normAutofit lnSpcReduction="10000"/>
          </a:bodyPr>
          <a:lstStyle/>
          <a:p>
            <a:pPr marL="342900" indent="-342900">
              <a:buFont typeface="Arial" panose="020B0604020202020204" pitchFamily="34" charset="0"/>
              <a:buChar char="•"/>
            </a:pPr>
            <a:r>
              <a:rPr lang="en-GB" sz="2800" dirty="0"/>
              <a:t>Strength of a signal, measured through power.</a:t>
            </a:r>
          </a:p>
          <a:p>
            <a:pPr marL="342900" indent="-342900">
              <a:buFont typeface="Arial" panose="020B0604020202020204" pitchFamily="34" charset="0"/>
              <a:buChar char="•"/>
            </a:pPr>
            <a:r>
              <a:rPr lang="en-GB" sz="2800" dirty="0"/>
              <a:t>Amplitude can be modulated to encode data.</a:t>
            </a:r>
          </a:p>
          <a:p>
            <a:pPr marL="342900" indent="-342900">
              <a:buFont typeface="Arial" panose="020B0604020202020204" pitchFamily="34" charset="0"/>
              <a:buChar char="•"/>
            </a:pPr>
            <a:endParaRPr lang="en-GB" sz="2800" dirty="0"/>
          </a:p>
          <a:p>
            <a:pPr marL="342900" indent="-342900">
              <a:buFont typeface="Arial" panose="020B0604020202020204" pitchFamily="34" charset="0"/>
              <a:buChar char="•"/>
            </a:pPr>
            <a:endParaRPr lang="en-GB" sz="2800" dirty="0"/>
          </a:p>
          <a:p>
            <a:pPr marL="342900" indent="-342900">
              <a:buFont typeface="Arial" panose="020B0604020202020204" pitchFamily="34" charset="0"/>
              <a:buChar char="•"/>
            </a:pPr>
            <a:endParaRPr lang="en-GB" sz="2800" dirty="0"/>
          </a:p>
          <a:p>
            <a:pPr marL="342900" indent="-342900">
              <a:buFont typeface="Arial" panose="020B0604020202020204" pitchFamily="34" charset="0"/>
              <a:buChar char="•"/>
            </a:pPr>
            <a:endParaRPr lang="en-GB" sz="2800" dirty="0"/>
          </a:p>
          <a:p>
            <a:pPr marL="342900" indent="-342900">
              <a:buFont typeface="Arial" panose="020B0604020202020204" pitchFamily="34" charset="0"/>
              <a:buChar char="•"/>
            </a:pPr>
            <a:r>
              <a:rPr lang="en-GB" sz="2800" dirty="0"/>
              <a:t>RF amplitude weakens greatly over distance </a:t>
            </a:r>
            <a:br>
              <a:rPr lang="en-GB" sz="2800" dirty="0"/>
            </a:br>
            <a:r>
              <a:rPr lang="en-GB" sz="2800" dirty="0"/>
              <a:t>and as it passes through objects.</a:t>
            </a:r>
          </a:p>
          <a:p>
            <a:pPr marL="342900" indent="-342900">
              <a:buFont typeface="Arial" panose="020B0604020202020204" pitchFamily="34" charset="0"/>
              <a:buChar char="•"/>
            </a:pPr>
            <a:r>
              <a:rPr lang="en-GB" sz="2800" dirty="0"/>
              <a:t>This a called Attenuation</a:t>
            </a:r>
            <a:endParaRPr lang="en-GB" dirty="0"/>
          </a:p>
        </p:txBody>
      </p:sp>
    </p:spTree>
    <p:extLst>
      <p:ext uri="{BB962C8B-B14F-4D97-AF65-F5344CB8AC3E}">
        <p14:creationId xmlns:p14="http://schemas.microsoft.com/office/powerpoint/2010/main" val="16591888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What is CSMA/CD (Carrier Sense Multiple Access/Collision Detec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57764" y="1423466"/>
            <a:ext cx="1565675" cy="4349806"/>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930E43B4-AECD-5ACB-751F-CF042E2E35D7}"/>
              </a:ext>
            </a:extLst>
          </p:cNvPr>
          <p:cNvSpPr>
            <a:spLocks noGrp="1"/>
          </p:cNvSpPr>
          <p:nvPr>
            <p:ph type="title"/>
          </p:nvPr>
        </p:nvSpPr>
        <p:spPr/>
        <p:txBody>
          <a:bodyPr>
            <a:normAutofit/>
          </a:bodyPr>
          <a:lstStyle/>
          <a:p>
            <a:r>
              <a:rPr lang="en-GB" sz="4400" dirty="0"/>
              <a:t>Carrier Sense Multiple Access/Collision Avoidance</a:t>
            </a:r>
            <a:endParaRPr lang="en-GB" dirty="0"/>
          </a:p>
        </p:txBody>
      </p:sp>
      <p:sp>
        <p:nvSpPr>
          <p:cNvPr id="5" name="Content Placeholder 4">
            <a:extLst>
              <a:ext uri="{FF2B5EF4-FFF2-40B4-BE49-F238E27FC236}">
                <a16:creationId xmlns:a16="http://schemas.microsoft.com/office/drawing/2014/main" id="{203AF201-1780-7DD2-ED54-22873DD6779B}"/>
              </a:ext>
            </a:extLst>
          </p:cNvPr>
          <p:cNvSpPr>
            <a:spLocks noGrp="1"/>
          </p:cNvSpPr>
          <p:nvPr>
            <p:ph idx="1"/>
          </p:nvPr>
        </p:nvSpPr>
        <p:spPr>
          <a:xfrm>
            <a:off x="838200" y="1825625"/>
            <a:ext cx="8461342" cy="4351338"/>
          </a:xfrm>
        </p:spPr>
        <p:txBody>
          <a:bodyPr>
            <a:normAutofit fontScale="70000" lnSpcReduction="20000"/>
          </a:bodyPr>
          <a:lstStyle/>
          <a:p>
            <a:endParaRPr lang="en-GB" sz="3600" dirty="0"/>
          </a:p>
          <a:p>
            <a:r>
              <a:rPr lang="en-GB" dirty="0"/>
              <a:t>The access to a radio channel in systems according to the 802.11 standard is controlled by a random procedure called Carrier Sense Multiple Access with Collision Avoidance (CSMA/CA)</a:t>
            </a:r>
          </a:p>
          <a:p>
            <a:r>
              <a:rPr lang="en-GB" dirty="0"/>
              <a:t>This technique permits the simultaneous access of several devices to the carrier medium. </a:t>
            </a:r>
          </a:p>
          <a:p>
            <a:r>
              <a:rPr lang="en-GB" dirty="0"/>
              <a:t>The working of CSMA/CA can be described in the following way:</a:t>
            </a:r>
          </a:p>
          <a:p>
            <a:pPr lvl="1"/>
            <a:r>
              <a:rPr lang="en-GB" dirty="0"/>
              <a:t>When a station wants to send a data packet it checks the carrier medium,</a:t>
            </a:r>
          </a:p>
          <a:p>
            <a:pPr lvl="1"/>
            <a:r>
              <a:rPr lang="en-GB" dirty="0"/>
              <a:t>whether other signals are present. If it cannot detect any signal it waits for a short random time interval (inter-frame spacing) and then checks again, if the medium is clean. </a:t>
            </a:r>
          </a:p>
          <a:p>
            <a:pPr lvl="1"/>
            <a:r>
              <a:rPr lang="en-GB" dirty="0"/>
              <a:t>If this is the case the data packet is transmitted.</a:t>
            </a:r>
          </a:p>
          <a:p>
            <a:pPr lvl="1"/>
            <a:r>
              <a:rPr lang="en-GB" dirty="0"/>
              <a:t>The station having received the packet checks its integrity. If everything is okay, a receipt is sent after another short inter-frame spacing. If the sending station does not receive an acknowledgement, it is assumed that a collision with a different data packet has taken place. The station waits again for a random time interval and then tries again.</a:t>
            </a:r>
            <a:endParaRPr lang="en-GB" sz="3200" dirty="0"/>
          </a:p>
          <a:p>
            <a:endParaRPr lang="en-GB" dirty="0"/>
          </a:p>
        </p:txBody>
      </p:sp>
    </p:spTree>
    <p:extLst>
      <p:ext uri="{BB962C8B-B14F-4D97-AF65-F5344CB8AC3E}">
        <p14:creationId xmlns:p14="http://schemas.microsoft.com/office/powerpoint/2010/main" val="18636280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2469359" y="4899336"/>
            <a:ext cx="6967529" cy="1309415"/>
          </a:xfrm>
          <a:prstGeom prst="rect">
            <a:avLst/>
          </a:prstGeom>
        </p:spPr>
      </p:pic>
      <p:sp>
        <p:nvSpPr>
          <p:cNvPr id="6" name="Title 5">
            <a:extLst>
              <a:ext uri="{FF2B5EF4-FFF2-40B4-BE49-F238E27FC236}">
                <a16:creationId xmlns:a16="http://schemas.microsoft.com/office/drawing/2014/main" id="{3A6B1276-6EB6-97FF-9D64-2C7293AC4415}"/>
              </a:ext>
            </a:extLst>
          </p:cNvPr>
          <p:cNvSpPr>
            <a:spLocks noGrp="1"/>
          </p:cNvSpPr>
          <p:nvPr>
            <p:ph type="title"/>
          </p:nvPr>
        </p:nvSpPr>
        <p:spPr/>
        <p:txBody>
          <a:bodyPr/>
          <a:lstStyle/>
          <a:p>
            <a:r>
              <a:rPr lang="en-GB" dirty="0"/>
              <a:t>What are overlapping channels?</a:t>
            </a:r>
          </a:p>
        </p:txBody>
      </p:sp>
      <p:sp>
        <p:nvSpPr>
          <p:cNvPr id="7" name="Content Placeholder 6">
            <a:extLst>
              <a:ext uri="{FF2B5EF4-FFF2-40B4-BE49-F238E27FC236}">
                <a16:creationId xmlns:a16="http://schemas.microsoft.com/office/drawing/2014/main" id="{5FF33351-22A6-8790-F3E2-8DD04C784767}"/>
              </a:ext>
            </a:extLst>
          </p:cNvPr>
          <p:cNvSpPr>
            <a:spLocks noGrp="1"/>
          </p:cNvSpPr>
          <p:nvPr>
            <p:ph idx="1"/>
          </p:nvPr>
        </p:nvSpPr>
        <p:spPr>
          <a:xfrm>
            <a:off x="838200" y="1825625"/>
            <a:ext cx="10515600" cy="2868923"/>
          </a:xfrm>
        </p:spPr>
        <p:txBody>
          <a:bodyPr>
            <a:normAutofit/>
          </a:bodyPr>
          <a:lstStyle/>
          <a:p>
            <a:r>
              <a:rPr lang="en-GB" sz="2200" dirty="0">
                <a:latin typeface="Arial" panose="020B0604020202020204" pitchFamily="34" charset="0"/>
              </a:rPr>
              <a:t>You may be wondering: If an 802.11b channel is 22 MHz wide and operates in a band of frequencies that is 83.5 MHz wide, then how do we fit in 11 channels? </a:t>
            </a:r>
          </a:p>
          <a:p>
            <a:r>
              <a:rPr lang="en-GB" sz="2200" dirty="0">
                <a:latin typeface="Arial" panose="020B0604020202020204" pitchFamily="34" charset="0"/>
              </a:rPr>
              <a:t>The answer is that we “cheat.” Each centre frequency is spaced only 5 MHz apart, meaning that each channel overlaps with other, adjacent channels. </a:t>
            </a:r>
          </a:p>
          <a:p>
            <a:r>
              <a:rPr lang="en-GB" sz="2200" dirty="0">
                <a:latin typeface="Arial" panose="020B0604020202020204" pitchFamily="34" charset="0"/>
              </a:rPr>
              <a:t>The only way to have truly non-overlapping (and noninterfering) channels is to use Channels 1, 6, and 11. That’s why you sometimes hear people say that 802.11 only has three “real” channels.</a:t>
            </a:r>
            <a:endParaRPr lang="en-GB" sz="2200" dirty="0"/>
          </a:p>
          <a:p>
            <a:endParaRPr lang="en-GB" dirty="0"/>
          </a:p>
        </p:txBody>
      </p:sp>
    </p:spTree>
    <p:extLst>
      <p:ext uri="{BB962C8B-B14F-4D97-AF65-F5344CB8AC3E}">
        <p14:creationId xmlns:p14="http://schemas.microsoft.com/office/powerpoint/2010/main" val="40026351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lide Master" id="{DB57AD56-53FF-46D7-B4CE-2A82CA236852}" vid="{61685CE2-5B07-4672-B363-04E4FBD73284}"/>
    </a:ext>
  </a:extLst>
</a:theme>
</file>

<file path=docProps/app.xml><?xml version="1.0" encoding="utf-8"?>
<Properties xmlns="http://schemas.openxmlformats.org/officeDocument/2006/extended-properties" xmlns:vt="http://schemas.openxmlformats.org/officeDocument/2006/docPropsVTypes">
  <Template>West Lothain College 23-24</Template>
  <TotalTime>89</TotalTime>
  <Words>2005</Words>
  <Application>Microsoft Office PowerPoint</Application>
  <PresentationFormat>Widescreen</PresentationFormat>
  <Paragraphs>339</Paragraphs>
  <Slides>29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Calibri Light</vt:lpstr>
      <vt:lpstr>Wingdings</vt:lpstr>
      <vt:lpstr>Office Theme</vt:lpstr>
      <vt:lpstr>Wireless Device Security</vt:lpstr>
      <vt:lpstr>Wireless Device Security</vt:lpstr>
      <vt:lpstr>Wireless Device Security</vt:lpstr>
      <vt:lpstr>Wireless Device Security</vt:lpstr>
      <vt:lpstr>Wireless Device Security</vt:lpstr>
      <vt:lpstr>PowerPoint Presentation</vt:lpstr>
      <vt:lpstr>Wireless Device Fundamentals</vt:lpstr>
      <vt:lpstr>What is Wi-Fi</vt:lpstr>
      <vt:lpstr>Wi-Fi Standardisation</vt:lpstr>
      <vt:lpstr>Wireless</vt:lpstr>
      <vt:lpstr>PowerPoint Presentation</vt:lpstr>
      <vt:lpstr>Wi-Fi Wireless Local Area Network </vt:lpstr>
      <vt:lpstr>Wi-Fi Wireless LAN</vt:lpstr>
      <vt:lpstr>Wi-Fi Wireless LAN</vt:lpstr>
      <vt:lpstr>Wi-Fi Wireless LAN</vt:lpstr>
      <vt:lpstr>Wi-Fi Wireless LAN</vt:lpstr>
      <vt:lpstr>Wi-Fi Wireless LAN</vt:lpstr>
      <vt:lpstr>Wi-Fi Definitions</vt:lpstr>
      <vt:lpstr>Wi-Fi Definitions</vt:lpstr>
      <vt:lpstr>PowerPoint Presentation</vt:lpstr>
      <vt:lpstr>Wi-Fi Wireless Frequencies</vt:lpstr>
      <vt:lpstr>Electro Magnetic Radiation</vt:lpstr>
      <vt:lpstr>Wi-Fi Wireless Frequencies</vt:lpstr>
      <vt:lpstr>PowerPoint Presentation</vt:lpstr>
      <vt:lpstr>Wireless Frequencies</vt:lpstr>
      <vt:lpstr>Wavelengths</vt:lpstr>
      <vt:lpstr>Amplitude</vt:lpstr>
      <vt:lpstr>Carrier Sense Multiple Access/Collision Avoidance</vt:lpstr>
      <vt:lpstr>What are overlapping channels?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Wireless Device Security</dc:title>
  <dc:subject>Wireless</dc:subject>
  <dc:creator/>
  <cp:lastModifiedBy>David Reid</cp:lastModifiedBy>
  <cp:revision>8</cp:revision>
  <dcterms:created xsi:type="dcterms:W3CDTF">2023-08-28T12:43:41Z</dcterms:created>
  <dcterms:modified xsi:type="dcterms:W3CDTF">2024-08-28T07:48:44Z</dcterms:modified>
</cp:coreProperties>
</file>