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88" r:id="rId5"/>
    <p:sldId id="284" r:id="rId6"/>
    <p:sldId id="260" r:id="rId7"/>
    <p:sldId id="261" r:id="rId8"/>
    <p:sldId id="262" r:id="rId9"/>
    <p:sldId id="263" r:id="rId10"/>
    <p:sldId id="264" r:id="rId11"/>
    <p:sldId id="265" r:id="rId12"/>
    <p:sldId id="266" r:id="rId13"/>
    <p:sldId id="267" r:id="rId14"/>
    <p:sldId id="285" r:id="rId15"/>
    <p:sldId id="268" r:id="rId16"/>
    <p:sldId id="269" r:id="rId17"/>
    <p:sldId id="270" r:id="rId18"/>
    <p:sldId id="271" r:id="rId19"/>
    <p:sldId id="272" r:id="rId20"/>
    <p:sldId id="273" r:id="rId21"/>
    <p:sldId id="274" r:id="rId22"/>
    <p:sldId id="275" r:id="rId23"/>
    <p:sldId id="289" r:id="rId24"/>
    <p:sldId id="276" r:id="rId25"/>
    <p:sldId id="277" r:id="rId26"/>
    <p:sldId id="278" r:id="rId27"/>
    <p:sldId id="279" r:id="rId28"/>
    <p:sldId id="286" r:id="rId29"/>
    <p:sldId id="280" r:id="rId30"/>
    <p:sldId id="281" r:id="rId31"/>
    <p:sldId id="282" r:id="rId32"/>
    <p:sldId id="287" r:id="rId33"/>
    <p:sldId id="291" r:id="rId34"/>
    <p:sldId id="290" r:id="rId35"/>
    <p:sldId id="292" r:id="rId36"/>
    <p:sldId id="293" r:id="rId37"/>
    <p:sldId id="294" r:id="rId38"/>
    <p:sldId id="295" r:id="rId39"/>
    <p:sldId id="296"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BF6CB5-2056-42AD-B38C-8E80D89D0A30}" v="1" dt="2023-09-04T12:09:03.9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66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F26F4-7B67-B55C-987C-9294F9ED1698}"/>
              </a:ext>
            </a:extLst>
          </p:cNvPr>
          <p:cNvSpPr>
            <a:spLocks noGrp="1"/>
          </p:cNvSpPr>
          <p:nvPr>
            <p:ph type="ctrTitle"/>
          </p:nvPr>
        </p:nvSpPr>
        <p:spPr>
          <a:xfrm>
            <a:off x="1524000" y="1122363"/>
            <a:ext cx="9144000" cy="2387600"/>
          </a:xfrm>
        </p:spPr>
        <p:txBody>
          <a:bodyPr anchor="b"/>
          <a:lstStyle>
            <a:lvl1pPr algn="ctr">
              <a:defRPr sz="6000">
                <a:solidFill>
                  <a:srgbClr val="002060"/>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8DBBE4A0-A0A5-8A47-6F17-6ECA8E12B312}"/>
              </a:ext>
            </a:extLst>
          </p:cNvPr>
          <p:cNvSpPr>
            <a:spLocks noGrp="1"/>
          </p:cNvSpPr>
          <p:nvPr>
            <p:ph type="subTitle" idx="1"/>
          </p:nvPr>
        </p:nvSpPr>
        <p:spPr>
          <a:xfrm>
            <a:off x="1524000" y="3602038"/>
            <a:ext cx="9144000" cy="1655762"/>
          </a:xfrm>
        </p:spPr>
        <p:txBody>
          <a:bodyPr/>
          <a:lstStyle>
            <a:lvl1pPr marL="0" indent="0" algn="ctr">
              <a:buNone/>
              <a:defRPr sz="2400">
                <a:solidFill>
                  <a:srgbClr val="00206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Tree>
    <p:extLst>
      <p:ext uri="{BB962C8B-B14F-4D97-AF65-F5344CB8AC3E}">
        <p14:creationId xmlns:p14="http://schemas.microsoft.com/office/powerpoint/2010/main" val="37317853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6043-D524-A4E9-0CD0-954EE69ADD19}"/>
              </a:ext>
            </a:extLst>
          </p:cNvPr>
          <p:cNvSpPr>
            <a:spLocks noGrp="1"/>
          </p:cNvSpPr>
          <p:nvPr>
            <p:ph type="title"/>
          </p:nvPr>
        </p:nvSpPr>
        <p:spPr/>
        <p:txBody>
          <a:bodyPr/>
          <a:lstStyle>
            <a:lvl1pPr>
              <a:defRPr>
                <a:solidFill>
                  <a:srgbClr val="002060"/>
                </a:solidFill>
              </a:defRPr>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CDD6EF5E-E871-C0CD-B6D0-FCBB823EF60F}"/>
              </a:ext>
            </a:extLst>
          </p:cNvPr>
          <p:cNvSpPr>
            <a:spLocks noGrp="1"/>
          </p:cNvSpPr>
          <p:nvPr>
            <p:ph idx="1"/>
          </p:nvPr>
        </p:nvSpPr>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73085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4677F-2437-852F-D17B-8BE4BD3603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2394DC0-E8D4-6061-C762-F50E77E19E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122583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62D56-5E38-74D2-8500-6E19D8801B5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1EC02D2-FE11-E3F5-5DEE-118C6255D0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3E628D9-83C7-1318-0717-F404BD8912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04989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7D9C8-51A5-936D-C655-8F51CC9E435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A2A7802-8B28-529D-1385-6D12ED48B2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6F3702-6365-9927-42FB-249644E276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9E48870-5CBB-E804-67DC-DC22AC7B6A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E6EA82-7DB7-008C-903E-9A4E36ADED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845441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7CF6C-B7AE-53D9-D1EC-A3EC7E0606F3}"/>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31773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4291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7B5F4-BBA2-174F-B74C-8A1A71139B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AB77956-62D7-E597-D061-5EE8C924EA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B1BE8C1-B55E-A9B0-9543-B4DED920E3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486421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FC28F-0CFB-B1E5-330D-BE731E50C5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F134CC2-C8BB-1C9C-CC45-EE7F910F36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0B1AE157-919E-CB31-836C-8BFBD642A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4066303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CC6519-13D0-A49E-6731-44507CFCDD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07165863-1D82-AAE6-C59D-9B9988C70F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3330503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rgbClr val="00206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fif"/><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f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2E6B9-F723-FFF9-8EDE-4DA965F759B0}"/>
              </a:ext>
            </a:extLst>
          </p:cNvPr>
          <p:cNvSpPr>
            <a:spLocks noGrp="1"/>
          </p:cNvSpPr>
          <p:nvPr>
            <p:ph type="ctrTitle"/>
          </p:nvPr>
        </p:nvSpPr>
        <p:spPr/>
        <p:txBody>
          <a:bodyPr/>
          <a:lstStyle/>
          <a:p>
            <a:r>
              <a:rPr lang="en-GB" dirty="0"/>
              <a:t>Computer Operating Systems</a:t>
            </a:r>
          </a:p>
        </p:txBody>
      </p:sp>
      <p:sp>
        <p:nvSpPr>
          <p:cNvPr id="3" name="Subtitle 2">
            <a:extLst>
              <a:ext uri="{FF2B5EF4-FFF2-40B4-BE49-F238E27FC236}">
                <a16:creationId xmlns:a16="http://schemas.microsoft.com/office/drawing/2014/main" id="{5A71C4EF-DC33-A9DD-C38C-443E8C5AA8C3}"/>
              </a:ext>
            </a:extLst>
          </p:cNvPr>
          <p:cNvSpPr>
            <a:spLocks noGrp="1"/>
          </p:cNvSpPr>
          <p:nvPr>
            <p:ph type="subTitle" idx="1"/>
          </p:nvPr>
        </p:nvSpPr>
        <p:spPr/>
        <p:txBody>
          <a:bodyPr/>
          <a:lstStyle/>
          <a:p>
            <a:r>
              <a:rPr lang="en-GB" dirty="0"/>
              <a:t>Presentation 02</a:t>
            </a:r>
          </a:p>
        </p:txBody>
      </p:sp>
    </p:spTree>
    <p:extLst>
      <p:ext uri="{BB962C8B-B14F-4D97-AF65-F5344CB8AC3E}">
        <p14:creationId xmlns:p14="http://schemas.microsoft.com/office/powerpoint/2010/main" val="3374085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Computer Operating Systems</a:t>
            </a:r>
          </a:p>
        </p:txBody>
      </p:sp>
      <p:sp>
        <p:nvSpPr>
          <p:cNvPr id="3" name="Content Placeholder 2"/>
          <p:cNvSpPr>
            <a:spLocks noGrp="1"/>
          </p:cNvSpPr>
          <p:nvPr>
            <p:ph idx="1"/>
          </p:nvPr>
        </p:nvSpPr>
        <p:spPr>
          <a:xfrm>
            <a:off x="1145649" y="2438400"/>
            <a:ext cx="9872871" cy="3333135"/>
          </a:xfrm>
        </p:spPr>
        <p:txBody>
          <a:bodyPr>
            <a:normAutofit fontScale="92500" lnSpcReduction="10000"/>
          </a:bodyPr>
          <a:lstStyle/>
          <a:p>
            <a:r>
              <a:rPr lang="en-GB" dirty="0">
                <a:solidFill>
                  <a:schemeClr val="tx1"/>
                </a:solidFill>
              </a:rPr>
              <a:t>We can generally categorize operating systems depending on what they are used for, who can access them and what kind of environment they offer. </a:t>
            </a:r>
          </a:p>
          <a:p>
            <a:endParaRPr lang="en-GB" dirty="0">
              <a:solidFill>
                <a:schemeClr val="tx1"/>
              </a:solidFill>
            </a:endParaRPr>
          </a:p>
          <a:p>
            <a:r>
              <a:rPr lang="en-GB" dirty="0">
                <a:solidFill>
                  <a:schemeClr val="tx1"/>
                </a:solidFill>
              </a:rPr>
              <a:t>Different types of operating systems can include:</a:t>
            </a:r>
          </a:p>
          <a:p>
            <a:pPr lvl="1"/>
            <a:r>
              <a:rPr lang="en-GB" dirty="0">
                <a:solidFill>
                  <a:schemeClr val="tx1"/>
                </a:solidFill>
              </a:rPr>
              <a:t>Single User</a:t>
            </a:r>
          </a:p>
          <a:p>
            <a:pPr lvl="1"/>
            <a:r>
              <a:rPr lang="en-GB" dirty="0">
                <a:solidFill>
                  <a:schemeClr val="tx1"/>
                </a:solidFill>
              </a:rPr>
              <a:t>Multi User </a:t>
            </a:r>
          </a:p>
          <a:p>
            <a:pPr lvl="1"/>
            <a:r>
              <a:rPr lang="en-GB" dirty="0">
                <a:solidFill>
                  <a:schemeClr val="tx1"/>
                </a:solidFill>
              </a:rPr>
              <a:t>Mobile Operating Systems </a:t>
            </a:r>
          </a:p>
          <a:p>
            <a:pPr lvl="1"/>
            <a:r>
              <a:rPr lang="en-GB" dirty="0">
                <a:solidFill>
                  <a:schemeClr val="tx1"/>
                </a:solidFill>
              </a:rPr>
              <a:t>Embedded Systems </a:t>
            </a:r>
          </a:p>
          <a:p>
            <a:pPr lvl="1"/>
            <a:endParaRPr lang="en-GB" dirty="0"/>
          </a:p>
        </p:txBody>
      </p:sp>
    </p:spTree>
    <p:extLst>
      <p:ext uri="{BB962C8B-B14F-4D97-AF65-F5344CB8AC3E}">
        <p14:creationId xmlns:p14="http://schemas.microsoft.com/office/powerpoint/2010/main" val="1618393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589935"/>
            <a:ext cx="9875520" cy="1356360"/>
          </a:xfrm>
        </p:spPr>
        <p:txBody>
          <a:bodyPr/>
          <a:lstStyle/>
          <a:p>
            <a:r>
              <a:rPr lang="en-GB" dirty="0">
                <a:solidFill>
                  <a:schemeClr val="tx1"/>
                </a:solidFill>
              </a:rPr>
              <a:t>Single User Operating Systems</a:t>
            </a:r>
          </a:p>
        </p:txBody>
      </p:sp>
      <p:sp>
        <p:nvSpPr>
          <p:cNvPr id="3" name="Content Placeholder 2"/>
          <p:cNvSpPr>
            <a:spLocks noGrp="1"/>
          </p:cNvSpPr>
          <p:nvPr>
            <p:ph idx="1"/>
          </p:nvPr>
        </p:nvSpPr>
        <p:spPr/>
        <p:txBody>
          <a:bodyPr/>
          <a:lstStyle/>
          <a:p>
            <a:r>
              <a:rPr lang="en-GB" dirty="0">
                <a:solidFill>
                  <a:schemeClr val="tx1"/>
                </a:solidFill>
              </a:rPr>
              <a:t>We can deem a system as single-user, if the OS provides support for only one user at a time. </a:t>
            </a:r>
          </a:p>
          <a:p>
            <a:r>
              <a:rPr lang="en-GB" dirty="0">
                <a:solidFill>
                  <a:schemeClr val="tx1"/>
                </a:solidFill>
              </a:rPr>
              <a:t>As well as only providing support for one user, we can split this category of OS into two distinct types:</a:t>
            </a:r>
          </a:p>
          <a:p>
            <a:pPr lvl="1"/>
            <a:endParaRPr lang="en-GB" dirty="0">
              <a:solidFill>
                <a:schemeClr val="tx1"/>
              </a:solidFill>
            </a:endParaRPr>
          </a:p>
          <a:p>
            <a:pPr lvl="1"/>
            <a:r>
              <a:rPr lang="en-GB" b="1" dirty="0">
                <a:solidFill>
                  <a:schemeClr val="tx1"/>
                </a:solidFill>
              </a:rPr>
              <a:t>Single –User, Single Tasking </a:t>
            </a:r>
          </a:p>
          <a:p>
            <a:pPr lvl="1"/>
            <a:endParaRPr lang="en-GB" dirty="0">
              <a:solidFill>
                <a:schemeClr val="tx1"/>
              </a:solidFill>
            </a:endParaRPr>
          </a:p>
          <a:p>
            <a:pPr lvl="1"/>
            <a:r>
              <a:rPr lang="en-GB" b="1" dirty="0">
                <a:solidFill>
                  <a:schemeClr val="tx1"/>
                </a:solidFill>
              </a:rPr>
              <a:t>Single-User, Multi Tasking</a:t>
            </a:r>
          </a:p>
        </p:txBody>
      </p:sp>
    </p:spTree>
    <p:extLst>
      <p:ext uri="{BB962C8B-B14F-4D97-AF65-F5344CB8AC3E}">
        <p14:creationId xmlns:p14="http://schemas.microsoft.com/office/powerpoint/2010/main" val="3689794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Single User Operating Systems</a:t>
            </a:r>
          </a:p>
        </p:txBody>
      </p:sp>
      <p:sp>
        <p:nvSpPr>
          <p:cNvPr id="3" name="Content Placeholder 2"/>
          <p:cNvSpPr>
            <a:spLocks noGrp="1"/>
          </p:cNvSpPr>
          <p:nvPr>
            <p:ph idx="1"/>
          </p:nvPr>
        </p:nvSpPr>
        <p:spPr>
          <a:xfrm>
            <a:off x="1143000" y="2057400"/>
            <a:ext cx="8590935" cy="4038600"/>
          </a:xfrm>
        </p:spPr>
        <p:txBody>
          <a:bodyPr>
            <a:normAutofit fontScale="77500" lnSpcReduction="20000"/>
          </a:bodyPr>
          <a:lstStyle/>
          <a:p>
            <a:r>
              <a:rPr lang="en-GB" b="1" u="sng" dirty="0">
                <a:solidFill>
                  <a:schemeClr val="tx1"/>
                </a:solidFill>
              </a:rPr>
              <a:t>Single-User, Single-Tasking</a:t>
            </a:r>
            <a:endParaRPr lang="en-GB" b="1" dirty="0">
              <a:solidFill>
                <a:schemeClr val="tx1"/>
              </a:solidFill>
            </a:endParaRPr>
          </a:p>
          <a:p>
            <a:r>
              <a:rPr lang="en-GB" dirty="0">
                <a:solidFill>
                  <a:schemeClr val="tx1"/>
                </a:solidFill>
              </a:rPr>
              <a:t>These systems are designed to deal with only one user at a time, who is using only one application or process at a time. An example of this being MS-DOS.</a:t>
            </a:r>
          </a:p>
          <a:p>
            <a:endParaRPr lang="en-GB" dirty="0">
              <a:solidFill>
                <a:schemeClr val="tx1"/>
              </a:solidFill>
            </a:endParaRPr>
          </a:p>
          <a:p>
            <a:r>
              <a:rPr lang="en-GB" b="1" u="sng" dirty="0">
                <a:solidFill>
                  <a:schemeClr val="tx1"/>
                </a:solidFill>
              </a:rPr>
              <a:t>Single-User, Multi-Tasking</a:t>
            </a:r>
          </a:p>
          <a:p>
            <a:r>
              <a:rPr lang="en-GB" dirty="0">
                <a:solidFill>
                  <a:schemeClr val="tx1"/>
                </a:solidFill>
              </a:rPr>
              <a:t>Again, these systems only allow for one single user to use the system at the one time, but allow the user to use multiple applications or processes at the same time. An example of this type of system is Windows 10. </a:t>
            </a:r>
          </a:p>
          <a:p>
            <a:endParaRPr lang="en-GB" dirty="0">
              <a:solidFill>
                <a:schemeClr val="tx1"/>
              </a:solidFill>
            </a:endParaRPr>
          </a:p>
          <a:p>
            <a:r>
              <a:rPr lang="en-GB" sz="1900" dirty="0">
                <a:solidFill>
                  <a:schemeClr val="tx1"/>
                </a:solidFill>
              </a:rPr>
              <a:t>*It should be remembered that even though operating systems such as Windows 10 allow user to have multiple profiles on the system, only one profile can log in and physically use the system at any one time. Therefor this makes it a single-user system. </a:t>
            </a:r>
          </a:p>
          <a:p>
            <a:endParaRPr lang="en-GB" dirty="0">
              <a:solidFill>
                <a:schemeClr val="tx1"/>
              </a:solidFill>
            </a:endParaRP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r="12099"/>
          <a:stretch/>
        </p:blipFill>
        <p:spPr>
          <a:xfrm>
            <a:off x="10305795" y="1965378"/>
            <a:ext cx="1338865" cy="852967"/>
          </a:xfrm>
          <a:prstGeom prst="rect">
            <a:avLst/>
          </a:prstGeom>
        </p:spPr>
      </p:pic>
      <p:pic>
        <p:nvPicPr>
          <p:cNvPr id="5" name="Picture 4"/>
          <p:cNvPicPr>
            <a:picLocks noChangeAspect="1"/>
          </p:cNvPicPr>
          <p:nvPr/>
        </p:nvPicPr>
        <p:blipFill rotWithShape="1">
          <a:blip r:embed="rId3">
            <a:extLst>
              <a:ext uri="{BEBA8EAE-BF5A-486C-A8C5-ECC9F3942E4B}">
                <a14:imgProps xmlns:a14="http://schemas.microsoft.com/office/drawing/2010/main">
                  <a14:imgLayer r:embed="rId4">
                    <a14:imgEffect>
                      <a14:backgroundRemoval t="6557" b="89071" l="24364" r="72000">
                        <a14:foregroundMark x1="28364" y1="16393" x2="45818" y2="36066"/>
                        <a14:foregroundMark x1="49091" y1="37158" x2="71636" y2="6557"/>
                        <a14:foregroundMark x1="49091" y1="42623" x2="71273" y2="70492"/>
                        <a14:foregroundMark x1="28364" y1="62295" x2="45091" y2="42077"/>
                        <a14:foregroundMark x1="29455" y1="78142" x2="31273" y2="85246"/>
                        <a14:foregroundMark x1="37818" y1="80328" x2="37818" y2="85246"/>
                        <a14:foregroundMark x1="37818" y1="77049" x2="37818" y2="77049"/>
                        <a14:foregroundMark x1="39636" y1="79781" x2="39636" y2="85792"/>
                        <a14:foregroundMark x1="40727" y1="80874" x2="43273" y2="83060"/>
                        <a14:foregroundMark x1="26909" y1="84699" x2="70182" y2="84699"/>
                      </a14:backgroundRemoval>
                    </a14:imgEffect>
                  </a14:imgLayer>
                </a14:imgProps>
              </a:ext>
              <a:ext uri="{28A0092B-C50C-407E-A947-70E740481C1C}">
                <a14:useLocalDpi xmlns:a14="http://schemas.microsoft.com/office/drawing/2010/main" val="0"/>
              </a:ext>
            </a:extLst>
          </a:blip>
          <a:srcRect l="23326" t="-332" r="22542" b="332"/>
          <a:stretch/>
        </p:blipFill>
        <p:spPr>
          <a:xfrm>
            <a:off x="10491104" y="4523698"/>
            <a:ext cx="1153556" cy="1418108"/>
          </a:xfrm>
          <a:prstGeom prst="rect">
            <a:avLst/>
          </a:prstGeom>
        </p:spPr>
      </p:pic>
    </p:spTree>
    <p:extLst>
      <p:ext uri="{BB962C8B-B14F-4D97-AF65-F5344CB8AC3E}">
        <p14:creationId xmlns:p14="http://schemas.microsoft.com/office/powerpoint/2010/main" val="1893990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2000"/>
                            </p:stCondLst>
                            <p:childTnLst>
                              <p:par>
                                <p:cTn id="9" presetID="10" presetClass="entr" presetSubtype="0" fill="hold" nodeType="afterEffect">
                                  <p:stCondLst>
                                    <p:cond delay="100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Single User Operating Systems</a:t>
            </a:r>
            <a:br>
              <a:rPr lang="en-GB" dirty="0"/>
            </a:br>
            <a:endParaRPr lang="en-GB" dirty="0"/>
          </a:p>
        </p:txBody>
      </p:sp>
      <p:sp>
        <p:nvSpPr>
          <p:cNvPr id="3" name="Content Placeholder 2"/>
          <p:cNvSpPr>
            <a:spLocks noGrp="1"/>
          </p:cNvSpPr>
          <p:nvPr>
            <p:ph idx="1"/>
          </p:nvPr>
        </p:nvSpPr>
        <p:spPr>
          <a:xfrm>
            <a:off x="1143000" y="2517058"/>
            <a:ext cx="9872871" cy="3578942"/>
          </a:xfrm>
        </p:spPr>
        <p:txBody>
          <a:bodyPr/>
          <a:lstStyle/>
          <a:p>
            <a:r>
              <a:rPr lang="en-GB" dirty="0">
                <a:solidFill>
                  <a:schemeClr val="tx1"/>
                </a:solidFill>
              </a:rPr>
              <a:t>These types of systems are generally designed for home use, where only one user would be required to be logged onto the system at any given time.</a:t>
            </a:r>
          </a:p>
          <a:p>
            <a:endParaRPr lang="en-GB" dirty="0">
              <a:solidFill>
                <a:schemeClr val="tx1"/>
              </a:solidFill>
            </a:endParaRPr>
          </a:p>
          <a:p>
            <a:r>
              <a:rPr lang="en-GB" dirty="0">
                <a:solidFill>
                  <a:schemeClr val="tx1"/>
                </a:solidFill>
              </a:rPr>
              <a:t>There are advantages to these types of systems. Due to the system only having one user using the system, the OS does not have to deal with multiple interrupts from multiple users. This then prevents the system hardware not to be overloaded. </a:t>
            </a:r>
          </a:p>
        </p:txBody>
      </p:sp>
    </p:spTree>
    <p:extLst>
      <p:ext uri="{BB962C8B-B14F-4D97-AF65-F5344CB8AC3E}">
        <p14:creationId xmlns:p14="http://schemas.microsoft.com/office/powerpoint/2010/main" val="4233891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Multi-User Operating Systems</a:t>
            </a:r>
          </a:p>
        </p:txBody>
      </p:sp>
      <p:sp>
        <p:nvSpPr>
          <p:cNvPr id="3" name="Content Placeholder 2"/>
          <p:cNvSpPr>
            <a:spLocks noGrp="1"/>
          </p:cNvSpPr>
          <p:nvPr>
            <p:ph idx="1"/>
          </p:nvPr>
        </p:nvSpPr>
        <p:spPr/>
        <p:txBody>
          <a:bodyPr>
            <a:normAutofit lnSpcReduction="10000"/>
          </a:bodyPr>
          <a:lstStyle/>
          <a:p>
            <a:r>
              <a:rPr lang="en-GB" dirty="0">
                <a:solidFill>
                  <a:schemeClr val="tx1"/>
                </a:solidFill>
              </a:rPr>
              <a:t>Unlike single-user systems, multi-user operating systems allows access to more than one user at any given time. </a:t>
            </a:r>
          </a:p>
          <a:p>
            <a:r>
              <a:rPr lang="en-GB" dirty="0">
                <a:solidFill>
                  <a:schemeClr val="tx1"/>
                </a:solidFill>
              </a:rPr>
              <a:t>Most multi-user systems support all of the same features of a single-user system, the difference is that they allow multiple users access to multiple application and processes at the same time. </a:t>
            </a:r>
          </a:p>
          <a:p>
            <a:r>
              <a:rPr lang="en-GB" dirty="0">
                <a:solidFill>
                  <a:schemeClr val="tx1"/>
                </a:solidFill>
              </a:rPr>
              <a:t>This is usually carried out through terminals that connect to a single systems operating system via a network. </a:t>
            </a:r>
          </a:p>
          <a:p>
            <a:r>
              <a:rPr lang="en-GB" dirty="0">
                <a:solidFill>
                  <a:schemeClr val="tx1"/>
                </a:solidFill>
              </a:rPr>
              <a:t>Although it possible to carry out the same tasks on a Multi-User OS as it is with a single-user OS, due to the system having to share resources between multiple connected users, these systems tend to take up more resources than single user systems. </a:t>
            </a:r>
          </a:p>
        </p:txBody>
      </p:sp>
    </p:spTree>
    <p:extLst>
      <p:ext uri="{BB962C8B-B14F-4D97-AF65-F5344CB8AC3E}">
        <p14:creationId xmlns:p14="http://schemas.microsoft.com/office/powerpoint/2010/main" val="2544636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Multi-User Operating Systems</a:t>
            </a:r>
          </a:p>
        </p:txBody>
      </p:sp>
      <p:sp>
        <p:nvSpPr>
          <p:cNvPr id="3" name="Content Placeholder 2"/>
          <p:cNvSpPr>
            <a:spLocks noGrp="1"/>
          </p:cNvSpPr>
          <p:nvPr>
            <p:ph idx="1"/>
          </p:nvPr>
        </p:nvSpPr>
        <p:spPr>
          <a:xfrm>
            <a:off x="904569" y="1965960"/>
            <a:ext cx="10656628" cy="4018788"/>
          </a:xfrm>
        </p:spPr>
        <p:txBody>
          <a:bodyPr>
            <a:normAutofit fontScale="92500" lnSpcReduction="20000"/>
          </a:bodyPr>
          <a:lstStyle/>
          <a:p>
            <a:r>
              <a:rPr lang="en-GB" dirty="0">
                <a:solidFill>
                  <a:schemeClr val="tx1"/>
                </a:solidFill>
              </a:rPr>
              <a:t>The type of multi-user operating system that is being used can be determined due to the way that the system shares resources. </a:t>
            </a:r>
          </a:p>
          <a:p>
            <a:r>
              <a:rPr lang="en-GB" dirty="0">
                <a:solidFill>
                  <a:schemeClr val="tx1"/>
                </a:solidFill>
              </a:rPr>
              <a:t>For Example</a:t>
            </a:r>
          </a:p>
          <a:p>
            <a:pPr lvl="1"/>
            <a:r>
              <a:rPr lang="en-GB" b="1" u="sng" dirty="0">
                <a:solidFill>
                  <a:schemeClr val="tx1"/>
                </a:solidFill>
              </a:rPr>
              <a:t>Multi-Processor (Parallel) Systems</a:t>
            </a:r>
          </a:p>
          <a:p>
            <a:pPr marL="960120" lvl="2" indent="0">
              <a:buNone/>
            </a:pPr>
            <a:r>
              <a:rPr lang="en-GB" dirty="0">
                <a:solidFill>
                  <a:schemeClr val="tx1"/>
                </a:solidFill>
              </a:rPr>
              <a:t>Two or more Central Processing Units (CPU’s) share the same resources and service the same work. </a:t>
            </a:r>
          </a:p>
          <a:p>
            <a:pPr lvl="1"/>
            <a:endParaRPr lang="en-GB" u="sng" dirty="0">
              <a:solidFill>
                <a:schemeClr val="tx1"/>
              </a:solidFill>
            </a:endParaRPr>
          </a:p>
          <a:p>
            <a:pPr lvl="1"/>
            <a:r>
              <a:rPr lang="en-GB" b="1" u="sng" dirty="0">
                <a:solidFill>
                  <a:schemeClr val="tx1"/>
                </a:solidFill>
              </a:rPr>
              <a:t>Time-Sliced (Time-Sharing) System</a:t>
            </a:r>
          </a:p>
          <a:p>
            <a:pPr marL="960120" lvl="2" indent="0">
              <a:buNone/>
            </a:pPr>
            <a:r>
              <a:rPr lang="en-GB" dirty="0">
                <a:solidFill>
                  <a:schemeClr val="tx1"/>
                </a:solidFill>
              </a:rPr>
              <a:t>The processor will switch from one process to another on a timed basis.</a:t>
            </a:r>
          </a:p>
          <a:p>
            <a:pPr lvl="1"/>
            <a:endParaRPr lang="en-GB" dirty="0">
              <a:solidFill>
                <a:schemeClr val="tx1"/>
              </a:solidFill>
            </a:endParaRPr>
          </a:p>
          <a:p>
            <a:pPr lvl="1"/>
            <a:r>
              <a:rPr lang="en-GB" b="1" u="sng" dirty="0">
                <a:solidFill>
                  <a:schemeClr val="tx1"/>
                </a:solidFill>
              </a:rPr>
              <a:t>Distributed Operating Systems</a:t>
            </a:r>
          </a:p>
          <a:p>
            <a:pPr marL="960120" lvl="2" indent="0">
              <a:buNone/>
            </a:pPr>
            <a:r>
              <a:rPr lang="en-GB" dirty="0">
                <a:solidFill>
                  <a:schemeClr val="tx1"/>
                </a:solidFill>
              </a:rPr>
              <a:t>Distributed processing is a technique of distributing the tasks over a   number of devices, taking advantage of the large pool of resources. </a:t>
            </a:r>
          </a:p>
        </p:txBody>
      </p:sp>
    </p:spTree>
    <p:extLst>
      <p:ext uri="{BB962C8B-B14F-4D97-AF65-F5344CB8AC3E}">
        <p14:creationId xmlns:p14="http://schemas.microsoft.com/office/powerpoint/2010/main" val="1186065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par>
                          <p:cTn id="25" fill="hold">
                            <p:stCondLst>
                              <p:cond delay="500"/>
                            </p:stCondLst>
                            <p:childTnLst>
                              <p:par>
                                <p:cTn id="26" presetID="10" presetClass="entr" presetSubtype="0" fill="hold" nodeType="afterEffect">
                                  <p:stCondLst>
                                    <p:cond delay="50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childTnLst>
                          </p:cTn>
                        </p:par>
                        <p:par>
                          <p:cTn id="34" fill="hold">
                            <p:stCondLst>
                              <p:cond delay="500"/>
                            </p:stCondLst>
                            <p:childTnLst>
                              <p:par>
                                <p:cTn id="35" presetID="10" presetClass="entr" presetSubtype="0" fill="hold" nodeType="after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Multi-User Operating Systems</a:t>
            </a:r>
          </a:p>
        </p:txBody>
      </p:sp>
      <p:sp>
        <p:nvSpPr>
          <p:cNvPr id="3" name="Content Placeholder 2"/>
          <p:cNvSpPr>
            <a:spLocks noGrp="1"/>
          </p:cNvSpPr>
          <p:nvPr>
            <p:ph idx="1"/>
          </p:nvPr>
        </p:nvSpPr>
        <p:spPr>
          <a:xfrm>
            <a:off x="1143000" y="2546554"/>
            <a:ext cx="9872871" cy="3549445"/>
          </a:xfrm>
        </p:spPr>
        <p:txBody>
          <a:bodyPr/>
          <a:lstStyle/>
          <a:p>
            <a:r>
              <a:rPr lang="en-GB" dirty="0">
                <a:solidFill>
                  <a:schemeClr val="tx1"/>
                </a:solidFill>
              </a:rPr>
              <a:t>In order for any system to be a true Multi-User system, the following features must be provided: </a:t>
            </a:r>
          </a:p>
          <a:p>
            <a:endParaRPr lang="en-GB" dirty="0">
              <a:solidFill>
                <a:schemeClr val="tx1"/>
              </a:solidFill>
            </a:endParaRPr>
          </a:p>
          <a:p>
            <a:pPr lvl="1"/>
            <a:endParaRPr lang="en-GB" dirty="0">
              <a:solidFill>
                <a:schemeClr val="tx1"/>
              </a:solidFill>
            </a:endParaRPr>
          </a:p>
          <a:p>
            <a:pPr lvl="1"/>
            <a:r>
              <a:rPr lang="en-GB" sz="2000" dirty="0">
                <a:solidFill>
                  <a:schemeClr val="tx1"/>
                </a:solidFill>
              </a:rPr>
              <a:t>Resource Sharing </a:t>
            </a:r>
          </a:p>
          <a:p>
            <a:pPr lvl="1"/>
            <a:r>
              <a:rPr lang="en-GB" sz="2000" dirty="0">
                <a:solidFill>
                  <a:schemeClr val="tx1"/>
                </a:solidFill>
              </a:rPr>
              <a:t>Multi-tasking</a:t>
            </a:r>
          </a:p>
          <a:p>
            <a:pPr lvl="1"/>
            <a:r>
              <a:rPr lang="en-GB" sz="2000" dirty="0">
                <a:solidFill>
                  <a:schemeClr val="tx1"/>
                </a:solidFill>
              </a:rPr>
              <a:t>Background Processing </a:t>
            </a:r>
          </a:p>
        </p:txBody>
      </p:sp>
    </p:spTree>
    <p:extLst>
      <p:ext uri="{BB962C8B-B14F-4D97-AF65-F5344CB8AC3E}">
        <p14:creationId xmlns:p14="http://schemas.microsoft.com/office/powerpoint/2010/main" val="3473792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Resource Sharing </a:t>
            </a:r>
          </a:p>
        </p:txBody>
      </p:sp>
      <p:sp>
        <p:nvSpPr>
          <p:cNvPr id="3" name="Content Placeholder 2"/>
          <p:cNvSpPr>
            <a:spLocks noGrp="1"/>
          </p:cNvSpPr>
          <p:nvPr>
            <p:ph idx="1"/>
          </p:nvPr>
        </p:nvSpPr>
        <p:spPr/>
        <p:txBody>
          <a:bodyPr>
            <a:normAutofit fontScale="92500" lnSpcReduction="10000"/>
          </a:bodyPr>
          <a:lstStyle/>
          <a:p>
            <a:r>
              <a:rPr lang="en-GB" dirty="0">
                <a:solidFill>
                  <a:schemeClr val="tx1"/>
                </a:solidFill>
              </a:rPr>
              <a:t>Types of resources that can be shared include the CPU, memory, data and peripheral devices. </a:t>
            </a:r>
          </a:p>
          <a:p>
            <a:endParaRPr lang="en-GB" dirty="0">
              <a:solidFill>
                <a:schemeClr val="tx1"/>
              </a:solidFill>
            </a:endParaRPr>
          </a:p>
          <a:p>
            <a:r>
              <a:rPr lang="en-GB" dirty="0">
                <a:solidFill>
                  <a:schemeClr val="tx1"/>
                </a:solidFill>
              </a:rPr>
              <a:t>The OS must manage resources in a way that will ensure that all processes eventually get enough resources in order to complete their required tasks. </a:t>
            </a:r>
          </a:p>
          <a:p>
            <a:endParaRPr lang="en-GB" dirty="0">
              <a:solidFill>
                <a:schemeClr val="tx1"/>
              </a:solidFill>
            </a:endParaRPr>
          </a:p>
          <a:p>
            <a:r>
              <a:rPr lang="en-GB" dirty="0">
                <a:solidFill>
                  <a:schemeClr val="tx1"/>
                </a:solidFill>
              </a:rPr>
              <a:t>If a process does not get enough resources then the task will die of starvation. </a:t>
            </a:r>
          </a:p>
          <a:p>
            <a:endParaRPr lang="en-GB" dirty="0">
              <a:solidFill>
                <a:schemeClr val="tx1"/>
              </a:solidFill>
            </a:endParaRPr>
          </a:p>
          <a:p>
            <a:r>
              <a:rPr lang="en-GB" dirty="0">
                <a:solidFill>
                  <a:schemeClr val="tx1"/>
                </a:solidFill>
              </a:rPr>
              <a:t>There are however a number of constraints in relation to any plan for scheduling processes. </a:t>
            </a:r>
          </a:p>
        </p:txBody>
      </p:sp>
    </p:spTree>
    <p:extLst>
      <p:ext uri="{BB962C8B-B14F-4D97-AF65-F5344CB8AC3E}">
        <p14:creationId xmlns:p14="http://schemas.microsoft.com/office/powerpoint/2010/main" val="4101243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Resource Sharing </a:t>
            </a:r>
          </a:p>
        </p:txBody>
      </p:sp>
      <p:sp>
        <p:nvSpPr>
          <p:cNvPr id="3" name="Content Placeholder 2"/>
          <p:cNvSpPr>
            <a:spLocks noGrp="1"/>
          </p:cNvSpPr>
          <p:nvPr>
            <p:ph idx="1"/>
          </p:nvPr>
        </p:nvSpPr>
        <p:spPr/>
        <p:txBody>
          <a:bodyPr>
            <a:normAutofit fontScale="92500" lnSpcReduction="20000"/>
          </a:bodyPr>
          <a:lstStyle/>
          <a:p>
            <a:r>
              <a:rPr lang="en-GB" dirty="0">
                <a:solidFill>
                  <a:schemeClr val="tx1"/>
                </a:solidFill>
              </a:rPr>
              <a:t>System Capacity constrains the overall output. For example, a more powerful processor can handle more processes in a given amount of time. The same reasoning applies to the amount of memory available. </a:t>
            </a:r>
          </a:p>
          <a:p>
            <a:r>
              <a:rPr lang="en-GB" dirty="0">
                <a:solidFill>
                  <a:schemeClr val="tx1"/>
                </a:solidFill>
              </a:rPr>
              <a:t>Nature of Workload constrains the predictability as types of processes may vary radically. </a:t>
            </a:r>
            <a:r>
              <a:rPr lang="en-GB">
                <a:solidFill>
                  <a:schemeClr val="tx1"/>
                </a:solidFill>
              </a:rPr>
              <a:t>Some may </a:t>
            </a:r>
            <a:r>
              <a:rPr lang="en-GB" dirty="0">
                <a:solidFill>
                  <a:schemeClr val="tx1"/>
                </a:solidFill>
              </a:rPr>
              <a:t>be CPU intensive such as statistical analysis, where as some may require a large amount of input/output such as database applications. </a:t>
            </a:r>
          </a:p>
          <a:p>
            <a:r>
              <a:rPr lang="en-GB" dirty="0">
                <a:solidFill>
                  <a:schemeClr val="tx1"/>
                </a:solidFill>
              </a:rPr>
              <a:t>Conservation Laws act as a constraint on user response time. It is a description of how some aims are contradictory. For example, response time turnaround. In order to maintain response time, interactive users; the scheduler(which controls resource allocation) should not run any batch jobs at all. This would obviously provide no resources what-so-ever to the batch user which would lead to starvation. </a:t>
            </a:r>
          </a:p>
        </p:txBody>
      </p:sp>
    </p:spTree>
    <p:extLst>
      <p:ext uri="{BB962C8B-B14F-4D97-AF65-F5344CB8AC3E}">
        <p14:creationId xmlns:p14="http://schemas.microsoft.com/office/powerpoint/2010/main" val="1871231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Multi - Tasking</a:t>
            </a:r>
          </a:p>
        </p:txBody>
      </p:sp>
      <p:sp>
        <p:nvSpPr>
          <p:cNvPr id="3" name="Content Placeholder 2"/>
          <p:cNvSpPr>
            <a:spLocks noGrp="1"/>
          </p:cNvSpPr>
          <p:nvPr>
            <p:ph idx="1"/>
          </p:nvPr>
        </p:nvSpPr>
        <p:spPr/>
        <p:txBody>
          <a:bodyPr>
            <a:normAutofit fontScale="92500" lnSpcReduction="20000"/>
          </a:bodyPr>
          <a:lstStyle/>
          <a:p>
            <a:r>
              <a:rPr lang="en-GB" dirty="0">
                <a:solidFill>
                  <a:schemeClr val="tx1"/>
                </a:solidFill>
              </a:rPr>
              <a:t>Multi-tasking is another feature of multi-user systems. </a:t>
            </a:r>
          </a:p>
          <a:p>
            <a:r>
              <a:rPr lang="en-GB" dirty="0">
                <a:solidFill>
                  <a:schemeClr val="tx1"/>
                </a:solidFill>
              </a:rPr>
              <a:t>Multi-tasking involves a system performing two or more tasks apparently simultaneously. </a:t>
            </a:r>
          </a:p>
          <a:p>
            <a:r>
              <a:rPr lang="en-GB" dirty="0">
                <a:solidFill>
                  <a:schemeClr val="tx1"/>
                </a:solidFill>
              </a:rPr>
              <a:t>Each time a new application or process is added, the performance of each application or process is reduced. </a:t>
            </a:r>
          </a:p>
          <a:p>
            <a:r>
              <a:rPr lang="en-GB" dirty="0">
                <a:solidFill>
                  <a:schemeClr val="tx1"/>
                </a:solidFill>
              </a:rPr>
              <a:t>There are two main types of multi-tasking</a:t>
            </a:r>
          </a:p>
          <a:p>
            <a:r>
              <a:rPr lang="en-GB" b="1" dirty="0">
                <a:solidFill>
                  <a:schemeClr val="tx1"/>
                </a:solidFill>
              </a:rPr>
              <a:t>Co-operative </a:t>
            </a:r>
            <a:r>
              <a:rPr lang="en-GB" dirty="0">
                <a:solidFill>
                  <a:schemeClr val="tx1"/>
                </a:solidFill>
              </a:rPr>
              <a:t>that will allow processes to run until completion and only then is a process switch permitted. This mostly used by single user OS such as Windows.</a:t>
            </a:r>
          </a:p>
          <a:p>
            <a:r>
              <a:rPr lang="en-GB" b="1" dirty="0">
                <a:solidFill>
                  <a:schemeClr val="tx1"/>
                </a:solidFill>
              </a:rPr>
              <a:t>Pre-emptive </a:t>
            </a:r>
            <a:r>
              <a:rPr lang="en-GB" dirty="0">
                <a:solidFill>
                  <a:schemeClr val="tx1"/>
                </a:solidFill>
              </a:rPr>
              <a:t>allows processes to be suspended at any time and other processes to be permitted to take control of the CPU. This is mostly used by multi-user systems such as Linux. </a:t>
            </a:r>
            <a:endParaRPr lang="en-GB" b="1" dirty="0">
              <a:solidFill>
                <a:schemeClr val="tx1"/>
              </a:solidFill>
            </a:endParaRPr>
          </a:p>
        </p:txBody>
      </p:sp>
    </p:spTree>
    <p:extLst>
      <p:ext uri="{BB962C8B-B14F-4D97-AF65-F5344CB8AC3E}">
        <p14:creationId xmlns:p14="http://schemas.microsoft.com/office/powerpoint/2010/main" val="2639492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Multi - Tasking</a:t>
            </a:r>
          </a:p>
        </p:txBody>
      </p:sp>
      <p:sp>
        <p:nvSpPr>
          <p:cNvPr id="3" name="Content Placeholder 2"/>
          <p:cNvSpPr>
            <a:spLocks noGrp="1"/>
          </p:cNvSpPr>
          <p:nvPr>
            <p:ph idx="1"/>
          </p:nvPr>
        </p:nvSpPr>
        <p:spPr/>
        <p:txBody>
          <a:bodyPr>
            <a:normAutofit fontScale="92500" lnSpcReduction="20000"/>
          </a:bodyPr>
          <a:lstStyle/>
          <a:p>
            <a:r>
              <a:rPr lang="en-GB" b="1" dirty="0">
                <a:solidFill>
                  <a:schemeClr val="tx1"/>
                </a:solidFill>
              </a:rPr>
              <a:t>Advantages of Multi-Tasking include:</a:t>
            </a:r>
          </a:p>
          <a:p>
            <a:pPr lvl="1"/>
            <a:r>
              <a:rPr lang="en-GB" dirty="0">
                <a:solidFill>
                  <a:schemeClr val="tx1"/>
                </a:solidFill>
              </a:rPr>
              <a:t>Sharing one CPU amongst many users</a:t>
            </a:r>
          </a:p>
          <a:p>
            <a:pPr lvl="1"/>
            <a:r>
              <a:rPr lang="en-GB" dirty="0">
                <a:solidFill>
                  <a:schemeClr val="tx1"/>
                </a:solidFill>
              </a:rPr>
              <a:t>Processes executing simultaneously</a:t>
            </a:r>
          </a:p>
          <a:p>
            <a:pPr lvl="1"/>
            <a:r>
              <a:rPr lang="en-GB" dirty="0">
                <a:solidFill>
                  <a:schemeClr val="tx1"/>
                </a:solidFill>
              </a:rPr>
              <a:t>More efficient of the available resources</a:t>
            </a:r>
          </a:p>
          <a:p>
            <a:endParaRPr lang="en-GB" dirty="0"/>
          </a:p>
          <a:p>
            <a:r>
              <a:rPr lang="en-GB" b="1" dirty="0">
                <a:solidFill>
                  <a:schemeClr val="tx1"/>
                </a:solidFill>
              </a:rPr>
              <a:t>Disadvantages of Multi-Tasking include:</a:t>
            </a:r>
          </a:p>
          <a:p>
            <a:pPr lvl="1"/>
            <a:r>
              <a:rPr lang="en-GB" dirty="0">
                <a:solidFill>
                  <a:schemeClr val="tx1"/>
                </a:solidFill>
              </a:rPr>
              <a:t>The CPU scheduler will be more complex</a:t>
            </a:r>
          </a:p>
          <a:p>
            <a:pPr lvl="1"/>
            <a:r>
              <a:rPr lang="en-GB" dirty="0">
                <a:solidFill>
                  <a:schemeClr val="tx1"/>
                </a:solidFill>
              </a:rPr>
              <a:t>Each context switch takes up a finite amount of the processors time. This overhead is effectively lost time, as a context switch in itself carries out no useful purpose other than swapping out the current process that is executing and replacing it with another. </a:t>
            </a:r>
          </a:p>
          <a:p>
            <a:pPr lvl="1"/>
            <a:r>
              <a:rPr lang="en-GB" dirty="0">
                <a:solidFill>
                  <a:schemeClr val="tx1"/>
                </a:solidFill>
              </a:rPr>
              <a:t>In addition to this wasted time, there is a storage overhead as there must be a mechanism to store the processes that are being swapped in and out of the processor. </a:t>
            </a:r>
          </a:p>
        </p:txBody>
      </p:sp>
    </p:spTree>
    <p:extLst>
      <p:ext uri="{BB962C8B-B14F-4D97-AF65-F5344CB8AC3E}">
        <p14:creationId xmlns:p14="http://schemas.microsoft.com/office/powerpoint/2010/main" val="3376782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100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2000"/>
                            </p:stCondLst>
                            <p:childTnLst>
                              <p:par>
                                <p:cTn id="13" presetID="10" presetClass="entr" presetSubtype="0" fill="hold" nodeType="afterEffect">
                                  <p:stCondLst>
                                    <p:cond delay="100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3500"/>
                            </p:stCondLst>
                            <p:childTnLst>
                              <p:par>
                                <p:cTn id="17" presetID="10" presetClass="entr" presetSubtype="0" fill="hold" nodeType="afterEffect">
                                  <p:stCondLst>
                                    <p:cond delay="100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par>
                          <p:cTn id="25" fill="hold">
                            <p:stCondLst>
                              <p:cond delay="500"/>
                            </p:stCondLst>
                            <p:childTnLst>
                              <p:par>
                                <p:cTn id="26" presetID="10" presetClass="entr" presetSubtype="0" fill="hold" nodeType="afterEffect">
                                  <p:stCondLst>
                                    <p:cond delay="100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par>
                          <p:cTn id="29" fill="hold">
                            <p:stCondLst>
                              <p:cond delay="2000"/>
                            </p:stCondLst>
                            <p:childTnLst>
                              <p:par>
                                <p:cTn id="30" presetID="10" presetClass="entr" presetSubtype="0" fill="hold" nodeType="after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par>
                          <p:cTn id="33" fill="hold">
                            <p:stCondLst>
                              <p:cond delay="2500"/>
                            </p:stCondLst>
                            <p:childTnLst>
                              <p:par>
                                <p:cTn id="34" presetID="10" presetClass="entr" presetSubtype="0" fill="hold" nodeType="afterEffect">
                                  <p:stCondLst>
                                    <p:cond delay="100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fade">
                                      <p:cBhvr>
                                        <p:cTn id="3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Background Processing </a:t>
            </a:r>
          </a:p>
        </p:txBody>
      </p:sp>
      <p:sp>
        <p:nvSpPr>
          <p:cNvPr id="3" name="Content Placeholder 2"/>
          <p:cNvSpPr>
            <a:spLocks noGrp="1"/>
          </p:cNvSpPr>
          <p:nvPr>
            <p:ph idx="1"/>
          </p:nvPr>
        </p:nvSpPr>
        <p:spPr/>
        <p:txBody>
          <a:bodyPr>
            <a:normAutofit lnSpcReduction="10000"/>
          </a:bodyPr>
          <a:lstStyle/>
          <a:p>
            <a:r>
              <a:rPr lang="en-GB" dirty="0">
                <a:solidFill>
                  <a:schemeClr val="tx1"/>
                </a:solidFill>
              </a:rPr>
              <a:t>When processes run in a Multi-User operating system, they can either be in the foreground or in the background. </a:t>
            </a:r>
          </a:p>
          <a:p>
            <a:r>
              <a:rPr lang="en-GB" b="1" dirty="0">
                <a:solidFill>
                  <a:schemeClr val="tx1"/>
                </a:solidFill>
              </a:rPr>
              <a:t>Foreground Processes</a:t>
            </a:r>
          </a:p>
          <a:p>
            <a:pPr lvl="1"/>
            <a:r>
              <a:rPr lang="en-GB" dirty="0">
                <a:solidFill>
                  <a:schemeClr val="tx1"/>
                </a:solidFill>
              </a:rPr>
              <a:t>While a user is logged into the system, all the processes that are initiated by the user are being processed at that time or in the foreground. This way of working is sometimes called conversational (</a:t>
            </a:r>
            <a:r>
              <a:rPr lang="en-GB" i="1" dirty="0">
                <a:solidFill>
                  <a:schemeClr val="tx1"/>
                </a:solidFill>
              </a:rPr>
              <a:t>interactive</a:t>
            </a:r>
            <a:r>
              <a:rPr lang="en-GB" dirty="0">
                <a:solidFill>
                  <a:schemeClr val="tx1"/>
                </a:solidFill>
              </a:rPr>
              <a:t>) mode of working. </a:t>
            </a:r>
          </a:p>
          <a:p>
            <a:r>
              <a:rPr lang="en-GB" b="1" dirty="0">
                <a:solidFill>
                  <a:schemeClr val="tx1"/>
                </a:solidFill>
              </a:rPr>
              <a:t>Background Processes  </a:t>
            </a:r>
          </a:p>
          <a:p>
            <a:pPr lvl="1"/>
            <a:r>
              <a:rPr lang="en-GB" dirty="0">
                <a:solidFill>
                  <a:schemeClr val="tx1"/>
                </a:solidFill>
              </a:rPr>
              <a:t>If the user does not want to run a particular process at that time but instead wants to run it later. </a:t>
            </a:r>
          </a:p>
          <a:p>
            <a:pPr lvl="1"/>
            <a:r>
              <a:rPr lang="en-GB" dirty="0">
                <a:solidFill>
                  <a:schemeClr val="tx1"/>
                </a:solidFill>
              </a:rPr>
              <a:t>Why? – some processes consume a considerable amount of system resources and would degrade the performance of other foreground processes so the user may decide to run it during a quiet period such as overnight. </a:t>
            </a:r>
          </a:p>
        </p:txBody>
      </p:sp>
    </p:spTree>
    <p:extLst>
      <p:ext uri="{BB962C8B-B14F-4D97-AF65-F5344CB8AC3E}">
        <p14:creationId xmlns:p14="http://schemas.microsoft.com/office/powerpoint/2010/main" val="2627963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5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Mobile Operating Systems</a:t>
            </a:r>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18344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Mobile Operating Systems</a:t>
            </a:r>
          </a:p>
        </p:txBody>
      </p:sp>
      <p:sp>
        <p:nvSpPr>
          <p:cNvPr id="3" name="Content Placeholder 2"/>
          <p:cNvSpPr>
            <a:spLocks noGrp="1"/>
          </p:cNvSpPr>
          <p:nvPr>
            <p:ph idx="1"/>
          </p:nvPr>
        </p:nvSpPr>
        <p:spPr/>
        <p:txBody>
          <a:bodyPr/>
          <a:lstStyle/>
          <a:p>
            <a:r>
              <a:rPr lang="en-GB" dirty="0">
                <a:solidFill>
                  <a:schemeClr val="tx1"/>
                </a:solidFill>
              </a:rPr>
              <a:t>As well as desktop systems, mobile systems also require an operating system for the hardware to be able to carry out tasks. </a:t>
            </a:r>
          </a:p>
          <a:p>
            <a:r>
              <a:rPr lang="en-GB" dirty="0">
                <a:solidFill>
                  <a:schemeClr val="tx1"/>
                </a:solidFill>
              </a:rPr>
              <a:t>Mobile devices can include mobile phones, tablets and smart watches. </a:t>
            </a:r>
          </a:p>
          <a:p>
            <a:r>
              <a:rPr lang="en-GB" dirty="0">
                <a:solidFill>
                  <a:schemeClr val="tx1"/>
                </a:solidFill>
              </a:rPr>
              <a:t>Like with other operating systems, mobile operating systems provide an interface for the user on which they can access the other applications and utilise the features of the device. </a:t>
            </a:r>
          </a:p>
          <a:p>
            <a:r>
              <a:rPr lang="en-GB" dirty="0">
                <a:solidFill>
                  <a:schemeClr val="tx1"/>
                </a:solidFill>
              </a:rPr>
              <a:t>The operating system on a mobile device not only allows user interaction but also determines what other applications can be ran on the device, as well as managing the devices settings and hardware. </a:t>
            </a:r>
          </a:p>
        </p:txBody>
      </p:sp>
    </p:spTree>
    <p:extLst>
      <p:ext uri="{BB962C8B-B14F-4D97-AF65-F5344CB8AC3E}">
        <p14:creationId xmlns:p14="http://schemas.microsoft.com/office/powerpoint/2010/main" val="2006646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Types of Mobile OS</a:t>
            </a:r>
          </a:p>
        </p:txBody>
      </p:sp>
      <p:sp>
        <p:nvSpPr>
          <p:cNvPr id="3" name="Content Placeholder 2"/>
          <p:cNvSpPr>
            <a:spLocks noGrp="1"/>
          </p:cNvSpPr>
          <p:nvPr>
            <p:ph idx="1"/>
          </p:nvPr>
        </p:nvSpPr>
        <p:spPr/>
        <p:txBody>
          <a:bodyPr/>
          <a:lstStyle/>
          <a:p>
            <a:r>
              <a:rPr lang="en-GB" dirty="0">
                <a:solidFill>
                  <a:schemeClr val="tx1"/>
                </a:solidFill>
              </a:rPr>
              <a:t>While there are a number of different types of desktop systems available, this also true for mobile operating systems. </a:t>
            </a:r>
          </a:p>
          <a:p>
            <a:r>
              <a:rPr lang="en-GB" dirty="0">
                <a:solidFill>
                  <a:schemeClr val="tx1"/>
                </a:solidFill>
              </a:rPr>
              <a:t>We can generally split mobile operating systems into 2 categories, just as we can with desktop systems:</a:t>
            </a:r>
          </a:p>
          <a:p>
            <a:pPr lvl="1"/>
            <a:endParaRPr lang="en-GB" sz="2000" b="1" dirty="0">
              <a:solidFill>
                <a:schemeClr val="tx1"/>
              </a:solidFill>
            </a:endParaRPr>
          </a:p>
          <a:p>
            <a:pPr lvl="1"/>
            <a:r>
              <a:rPr lang="en-GB" sz="2000" b="1" dirty="0">
                <a:solidFill>
                  <a:schemeClr val="tx1"/>
                </a:solidFill>
              </a:rPr>
              <a:t>Open Source </a:t>
            </a:r>
          </a:p>
          <a:p>
            <a:pPr lvl="1"/>
            <a:r>
              <a:rPr lang="en-GB" sz="2000" b="1" dirty="0">
                <a:solidFill>
                  <a:schemeClr val="tx1"/>
                </a:solidFill>
              </a:rPr>
              <a:t>Closed Source</a:t>
            </a:r>
          </a:p>
          <a:p>
            <a:pPr lvl="1"/>
            <a:endParaRPr lang="en-GB" sz="2000" b="1" dirty="0">
              <a:solidFill>
                <a:schemeClr val="tx1"/>
              </a:solidFill>
            </a:endParaRPr>
          </a:p>
          <a:p>
            <a:r>
              <a:rPr lang="en-GB" dirty="0">
                <a:solidFill>
                  <a:schemeClr val="tx1"/>
                </a:solidFill>
              </a:rPr>
              <a:t>The line between these types of operating system is becoming more of a blur as technology is evolving as we will see. </a:t>
            </a:r>
          </a:p>
        </p:txBody>
      </p:sp>
    </p:spTree>
    <p:extLst>
      <p:ext uri="{BB962C8B-B14F-4D97-AF65-F5344CB8AC3E}">
        <p14:creationId xmlns:p14="http://schemas.microsoft.com/office/powerpoint/2010/main" val="173538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Closed Source Mobile Systems</a:t>
            </a:r>
          </a:p>
        </p:txBody>
      </p:sp>
      <p:sp>
        <p:nvSpPr>
          <p:cNvPr id="3" name="Content Placeholder 2"/>
          <p:cNvSpPr>
            <a:spLocks noGrp="1"/>
          </p:cNvSpPr>
          <p:nvPr>
            <p:ph idx="1"/>
          </p:nvPr>
        </p:nvSpPr>
        <p:spPr>
          <a:xfrm>
            <a:off x="678426" y="1965960"/>
            <a:ext cx="7489219" cy="4018788"/>
          </a:xfrm>
        </p:spPr>
        <p:txBody>
          <a:bodyPr>
            <a:normAutofit fontScale="92500"/>
          </a:bodyPr>
          <a:lstStyle/>
          <a:p>
            <a:r>
              <a:rPr lang="en-GB" dirty="0">
                <a:solidFill>
                  <a:schemeClr val="tx1"/>
                </a:solidFill>
              </a:rPr>
              <a:t>Closed source systems, sometimes referred to as a ‘Walled Garden’ system, is an operating system where the provider has control over the services and applications that the user can use. </a:t>
            </a:r>
          </a:p>
          <a:p>
            <a:r>
              <a:rPr lang="en-GB" dirty="0">
                <a:solidFill>
                  <a:schemeClr val="tx1"/>
                </a:solidFill>
              </a:rPr>
              <a:t>All apps/programs that are available to install, are provided by the developer. You are unable to install any other applications. </a:t>
            </a:r>
          </a:p>
          <a:p>
            <a:r>
              <a:rPr lang="en-GB" dirty="0">
                <a:solidFill>
                  <a:schemeClr val="tx1"/>
                </a:solidFill>
              </a:rPr>
              <a:t>There is not much flexibility in terms of the way that you are able to customize these systems due to the restrictions that are placed on applications.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67645" y="2214119"/>
            <a:ext cx="3419603" cy="2420618"/>
          </a:xfrm>
          <a:prstGeom prst="rect">
            <a:avLst/>
          </a:prstGeom>
        </p:spPr>
      </p:pic>
    </p:spTree>
    <p:extLst>
      <p:ext uri="{BB962C8B-B14F-4D97-AF65-F5344CB8AC3E}">
        <p14:creationId xmlns:p14="http://schemas.microsoft.com/office/powerpoint/2010/main" val="2713819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Closed Source Mobile Systems</a:t>
            </a:r>
          </a:p>
        </p:txBody>
      </p:sp>
      <p:sp>
        <p:nvSpPr>
          <p:cNvPr id="3" name="Content Placeholder 2"/>
          <p:cNvSpPr>
            <a:spLocks noGrp="1"/>
          </p:cNvSpPr>
          <p:nvPr>
            <p:ph idx="1"/>
          </p:nvPr>
        </p:nvSpPr>
        <p:spPr>
          <a:xfrm>
            <a:off x="914400" y="2330244"/>
            <a:ext cx="7273255" cy="3654503"/>
          </a:xfrm>
        </p:spPr>
        <p:txBody>
          <a:bodyPr>
            <a:normAutofit fontScale="92500" lnSpcReduction="10000"/>
          </a:bodyPr>
          <a:lstStyle/>
          <a:p>
            <a:r>
              <a:rPr lang="en-GB" dirty="0">
                <a:solidFill>
                  <a:schemeClr val="tx1"/>
                </a:solidFill>
              </a:rPr>
              <a:t>The support that is received with these systems however, is generally better than that of other types of systems. </a:t>
            </a:r>
          </a:p>
          <a:p>
            <a:r>
              <a:rPr lang="en-GB" dirty="0">
                <a:solidFill>
                  <a:schemeClr val="tx1"/>
                </a:solidFill>
              </a:rPr>
              <a:t>This also goes for the security that is installed on these systems. Being created and tested in a closed environment, as well as the limited access to the source code contributed to this. </a:t>
            </a:r>
          </a:p>
          <a:p>
            <a:r>
              <a:rPr lang="en-GB" dirty="0">
                <a:solidFill>
                  <a:schemeClr val="tx1"/>
                </a:solidFill>
              </a:rPr>
              <a:t>There is also greater integration between compatible devices with closed source systems as well as an unified interface across mobile devices .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05768" y="2902357"/>
            <a:ext cx="3308991" cy="3308991"/>
          </a:xfrm>
          <a:prstGeom prst="rect">
            <a:avLst/>
          </a:prstGeom>
        </p:spPr>
      </p:pic>
    </p:spTree>
    <p:extLst>
      <p:ext uri="{BB962C8B-B14F-4D97-AF65-F5344CB8AC3E}">
        <p14:creationId xmlns:p14="http://schemas.microsoft.com/office/powerpoint/2010/main" val="805995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par>
                          <p:cTn id="18" fill="hold">
                            <p:stCondLst>
                              <p:cond delay="500"/>
                            </p:stCondLst>
                            <p:childTnLst>
                              <p:par>
                                <p:cTn id="19" presetID="10" presetClass="entr" presetSubtype="0" fill="hold" nodeType="afterEffect">
                                  <p:stCondLst>
                                    <p:cond delay="100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Closed Source Mobile Systems</a:t>
            </a:r>
          </a:p>
        </p:txBody>
      </p:sp>
      <p:sp>
        <p:nvSpPr>
          <p:cNvPr id="3" name="Content Placeholder 2"/>
          <p:cNvSpPr>
            <a:spLocks noGrp="1"/>
          </p:cNvSpPr>
          <p:nvPr>
            <p:ph idx="1"/>
          </p:nvPr>
        </p:nvSpPr>
        <p:spPr>
          <a:xfrm>
            <a:off x="1143000" y="2418734"/>
            <a:ext cx="9872871" cy="3677265"/>
          </a:xfrm>
        </p:spPr>
        <p:txBody>
          <a:bodyPr>
            <a:normAutofit lnSpcReduction="10000"/>
          </a:bodyPr>
          <a:lstStyle/>
          <a:p>
            <a:r>
              <a:rPr lang="en-GB" dirty="0">
                <a:solidFill>
                  <a:schemeClr val="tx1"/>
                </a:solidFill>
              </a:rPr>
              <a:t>The source code for these systems is not explicitly available, this means that app developers are unable to create apps that are compatible with the OS. </a:t>
            </a:r>
          </a:p>
          <a:p>
            <a:r>
              <a:rPr lang="en-GB" dirty="0">
                <a:solidFill>
                  <a:schemeClr val="tx1"/>
                </a:solidFill>
              </a:rPr>
              <a:t>To overcome this issue, while continuing to restrict access to the source code, closed source developers provide an application programming interface (API), to allow app developers to create programs to run on the closed OS. </a:t>
            </a:r>
          </a:p>
          <a:p>
            <a:r>
              <a:rPr lang="en-GB" dirty="0">
                <a:solidFill>
                  <a:schemeClr val="tx1"/>
                </a:solidFill>
              </a:rPr>
              <a:t>Examples of closed source mobile operating systems are, Amazon Kindle firmware and Apples iOS. </a:t>
            </a:r>
          </a:p>
        </p:txBody>
      </p:sp>
    </p:spTree>
    <p:extLst>
      <p:ext uri="{BB962C8B-B14F-4D97-AF65-F5344CB8AC3E}">
        <p14:creationId xmlns:p14="http://schemas.microsoft.com/office/powerpoint/2010/main" val="3312175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Open Source Operating System</a:t>
            </a:r>
          </a:p>
        </p:txBody>
      </p:sp>
      <p:sp>
        <p:nvSpPr>
          <p:cNvPr id="3" name="Content Placeholder 2"/>
          <p:cNvSpPr>
            <a:spLocks noGrp="1"/>
          </p:cNvSpPr>
          <p:nvPr>
            <p:ph idx="1"/>
          </p:nvPr>
        </p:nvSpPr>
        <p:spPr>
          <a:xfrm>
            <a:off x="1143000" y="2566218"/>
            <a:ext cx="9872871" cy="3529781"/>
          </a:xfrm>
        </p:spPr>
        <p:txBody>
          <a:bodyPr>
            <a:normAutofit fontScale="92500"/>
          </a:bodyPr>
          <a:lstStyle/>
          <a:p>
            <a:r>
              <a:rPr lang="en-GB" dirty="0">
                <a:solidFill>
                  <a:schemeClr val="tx1"/>
                </a:solidFill>
              </a:rPr>
              <a:t>Unlike closed source, the code for open source systems is available to all. </a:t>
            </a:r>
          </a:p>
          <a:p>
            <a:endParaRPr lang="en-GB" dirty="0">
              <a:solidFill>
                <a:schemeClr val="tx1"/>
              </a:solidFill>
            </a:endParaRPr>
          </a:p>
          <a:p>
            <a:r>
              <a:rPr lang="en-GB" dirty="0">
                <a:solidFill>
                  <a:schemeClr val="tx1"/>
                </a:solidFill>
              </a:rPr>
              <a:t>It is possible to download and install apps from almost any source. There are no restrictions on the applications that are installed. </a:t>
            </a:r>
          </a:p>
          <a:p>
            <a:endParaRPr lang="en-GB" dirty="0">
              <a:solidFill>
                <a:schemeClr val="tx1"/>
              </a:solidFill>
            </a:endParaRPr>
          </a:p>
          <a:p>
            <a:r>
              <a:rPr lang="en-GB" dirty="0">
                <a:solidFill>
                  <a:schemeClr val="tx1"/>
                </a:solidFill>
              </a:rPr>
              <a:t>These systems tend to be extremely customizable, allowing you to change features such as keyboards and default apps for browsing etc.</a:t>
            </a:r>
          </a:p>
        </p:txBody>
      </p:sp>
    </p:spTree>
    <p:extLst>
      <p:ext uri="{BB962C8B-B14F-4D97-AF65-F5344CB8AC3E}">
        <p14:creationId xmlns:p14="http://schemas.microsoft.com/office/powerpoint/2010/main" val="2897956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Open Source Operating System</a:t>
            </a:r>
          </a:p>
        </p:txBody>
      </p:sp>
      <p:sp>
        <p:nvSpPr>
          <p:cNvPr id="3" name="Content Placeholder 2"/>
          <p:cNvSpPr>
            <a:spLocks noGrp="1"/>
          </p:cNvSpPr>
          <p:nvPr>
            <p:ph idx="1"/>
          </p:nvPr>
        </p:nvSpPr>
        <p:spPr/>
        <p:txBody>
          <a:bodyPr>
            <a:normAutofit lnSpcReduction="10000"/>
          </a:bodyPr>
          <a:lstStyle/>
          <a:p>
            <a:r>
              <a:rPr lang="en-GB" dirty="0">
                <a:solidFill>
                  <a:schemeClr val="tx1"/>
                </a:solidFill>
              </a:rPr>
              <a:t>With the system being open source, this has created a large support community. There are a number of communities available that offer support and code for users and developers. </a:t>
            </a:r>
          </a:p>
          <a:p>
            <a:r>
              <a:rPr lang="en-GB" dirty="0">
                <a:solidFill>
                  <a:schemeClr val="tx1"/>
                </a:solidFill>
              </a:rPr>
              <a:t>Where we tend to be limited in the devices that we can choose when it comes to closed source operating systems, open source systems are used by a greater variety of hardware manufacturers. </a:t>
            </a:r>
          </a:p>
          <a:p>
            <a:r>
              <a:rPr lang="en-GB" dirty="0">
                <a:solidFill>
                  <a:schemeClr val="tx1"/>
                </a:solidFill>
              </a:rPr>
              <a:t>This doesn’t mean that each manufacturer offers us the same user experience, because due to the ability to customize the source code, they are able to amend this to suit the needs of their devices. </a:t>
            </a:r>
          </a:p>
          <a:p>
            <a:r>
              <a:rPr lang="en-GB" dirty="0">
                <a:solidFill>
                  <a:schemeClr val="tx1"/>
                </a:solidFill>
              </a:rPr>
              <a:t>Examples of mobile open source systems include Ubuntu Touch and </a:t>
            </a:r>
            <a:r>
              <a:rPr lang="en-GB" dirty="0" err="1">
                <a:solidFill>
                  <a:schemeClr val="tx1"/>
                </a:solidFill>
              </a:rPr>
              <a:t>Tizen</a:t>
            </a:r>
            <a:r>
              <a:rPr lang="en-GB" dirty="0">
                <a:solidFill>
                  <a:schemeClr val="tx1"/>
                </a:solidFill>
              </a:rPr>
              <a:t>. </a:t>
            </a:r>
          </a:p>
        </p:txBody>
      </p:sp>
    </p:spTree>
    <p:extLst>
      <p:ext uri="{BB962C8B-B14F-4D97-AF65-F5344CB8AC3E}">
        <p14:creationId xmlns:p14="http://schemas.microsoft.com/office/powerpoint/2010/main" val="1900133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Android</a:t>
            </a:r>
          </a:p>
        </p:txBody>
      </p:sp>
      <p:sp>
        <p:nvSpPr>
          <p:cNvPr id="3" name="Content Placeholder 2"/>
          <p:cNvSpPr>
            <a:spLocks noGrp="1"/>
          </p:cNvSpPr>
          <p:nvPr>
            <p:ph idx="1"/>
          </p:nvPr>
        </p:nvSpPr>
        <p:spPr/>
        <p:txBody>
          <a:bodyPr/>
          <a:lstStyle/>
          <a:p>
            <a:r>
              <a:rPr lang="en-GB" dirty="0">
                <a:solidFill>
                  <a:schemeClr val="tx1"/>
                </a:solidFill>
              </a:rPr>
              <a:t>Android is an OS that we are all familiar with.</a:t>
            </a:r>
          </a:p>
          <a:p>
            <a:r>
              <a:rPr lang="en-GB" dirty="0">
                <a:solidFill>
                  <a:schemeClr val="tx1"/>
                </a:solidFill>
              </a:rPr>
              <a:t>It is a mobile system that is based on the Linux kernel, which is open source. </a:t>
            </a:r>
          </a:p>
          <a:p>
            <a:r>
              <a:rPr lang="en-GB" dirty="0">
                <a:solidFill>
                  <a:schemeClr val="tx1"/>
                </a:solidFill>
              </a:rPr>
              <a:t>Although the Android itself is open source, this means that manufacturers and developers have the ability to amend the source code to suit their needs and then essentially run this as closed source software. </a:t>
            </a:r>
          </a:p>
          <a:p>
            <a:r>
              <a:rPr lang="en-GB" dirty="0">
                <a:solidFill>
                  <a:schemeClr val="tx1"/>
                </a:solidFill>
              </a:rPr>
              <a:t> Because of this there has been some debate as to whether Android is completely open source. </a:t>
            </a:r>
          </a:p>
          <a:p>
            <a:endParaRPr lang="en-GB" dirty="0">
              <a:solidFill>
                <a:schemeClr val="tx1"/>
              </a:solidFill>
            </a:endParaRPr>
          </a:p>
          <a:p>
            <a:endParaRPr lang="en-GB" dirty="0">
              <a:solidFill>
                <a:schemeClr val="tx1"/>
              </a:solidFill>
            </a:endParaRPr>
          </a:p>
        </p:txBody>
      </p:sp>
    </p:spTree>
    <p:extLst>
      <p:ext uri="{BB962C8B-B14F-4D97-AF65-F5344CB8AC3E}">
        <p14:creationId xmlns:p14="http://schemas.microsoft.com/office/powerpoint/2010/main" val="1904305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Embedded Operating Systems</a:t>
            </a:r>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1392331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Embedded Operating Systems </a:t>
            </a:r>
          </a:p>
        </p:txBody>
      </p:sp>
      <p:sp>
        <p:nvSpPr>
          <p:cNvPr id="3" name="Content Placeholder 2"/>
          <p:cNvSpPr>
            <a:spLocks noGrp="1"/>
          </p:cNvSpPr>
          <p:nvPr>
            <p:ph idx="1"/>
          </p:nvPr>
        </p:nvSpPr>
        <p:spPr/>
        <p:txBody>
          <a:bodyPr/>
          <a:lstStyle/>
          <a:p>
            <a:r>
              <a:rPr lang="en-GB" dirty="0">
                <a:solidFill>
                  <a:schemeClr val="tx1"/>
                </a:solidFill>
              </a:rPr>
              <a:t>Unlike operating systems designed for desktop or mobile devices, embedded operating systems are designed to carry out a specific task, not multiple. </a:t>
            </a:r>
          </a:p>
          <a:p>
            <a:r>
              <a:rPr lang="en-GB" dirty="0">
                <a:solidFill>
                  <a:schemeClr val="tx1"/>
                </a:solidFill>
              </a:rPr>
              <a:t>The devices that run embedded operating systems, typically have limited hardware resources, therefore are designed to be efficient and compact. </a:t>
            </a:r>
          </a:p>
          <a:p>
            <a:r>
              <a:rPr lang="en-GB" dirty="0">
                <a:solidFill>
                  <a:schemeClr val="tx1"/>
                </a:solidFill>
              </a:rPr>
              <a:t>Within a typical desktop system, the user is able to execute certain applications at their request. This is not the case for embedded systems where the system is usually designed as a single executable shell. </a:t>
            </a:r>
          </a:p>
        </p:txBody>
      </p:sp>
    </p:spTree>
    <p:extLst>
      <p:ext uri="{BB962C8B-B14F-4D97-AF65-F5344CB8AC3E}">
        <p14:creationId xmlns:p14="http://schemas.microsoft.com/office/powerpoint/2010/main" val="3228560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Embedded Operating Systems </a:t>
            </a:r>
          </a:p>
        </p:txBody>
      </p:sp>
      <p:sp>
        <p:nvSpPr>
          <p:cNvPr id="3" name="Content Placeholder 2"/>
          <p:cNvSpPr>
            <a:spLocks noGrp="1"/>
          </p:cNvSpPr>
          <p:nvPr>
            <p:ph idx="1"/>
          </p:nvPr>
        </p:nvSpPr>
        <p:spPr/>
        <p:txBody>
          <a:bodyPr/>
          <a:lstStyle/>
          <a:p>
            <a:r>
              <a:rPr lang="en-GB" dirty="0">
                <a:solidFill>
                  <a:schemeClr val="tx1"/>
                </a:solidFill>
              </a:rPr>
              <a:t>This shell is generally executed from the boot of the machine, not from a desktop. </a:t>
            </a:r>
          </a:p>
          <a:p>
            <a:r>
              <a:rPr lang="en-GB" dirty="0">
                <a:solidFill>
                  <a:schemeClr val="tx1"/>
                </a:solidFill>
              </a:rPr>
              <a:t>Where a standard operating system creates an interactive environment between the user and the computer, an embedded system requires no, or little user input. </a:t>
            </a:r>
          </a:p>
          <a:p>
            <a:r>
              <a:rPr lang="en-GB" dirty="0">
                <a:solidFill>
                  <a:schemeClr val="tx1"/>
                </a:solidFill>
              </a:rPr>
              <a:t>These operating systems, rather being installed on the hard disk like a traditional OS, are installed into the firmware of the device by the manufacturer and are typically not user installed. </a:t>
            </a:r>
          </a:p>
          <a:p>
            <a:endParaRPr lang="en-GB" dirty="0">
              <a:solidFill>
                <a:schemeClr val="tx1"/>
              </a:solidFill>
            </a:endParaRPr>
          </a:p>
        </p:txBody>
      </p:sp>
    </p:spTree>
    <p:extLst>
      <p:ext uri="{BB962C8B-B14F-4D97-AF65-F5344CB8AC3E}">
        <p14:creationId xmlns:p14="http://schemas.microsoft.com/office/powerpoint/2010/main" val="147599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Embedded Operating Systems </a:t>
            </a:r>
          </a:p>
        </p:txBody>
      </p:sp>
      <p:sp>
        <p:nvSpPr>
          <p:cNvPr id="3" name="Content Placeholder 2"/>
          <p:cNvSpPr>
            <a:spLocks noGrp="1"/>
          </p:cNvSpPr>
          <p:nvPr>
            <p:ph idx="1"/>
          </p:nvPr>
        </p:nvSpPr>
        <p:spPr/>
        <p:txBody>
          <a:bodyPr/>
          <a:lstStyle/>
          <a:p>
            <a:r>
              <a:rPr lang="en-GB" dirty="0">
                <a:solidFill>
                  <a:schemeClr val="tx1"/>
                </a:solidFill>
              </a:rPr>
              <a:t>These systems are commonly small systems, with one specific task that play a part within a larger system. An example being the breaking system within a car. </a:t>
            </a:r>
          </a:p>
          <a:p>
            <a:r>
              <a:rPr lang="en-GB" dirty="0">
                <a:solidFill>
                  <a:schemeClr val="tx1"/>
                </a:solidFill>
              </a:rPr>
              <a:t>Generally, these systems are expected not only to continue to repeat the task that they are programed to do but also to perform the task within a specific time. </a:t>
            </a:r>
          </a:p>
          <a:p>
            <a:r>
              <a:rPr lang="en-GB" dirty="0">
                <a:solidFill>
                  <a:schemeClr val="tx1"/>
                </a:solidFill>
              </a:rPr>
              <a:t>If we take the example of a cars ABS again, if there is a delay in the system then then there’s the potential to cause an accident. </a:t>
            </a:r>
          </a:p>
          <a:p>
            <a:endParaRPr lang="en-GB" dirty="0">
              <a:solidFill>
                <a:schemeClr val="tx1"/>
              </a:solidFill>
            </a:endParaRPr>
          </a:p>
          <a:p>
            <a:endParaRPr lang="en-GB" dirty="0">
              <a:solidFill>
                <a:schemeClr val="tx1"/>
              </a:solidFill>
            </a:endParaRPr>
          </a:p>
        </p:txBody>
      </p:sp>
    </p:spTree>
    <p:extLst>
      <p:ext uri="{BB962C8B-B14F-4D97-AF65-F5344CB8AC3E}">
        <p14:creationId xmlns:p14="http://schemas.microsoft.com/office/powerpoint/2010/main" val="92539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Embedded Operating Systems </a:t>
            </a:r>
          </a:p>
        </p:txBody>
      </p:sp>
      <p:sp>
        <p:nvSpPr>
          <p:cNvPr id="3" name="Content Placeholder 2"/>
          <p:cNvSpPr>
            <a:spLocks noGrp="1"/>
          </p:cNvSpPr>
          <p:nvPr>
            <p:ph idx="1"/>
          </p:nvPr>
        </p:nvSpPr>
        <p:spPr/>
        <p:txBody>
          <a:bodyPr/>
          <a:lstStyle/>
          <a:p>
            <a:r>
              <a:rPr lang="en-GB" dirty="0">
                <a:solidFill>
                  <a:schemeClr val="tx1"/>
                </a:solidFill>
              </a:rPr>
              <a:t>We often split embedded operating systems up into 4 categories:</a:t>
            </a:r>
          </a:p>
          <a:p>
            <a:pPr lvl="1"/>
            <a:endParaRPr lang="en-GB" dirty="0">
              <a:solidFill>
                <a:schemeClr val="tx1"/>
              </a:solidFill>
            </a:endParaRPr>
          </a:p>
          <a:p>
            <a:pPr lvl="1"/>
            <a:endParaRPr lang="en-GB" dirty="0">
              <a:solidFill>
                <a:schemeClr val="tx1"/>
              </a:solidFill>
            </a:endParaRPr>
          </a:p>
          <a:p>
            <a:pPr lvl="2"/>
            <a:r>
              <a:rPr lang="en-GB" sz="2800" dirty="0">
                <a:solidFill>
                  <a:schemeClr val="tx1"/>
                </a:solidFill>
              </a:rPr>
              <a:t>Real Time Embedded Systems </a:t>
            </a:r>
          </a:p>
          <a:p>
            <a:pPr lvl="2"/>
            <a:r>
              <a:rPr lang="en-GB" sz="2800" dirty="0">
                <a:solidFill>
                  <a:schemeClr val="tx1"/>
                </a:solidFill>
              </a:rPr>
              <a:t>Stand Alone Embedded Systems</a:t>
            </a:r>
          </a:p>
          <a:p>
            <a:pPr lvl="2"/>
            <a:r>
              <a:rPr lang="en-GB" sz="2800" dirty="0">
                <a:solidFill>
                  <a:schemeClr val="tx1"/>
                </a:solidFill>
              </a:rPr>
              <a:t>Networked Embedded Systems</a:t>
            </a:r>
          </a:p>
          <a:p>
            <a:pPr lvl="2"/>
            <a:r>
              <a:rPr lang="en-GB" sz="2800" dirty="0">
                <a:solidFill>
                  <a:schemeClr val="tx1"/>
                </a:solidFill>
              </a:rPr>
              <a:t>Mobile Embedded Systems</a:t>
            </a:r>
          </a:p>
          <a:p>
            <a:endParaRPr lang="en-GB" dirty="0">
              <a:solidFill>
                <a:schemeClr val="tx1"/>
              </a:solidFill>
            </a:endParaRPr>
          </a:p>
        </p:txBody>
      </p:sp>
    </p:spTree>
    <p:extLst>
      <p:ext uri="{BB962C8B-B14F-4D97-AF65-F5344CB8AC3E}">
        <p14:creationId xmlns:p14="http://schemas.microsoft.com/office/powerpoint/2010/main" val="1352748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par>
                          <p:cTn id="13" fill="hold">
                            <p:stCondLst>
                              <p:cond delay="500"/>
                            </p:stCondLst>
                            <p:childTnLst>
                              <p:par>
                                <p:cTn id="14" presetID="10" presetClass="entr" presetSubtype="0" fill="hold" nodeType="afterEffect">
                                  <p:stCondLst>
                                    <p:cond delay="100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par>
                          <p:cTn id="17" fill="hold">
                            <p:stCondLst>
                              <p:cond delay="2000"/>
                            </p:stCondLst>
                            <p:childTnLst>
                              <p:par>
                                <p:cTn id="18" presetID="10" presetClass="entr" presetSubtype="0" fill="hold" nodeType="afterEffect">
                                  <p:stCondLst>
                                    <p:cond delay="100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par>
                          <p:cTn id="21" fill="hold">
                            <p:stCondLst>
                              <p:cond delay="3500"/>
                            </p:stCondLst>
                            <p:childTnLst>
                              <p:par>
                                <p:cTn id="22" presetID="10" presetClass="entr" presetSubtype="0" fill="hold" nodeType="afterEffect">
                                  <p:stCondLst>
                                    <p:cond delay="100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Real Time Embedded Systems</a:t>
            </a:r>
          </a:p>
        </p:txBody>
      </p:sp>
      <p:sp>
        <p:nvSpPr>
          <p:cNvPr id="3" name="Content Placeholder 2"/>
          <p:cNvSpPr>
            <a:spLocks noGrp="1"/>
          </p:cNvSpPr>
          <p:nvPr>
            <p:ph idx="1"/>
          </p:nvPr>
        </p:nvSpPr>
        <p:spPr/>
        <p:txBody>
          <a:bodyPr/>
          <a:lstStyle/>
          <a:p>
            <a:r>
              <a:rPr lang="en-GB" dirty="0">
                <a:solidFill>
                  <a:schemeClr val="tx1"/>
                </a:solidFill>
              </a:rPr>
              <a:t>A real-time embedded system, is one where the system needs to respond within a strict time. </a:t>
            </a:r>
          </a:p>
          <a:p>
            <a:r>
              <a:rPr lang="en-GB" dirty="0">
                <a:solidFill>
                  <a:schemeClr val="tx1"/>
                </a:solidFill>
              </a:rPr>
              <a:t>This time is usually defined as a response to a request or event there for does not waste time on processing if the event doesn’t occur. </a:t>
            </a:r>
          </a:p>
          <a:p>
            <a:r>
              <a:rPr lang="en-GB" dirty="0">
                <a:solidFill>
                  <a:schemeClr val="tx1"/>
                </a:solidFill>
              </a:rPr>
              <a:t>Real Time systems can be sub-categorised into 3 types: </a:t>
            </a:r>
          </a:p>
          <a:p>
            <a:pPr lvl="1"/>
            <a:r>
              <a:rPr lang="en-GB" b="1" dirty="0">
                <a:solidFill>
                  <a:schemeClr val="tx1"/>
                </a:solidFill>
              </a:rPr>
              <a:t>Hard Real Time Systems</a:t>
            </a:r>
            <a:endParaRPr lang="en-GB" dirty="0">
              <a:solidFill>
                <a:schemeClr val="tx1"/>
              </a:solidFill>
            </a:endParaRPr>
          </a:p>
          <a:p>
            <a:pPr lvl="1"/>
            <a:r>
              <a:rPr lang="en-GB" b="1" dirty="0">
                <a:solidFill>
                  <a:schemeClr val="tx1"/>
                </a:solidFill>
              </a:rPr>
              <a:t>Soft Real Time Systems </a:t>
            </a:r>
          </a:p>
          <a:p>
            <a:pPr lvl="1"/>
            <a:r>
              <a:rPr lang="en-GB" b="1" dirty="0">
                <a:solidFill>
                  <a:schemeClr val="tx1"/>
                </a:solidFill>
              </a:rPr>
              <a:t>Firm Real Time Systems</a:t>
            </a:r>
          </a:p>
          <a:p>
            <a:r>
              <a:rPr lang="en-GB" dirty="0">
                <a:solidFill>
                  <a:schemeClr val="tx1"/>
                </a:solidFill>
              </a:rPr>
              <a:t>Examples of real time embedded systems include, air traffic control systems, military drones and aero space probes.</a:t>
            </a:r>
          </a:p>
          <a:p>
            <a:endParaRPr lang="en-GB" dirty="0">
              <a:solidFill>
                <a:schemeClr val="tx1"/>
              </a:solidFill>
            </a:endParaRPr>
          </a:p>
        </p:txBody>
      </p:sp>
    </p:spTree>
    <p:extLst>
      <p:ext uri="{BB962C8B-B14F-4D97-AF65-F5344CB8AC3E}">
        <p14:creationId xmlns:p14="http://schemas.microsoft.com/office/powerpoint/2010/main" val="3319984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par>
                          <p:cTn id="23" fill="hold">
                            <p:stCondLst>
                              <p:cond delay="500"/>
                            </p:stCondLst>
                            <p:childTnLst>
                              <p:par>
                                <p:cTn id="24" presetID="10" presetClass="entr" presetSubtype="0" fill="hold" nodeType="afterEffect">
                                  <p:stCondLst>
                                    <p:cond delay="100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par>
                          <p:cTn id="27" fill="hold">
                            <p:stCondLst>
                              <p:cond delay="2000"/>
                            </p:stCondLst>
                            <p:childTnLst>
                              <p:par>
                                <p:cTn id="28" presetID="10" presetClass="entr" presetSubtype="0" fill="hold" nodeType="afterEffect">
                                  <p:stCondLst>
                                    <p:cond delay="100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Stand Alone Embedded Systems</a:t>
            </a:r>
          </a:p>
        </p:txBody>
      </p:sp>
      <p:sp>
        <p:nvSpPr>
          <p:cNvPr id="3" name="Content Placeholder 2"/>
          <p:cNvSpPr>
            <a:spLocks noGrp="1"/>
          </p:cNvSpPr>
          <p:nvPr>
            <p:ph idx="1"/>
          </p:nvPr>
        </p:nvSpPr>
        <p:spPr/>
        <p:txBody>
          <a:bodyPr/>
          <a:lstStyle/>
          <a:p>
            <a:r>
              <a:rPr lang="en-GB" dirty="0">
                <a:solidFill>
                  <a:schemeClr val="tx1"/>
                </a:solidFill>
              </a:rPr>
              <a:t>Where a number of Embedded Systems operate within a larger system, or host system, this is not the case for stand alone embedded systems. </a:t>
            </a:r>
          </a:p>
          <a:p>
            <a:r>
              <a:rPr lang="en-GB" dirty="0">
                <a:solidFill>
                  <a:schemeClr val="tx1"/>
                </a:solidFill>
              </a:rPr>
              <a:t>These systems work on their own by taking an input, either digital or analogue and processes it. </a:t>
            </a:r>
          </a:p>
          <a:p>
            <a:r>
              <a:rPr lang="en-GB" dirty="0">
                <a:solidFill>
                  <a:schemeClr val="tx1"/>
                </a:solidFill>
              </a:rPr>
              <a:t>It then passes the output to a connected device or service.</a:t>
            </a:r>
          </a:p>
          <a:p>
            <a:r>
              <a:rPr lang="en-GB" dirty="0">
                <a:solidFill>
                  <a:schemeClr val="tx1"/>
                </a:solidFill>
              </a:rPr>
              <a:t>Examples of stand alone systems include MP3 players, game consoles and calculators</a:t>
            </a:r>
          </a:p>
          <a:p>
            <a:endParaRPr lang="en-GB" dirty="0">
              <a:solidFill>
                <a:schemeClr val="tx1"/>
              </a:solidFill>
            </a:endParaRPr>
          </a:p>
        </p:txBody>
      </p:sp>
    </p:spTree>
    <p:extLst>
      <p:ext uri="{BB962C8B-B14F-4D97-AF65-F5344CB8AC3E}">
        <p14:creationId xmlns:p14="http://schemas.microsoft.com/office/powerpoint/2010/main" val="765345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Network Embedded Systems</a:t>
            </a:r>
          </a:p>
        </p:txBody>
      </p:sp>
      <p:sp>
        <p:nvSpPr>
          <p:cNvPr id="3" name="Content Placeholder 2"/>
          <p:cNvSpPr>
            <a:spLocks noGrp="1"/>
          </p:cNvSpPr>
          <p:nvPr>
            <p:ph idx="1"/>
          </p:nvPr>
        </p:nvSpPr>
        <p:spPr/>
        <p:txBody>
          <a:bodyPr/>
          <a:lstStyle/>
          <a:p>
            <a:r>
              <a:rPr lang="en-GB" dirty="0">
                <a:solidFill>
                  <a:schemeClr val="tx1"/>
                </a:solidFill>
              </a:rPr>
              <a:t>Like the name suggests, Network Embedded Systems depend on being connected to a network to access resources. </a:t>
            </a:r>
          </a:p>
          <a:p>
            <a:r>
              <a:rPr lang="en-GB" dirty="0">
                <a:solidFill>
                  <a:schemeClr val="tx1"/>
                </a:solidFill>
              </a:rPr>
              <a:t>This can be any connection, such as being connected to a LAN or WAN, and can be either wired or wireless.</a:t>
            </a:r>
          </a:p>
          <a:p>
            <a:r>
              <a:rPr lang="en-GB" dirty="0">
                <a:solidFill>
                  <a:schemeClr val="tx1"/>
                </a:solidFill>
              </a:rPr>
              <a:t>These systems communicate with a central device such as server.</a:t>
            </a:r>
          </a:p>
          <a:p>
            <a:r>
              <a:rPr lang="en-GB" dirty="0">
                <a:solidFill>
                  <a:schemeClr val="tx1"/>
                </a:solidFill>
              </a:rPr>
              <a:t>They commonly consist of sensors </a:t>
            </a:r>
            <a:r>
              <a:rPr lang="en-GB" dirty="0" err="1">
                <a:solidFill>
                  <a:schemeClr val="tx1"/>
                </a:solidFill>
              </a:rPr>
              <a:t>etc</a:t>
            </a:r>
            <a:r>
              <a:rPr lang="en-GB" dirty="0">
                <a:solidFill>
                  <a:schemeClr val="tx1"/>
                </a:solidFill>
              </a:rPr>
              <a:t> which are all connected and managed from a central point. </a:t>
            </a:r>
          </a:p>
          <a:p>
            <a:r>
              <a:rPr lang="en-GB" dirty="0">
                <a:solidFill>
                  <a:schemeClr val="tx1"/>
                </a:solidFill>
              </a:rPr>
              <a:t>Examples of Network Embedded Systems include, home security systems, ATMs and chip and pin card machines </a:t>
            </a:r>
          </a:p>
          <a:p>
            <a:endParaRPr lang="en-GB" dirty="0">
              <a:solidFill>
                <a:schemeClr val="tx1"/>
              </a:solidFill>
            </a:endParaRPr>
          </a:p>
        </p:txBody>
      </p:sp>
    </p:spTree>
    <p:extLst>
      <p:ext uri="{BB962C8B-B14F-4D97-AF65-F5344CB8AC3E}">
        <p14:creationId xmlns:p14="http://schemas.microsoft.com/office/powerpoint/2010/main" val="3193250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Mobile Embedded Systems </a:t>
            </a:r>
          </a:p>
        </p:txBody>
      </p:sp>
      <p:sp>
        <p:nvSpPr>
          <p:cNvPr id="3" name="Content Placeholder 2"/>
          <p:cNvSpPr>
            <a:spLocks noGrp="1"/>
          </p:cNvSpPr>
          <p:nvPr>
            <p:ph idx="1"/>
          </p:nvPr>
        </p:nvSpPr>
        <p:spPr/>
        <p:txBody>
          <a:bodyPr/>
          <a:lstStyle/>
          <a:p>
            <a:r>
              <a:rPr lang="en-GB" dirty="0">
                <a:solidFill>
                  <a:schemeClr val="tx1"/>
                </a:solidFill>
              </a:rPr>
              <a:t>Mobile embedded systems are small in size. This means that they can be used within small portable devices. </a:t>
            </a:r>
          </a:p>
          <a:p>
            <a:endParaRPr lang="en-GB" dirty="0">
              <a:solidFill>
                <a:schemeClr val="tx1"/>
              </a:solidFill>
            </a:endParaRPr>
          </a:p>
          <a:p>
            <a:r>
              <a:rPr lang="en-GB" dirty="0">
                <a:solidFill>
                  <a:schemeClr val="tx1"/>
                </a:solidFill>
              </a:rPr>
              <a:t>These systems generally have memory constraints which serves as a limitation. They are also often restricted with other hardware resources. </a:t>
            </a:r>
          </a:p>
          <a:p>
            <a:endParaRPr lang="en-GB" dirty="0">
              <a:solidFill>
                <a:schemeClr val="tx1"/>
              </a:solidFill>
            </a:endParaRPr>
          </a:p>
          <a:p>
            <a:r>
              <a:rPr lang="en-GB" dirty="0">
                <a:solidFill>
                  <a:schemeClr val="tx1"/>
                </a:solidFill>
              </a:rPr>
              <a:t>They are also not limited to mobile phones but also other small devices such as digital cameras and digital personal assistants.  </a:t>
            </a:r>
          </a:p>
          <a:p>
            <a:endParaRPr lang="en-GB" dirty="0">
              <a:solidFill>
                <a:schemeClr val="tx1"/>
              </a:solidFill>
            </a:endParaRPr>
          </a:p>
        </p:txBody>
      </p:sp>
    </p:spTree>
    <p:extLst>
      <p:ext uri="{BB962C8B-B14F-4D97-AF65-F5344CB8AC3E}">
        <p14:creationId xmlns:p14="http://schemas.microsoft.com/office/powerpoint/2010/main" val="2498867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For Next Week ……</a:t>
            </a:r>
          </a:p>
        </p:txBody>
      </p:sp>
      <p:sp>
        <p:nvSpPr>
          <p:cNvPr id="3" name="Content Placeholder 2"/>
          <p:cNvSpPr>
            <a:spLocks noGrp="1"/>
          </p:cNvSpPr>
          <p:nvPr>
            <p:ph idx="1"/>
          </p:nvPr>
        </p:nvSpPr>
        <p:spPr/>
        <p:txBody>
          <a:bodyPr/>
          <a:lstStyle/>
          <a:p>
            <a:r>
              <a:rPr lang="en-GB" dirty="0">
                <a:solidFill>
                  <a:schemeClr val="tx1"/>
                </a:solidFill>
              </a:rPr>
              <a:t>These slides will be available on Moodle. </a:t>
            </a:r>
          </a:p>
          <a:p>
            <a:endParaRPr lang="en-GB" dirty="0">
              <a:solidFill>
                <a:schemeClr val="tx1"/>
              </a:solidFill>
            </a:endParaRPr>
          </a:p>
          <a:p>
            <a:r>
              <a:rPr lang="en-GB" dirty="0">
                <a:solidFill>
                  <a:schemeClr val="tx1"/>
                </a:solidFill>
              </a:rPr>
              <a:t>There is also a tutorial, available on Moodle. </a:t>
            </a:r>
          </a:p>
          <a:p>
            <a:endParaRPr lang="en-GB" dirty="0">
              <a:solidFill>
                <a:schemeClr val="tx1"/>
              </a:solidFill>
            </a:endParaRPr>
          </a:p>
          <a:p>
            <a:r>
              <a:rPr lang="en-GB" dirty="0">
                <a:solidFill>
                  <a:schemeClr val="tx1"/>
                </a:solidFill>
              </a:rPr>
              <a:t>This is expected to be completed and submitted to the hand-in on Moodle for next week. </a:t>
            </a:r>
          </a:p>
        </p:txBody>
      </p:sp>
    </p:spTree>
    <p:extLst>
      <p:ext uri="{BB962C8B-B14F-4D97-AF65-F5344CB8AC3E}">
        <p14:creationId xmlns:p14="http://schemas.microsoft.com/office/powerpoint/2010/main" val="28871914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Environments</a:t>
            </a:r>
          </a:p>
        </p:txBody>
      </p:sp>
      <p:sp>
        <p:nvSpPr>
          <p:cNvPr id="3" name="Subtitle 2"/>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39654539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B906E-A741-34C9-3C0B-60B2AE36A49F}"/>
              </a:ext>
            </a:extLst>
          </p:cNvPr>
          <p:cNvSpPr>
            <a:spLocks noGrp="1"/>
          </p:cNvSpPr>
          <p:nvPr>
            <p:ph type="title"/>
          </p:nvPr>
        </p:nvSpPr>
        <p:spPr/>
        <p:txBody>
          <a:bodyPr/>
          <a:lstStyle/>
          <a:p>
            <a:r>
              <a:rPr lang="en-US" dirty="0"/>
              <a:t>Environments</a:t>
            </a:r>
            <a:endParaRPr lang="en-GB" dirty="0"/>
          </a:p>
        </p:txBody>
      </p:sp>
      <p:sp>
        <p:nvSpPr>
          <p:cNvPr id="3" name="Content Placeholder 2">
            <a:extLst>
              <a:ext uri="{FF2B5EF4-FFF2-40B4-BE49-F238E27FC236}">
                <a16:creationId xmlns:a16="http://schemas.microsoft.com/office/drawing/2014/main" id="{6451D095-07E3-53B3-3EEA-39A59CD843CF}"/>
              </a:ext>
            </a:extLst>
          </p:cNvPr>
          <p:cNvSpPr>
            <a:spLocks noGrp="1"/>
          </p:cNvSpPr>
          <p:nvPr>
            <p:ph idx="1"/>
          </p:nvPr>
        </p:nvSpPr>
        <p:spPr>
          <a:xfrm>
            <a:off x="838200" y="1825625"/>
            <a:ext cx="6075947" cy="4351338"/>
          </a:xfrm>
        </p:spPr>
        <p:txBody>
          <a:bodyPr>
            <a:normAutofit lnSpcReduction="10000"/>
          </a:bodyPr>
          <a:lstStyle/>
          <a:p>
            <a:r>
              <a:rPr lang="en-US" dirty="0"/>
              <a:t>In the context of computing, the environment refers to the set of hardware, software and other system components that define where and how a program or process operates.</a:t>
            </a:r>
          </a:p>
          <a:p>
            <a:r>
              <a:rPr lang="en-US" dirty="0"/>
              <a:t>Each type of environment in computing provides a controlled setting where specific configurations, dependencies, and parameters ensure that software run correctly and consistently across systems. </a:t>
            </a:r>
            <a:endParaRPr lang="en-GB" dirty="0"/>
          </a:p>
        </p:txBody>
      </p:sp>
      <p:pic>
        <p:nvPicPr>
          <p:cNvPr id="5" name="Picture 4" descr="Circuit board">
            <a:extLst>
              <a:ext uri="{FF2B5EF4-FFF2-40B4-BE49-F238E27FC236}">
                <a16:creationId xmlns:a16="http://schemas.microsoft.com/office/drawing/2014/main" id="{2B0A76DB-D832-4B3C-1860-831E87A16C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4147" y="1825625"/>
            <a:ext cx="4690964" cy="3131127"/>
          </a:xfrm>
          <a:prstGeom prst="rect">
            <a:avLst/>
          </a:prstGeom>
        </p:spPr>
      </p:pic>
    </p:spTree>
    <p:extLst>
      <p:ext uri="{BB962C8B-B14F-4D97-AF65-F5344CB8AC3E}">
        <p14:creationId xmlns:p14="http://schemas.microsoft.com/office/powerpoint/2010/main" val="38712831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42C6F-D484-633C-4292-6E5952DA2BAC}"/>
              </a:ext>
            </a:extLst>
          </p:cNvPr>
          <p:cNvSpPr>
            <a:spLocks noGrp="1"/>
          </p:cNvSpPr>
          <p:nvPr>
            <p:ph type="title"/>
          </p:nvPr>
        </p:nvSpPr>
        <p:spPr/>
        <p:txBody>
          <a:bodyPr/>
          <a:lstStyle/>
          <a:p>
            <a:r>
              <a:rPr lang="en-US" dirty="0"/>
              <a:t>Hardware Environment </a:t>
            </a:r>
            <a:endParaRPr lang="en-GB" dirty="0"/>
          </a:p>
        </p:txBody>
      </p:sp>
      <p:sp>
        <p:nvSpPr>
          <p:cNvPr id="3" name="Content Placeholder 2">
            <a:extLst>
              <a:ext uri="{FF2B5EF4-FFF2-40B4-BE49-F238E27FC236}">
                <a16:creationId xmlns:a16="http://schemas.microsoft.com/office/drawing/2014/main" id="{33845F93-2745-9B61-C0AA-F54F627CBC24}"/>
              </a:ext>
            </a:extLst>
          </p:cNvPr>
          <p:cNvSpPr>
            <a:spLocks noGrp="1"/>
          </p:cNvSpPr>
          <p:nvPr>
            <p:ph idx="1"/>
          </p:nvPr>
        </p:nvSpPr>
        <p:spPr>
          <a:xfrm>
            <a:off x="4219074" y="1825625"/>
            <a:ext cx="7134726" cy="4351338"/>
          </a:xfrm>
        </p:spPr>
        <p:txBody>
          <a:bodyPr>
            <a:normAutofit lnSpcReduction="10000"/>
          </a:bodyPr>
          <a:lstStyle/>
          <a:p>
            <a:r>
              <a:rPr lang="en-US" dirty="0"/>
              <a:t>A hardware computing environment refers to the tangible, hardware-based infrastructure that supports computing tasks. This environment consists of the physical devices and components required for running software applications and managing data. </a:t>
            </a:r>
          </a:p>
          <a:p>
            <a:r>
              <a:rPr lang="en-US" dirty="0"/>
              <a:t>The physical computing environment is crucial because it forms the foundation upon which all software operations occur. Without it, virtual environments (cloud-based or otherwise) wouldn’t have the necessary infrastructure to function. </a:t>
            </a:r>
            <a:endParaRPr lang="en-GB" dirty="0"/>
          </a:p>
        </p:txBody>
      </p:sp>
      <p:pic>
        <p:nvPicPr>
          <p:cNvPr id="5" name="Picture 4" descr="Electronic components on a white background">
            <a:extLst>
              <a:ext uri="{FF2B5EF4-FFF2-40B4-BE49-F238E27FC236}">
                <a16:creationId xmlns:a16="http://schemas.microsoft.com/office/drawing/2014/main" id="{705DD175-FE4D-3E11-B983-D40D5DA7229F}"/>
              </a:ext>
            </a:extLst>
          </p:cNvPr>
          <p:cNvPicPr>
            <a:picLocks noChangeAspect="1"/>
          </p:cNvPicPr>
          <p:nvPr/>
        </p:nvPicPr>
        <p:blipFill>
          <a:blip r:embed="rId2">
            <a:extLst>
              <a:ext uri="{28A0092B-C50C-407E-A947-70E740481C1C}">
                <a14:useLocalDpi xmlns:a14="http://schemas.microsoft.com/office/drawing/2010/main" val="0"/>
              </a:ext>
            </a:extLst>
          </a:blip>
          <a:srcRect l="57996"/>
          <a:stretch/>
        </p:blipFill>
        <p:spPr>
          <a:xfrm>
            <a:off x="838200" y="1718762"/>
            <a:ext cx="3076028" cy="4351338"/>
          </a:xfrm>
          <a:prstGeom prst="rect">
            <a:avLst/>
          </a:prstGeom>
        </p:spPr>
      </p:pic>
    </p:spTree>
    <p:extLst>
      <p:ext uri="{BB962C8B-B14F-4D97-AF65-F5344CB8AC3E}">
        <p14:creationId xmlns:p14="http://schemas.microsoft.com/office/powerpoint/2010/main" val="4266455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ADE95-F94E-2354-A4A0-F159843BE524}"/>
              </a:ext>
            </a:extLst>
          </p:cNvPr>
          <p:cNvSpPr>
            <a:spLocks noGrp="1"/>
          </p:cNvSpPr>
          <p:nvPr>
            <p:ph type="title"/>
          </p:nvPr>
        </p:nvSpPr>
        <p:spPr/>
        <p:txBody>
          <a:bodyPr/>
          <a:lstStyle/>
          <a:p>
            <a:r>
              <a:rPr lang="en-US" dirty="0"/>
              <a:t>Development Environment </a:t>
            </a:r>
            <a:endParaRPr lang="en-GB" dirty="0"/>
          </a:p>
        </p:txBody>
      </p:sp>
      <p:sp>
        <p:nvSpPr>
          <p:cNvPr id="3" name="Content Placeholder 2">
            <a:extLst>
              <a:ext uri="{FF2B5EF4-FFF2-40B4-BE49-F238E27FC236}">
                <a16:creationId xmlns:a16="http://schemas.microsoft.com/office/drawing/2014/main" id="{577DCB5F-0401-AA0F-B91D-7BE0599EB237}"/>
              </a:ext>
            </a:extLst>
          </p:cNvPr>
          <p:cNvSpPr>
            <a:spLocks noGrp="1"/>
          </p:cNvSpPr>
          <p:nvPr>
            <p:ph idx="1"/>
          </p:nvPr>
        </p:nvSpPr>
        <p:spPr>
          <a:xfrm>
            <a:off x="838200" y="1825625"/>
            <a:ext cx="6396789" cy="4351338"/>
          </a:xfrm>
        </p:spPr>
        <p:txBody>
          <a:bodyPr>
            <a:normAutofit fontScale="92500" lnSpcReduction="20000"/>
          </a:bodyPr>
          <a:lstStyle/>
          <a:p>
            <a:r>
              <a:rPr lang="en-US" dirty="0"/>
              <a:t>Within computing, a development environment is a set of tools, resources and configurations that software developers use to write, test, debug and maintain code during the software development lifecycle. </a:t>
            </a:r>
          </a:p>
          <a:p>
            <a:r>
              <a:rPr lang="en-US" dirty="0"/>
              <a:t>It includes IDE’s (Integrated Development Environments), version control systems, and testing frameworks, providing the resources to streamline the development process. </a:t>
            </a:r>
          </a:p>
          <a:p>
            <a:r>
              <a:rPr lang="en-US" dirty="0"/>
              <a:t>The environment may be local, remote, or cloud-based, and often integrates with continuous integration and testing tools to ensure smooth progression from coding to deployment. </a:t>
            </a:r>
            <a:endParaRPr lang="en-GB" dirty="0"/>
          </a:p>
        </p:txBody>
      </p:sp>
      <p:pic>
        <p:nvPicPr>
          <p:cNvPr id="5" name="Picture 4" descr="Program coding on a computer screen">
            <a:extLst>
              <a:ext uri="{FF2B5EF4-FFF2-40B4-BE49-F238E27FC236}">
                <a16:creationId xmlns:a16="http://schemas.microsoft.com/office/drawing/2014/main" id="{DDB8227D-4F2F-FF13-5F32-01CFC1D75A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4989" y="2202873"/>
            <a:ext cx="4592782" cy="3061854"/>
          </a:xfrm>
          <a:prstGeom prst="rect">
            <a:avLst/>
          </a:prstGeom>
        </p:spPr>
      </p:pic>
    </p:spTree>
    <p:extLst>
      <p:ext uri="{BB962C8B-B14F-4D97-AF65-F5344CB8AC3E}">
        <p14:creationId xmlns:p14="http://schemas.microsoft.com/office/powerpoint/2010/main" val="42663861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75B78-C2A5-4AD2-87C4-7F08B7A8FA4B}"/>
              </a:ext>
            </a:extLst>
          </p:cNvPr>
          <p:cNvSpPr>
            <a:spLocks noGrp="1"/>
          </p:cNvSpPr>
          <p:nvPr>
            <p:ph type="title"/>
          </p:nvPr>
        </p:nvSpPr>
        <p:spPr/>
        <p:txBody>
          <a:bodyPr/>
          <a:lstStyle/>
          <a:p>
            <a:r>
              <a:rPr lang="en-US" dirty="0"/>
              <a:t>Virtual Environment </a:t>
            </a:r>
            <a:endParaRPr lang="en-GB" dirty="0"/>
          </a:p>
        </p:txBody>
      </p:sp>
      <p:sp>
        <p:nvSpPr>
          <p:cNvPr id="3" name="Content Placeholder 2">
            <a:extLst>
              <a:ext uri="{FF2B5EF4-FFF2-40B4-BE49-F238E27FC236}">
                <a16:creationId xmlns:a16="http://schemas.microsoft.com/office/drawing/2014/main" id="{D9598822-0E54-FACF-3EF2-B3F8D2F06AB9}"/>
              </a:ext>
            </a:extLst>
          </p:cNvPr>
          <p:cNvSpPr>
            <a:spLocks noGrp="1"/>
          </p:cNvSpPr>
          <p:nvPr>
            <p:ph idx="1"/>
          </p:nvPr>
        </p:nvSpPr>
        <p:spPr/>
        <p:txBody>
          <a:bodyPr>
            <a:normAutofit lnSpcReduction="10000"/>
          </a:bodyPr>
          <a:lstStyle/>
          <a:p>
            <a:r>
              <a:rPr lang="en-US" dirty="0"/>
              <a:t>A virtual environment refers to a simulated, software-based environment that mimics a physical computing environment but exists within a host system. </a:t>
            </a:r>
          </a:p>
          <a:p>
            <a:r>
              <a:rPr lang="en-US" dirty="0"/>
              <a:t>It allows application or processes to run independently of the underlying hardware or operating system, providing flexibility and isolation. </a:t>
            </a:r>
          </a:p>
          <a:p>
            <a:r>
              <a:rPr lang="en-US" dirty="0"/>
              <a:t>They provide an isolated and controlled space where software applications can be run without affecting or being affected by other systems. </a:t>
            </a:r>
          </a:p>
          <a:p>
            <a:r>
              <a:rPr lang="en-US" dirty="0"/>
              <a:t>This abstraction allows for better resource management, flexibility, and easier development and deployment across different platforms. </a:t>
            </a:r>
            <a:endParaRPr lang="en-GB" dirty="0"/>
          </a:p>
        </p:txBody>
      </p:sp>
    </p:spTree>
    <p:extLst>
      <p:ext uri="{BB962C8B-B14F-4D97-AF65-F5344CB8AC3E}">
        <p14:creationId xmlns:p14="http://schemas.microsoft.com/office/powerpoint/2010/main" val="29059085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1A0DD-6307-523C-2A2E-0CFA63247094}"/>
              </a:ext>
            </a:extLst>
          </p:cNvPr>
          <p:cNvSpPr>
            <a:spLocks noGrp="1"/>
          </p:cNvSpPr>
          <p:nvPr>
            <p:ph type="title"/>
          </p:nvPr>
        </p:nvSpPr>
        <p:spPr/>
        <p:txBody>
          <a:bodyPr/>
          <a:lstStyle/>
          <a:p>
            <a:r>
              <a:rPr lang="en-US" dirty="0"/>
              <a:t>Testing Environment</a:t>
            </a:r>
            <a:endParaRPr lang="en-GB" dirty="0"/>
          </a:p>
        </p:txBody>
      </p:sp>
      <p:sp>
        <p:nvSpPr>
          <p:cNvPr id="3" name="Content Placeholder 2">
            <a:extLst>
              <a:ext uri="{FF2B5EF4-FFF2-40B4-BE49-F238E27FC236}">
                <a16:creationId xmlns:a16="http://schemas.microsoft.com/office/drawing/2014/main" id="{124C6759-F7A3-A323-800C-D79CCF0A27B9}"/>
              </a:ext>
            </a:extLst>
          </p:cNvPr>
          <p:cNvSpPr>
            <a:spLocks noGrp="1"/>
          </p:cNvSpPr>
          <p:nvPr>
            <p:ph idx="1"/>
          </p:nvPr>
        </p:nvSpPr>
        <p:spPr/>
        <p:txBody>
          <a:bodyPr/>
          <a:lstStyle/>
          <a:p>
            <a:r>
              <a:rPr lang="en-US" dirty="0"/>
              <a:t>A testing environment is a setup that replicates the conditions of a production environment where software applications or systems are tested before being deployed to actual users. </a:t>
            </a:r>
          </a:p>
          <a:p>
            <a:r>
              <a:rPr lang="en-US" dirty="0"/>
              <a:t>It is designed to verify the functionality, performance, security, and reliability of software by running tests in an isolated and controlled environment that mimics real-world scenarios.</a:t>
            </a:r>
          </a:p>
          <a:p>
            <a:r>
              <a:rPr lang="en-US" dirty="0"/>
              <a:t>The testing environment is separate from the production environment, ensuring that the testing activities do not interfere with the live application or system used by actual users. </a:t>
            </a:r>
            <a:endParaRPr lang="en-GB" dirty="0"/>
          </a:p>
        </p:txBody>
      </p:sp>
    </p:spTree>
    <p:extLst>
      <p:ext uri="{BB962C8B-B14F-4D97-AF65-F5344CB8AC3E}">
        <p14:creationId xmlns:p14="http://schemas.microsoft.com/office/powerpoint/2010/main" val="40980498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F1AF5-FDCF-396B-56C7-52476E66110E}"/>
              </a:ext>
            </a:extLst>
          </p:cNvPr>
          <p:cNvSpPr>
            <a:spLocks noGrp="1"/>
          </p:cNvSpPr>
          <p:nvPr>
            <p:ph type="title"/>
          </p:nvPr>
        </p:nvSpPr>
        <p:spPr/>
        <p:txBody>
          <a:bodyPr/>
          <a:lstStyle/>
          <a:p>
            <a:r>
              <a:rPr lang="en-US" dirty="0"/>
              <a:t>Environments </a:t>
            </a:r>
            <a:endParaRPr lang="en-GB" dirty="0"/>
          </a:p>
        </p:txBody>
      </p:sp>
      <p:sp>
        <p:nvSpPr>
          <p:cNvPr id="3" name="Content Placeholder 2">
            <a:extLst>
              <a:ext uri="{FF2B5EF4-FFF2-40B4-BE49-F238E27FC236}">
                <a16:creationId xmlns:a16="http://schemas.microsoft.com/office/drawing/2014/main" id="{A9E4908E-02EF-0EDB-1FAE-1B71CC013136}"/>
              </a:ext>
            </a:extLst>
          </p:cNvPr>
          <p:cNvSpPr>
            <a:spLocks noGrp="1"/>
          </p:cNvSpPr>
          <p:nvPr>
            <p:ph idx="1"/>
          </p:nvPr>
        </p:nvSpPr>
        <p:spPr/>
        <p:txBody>
          <a:bodyPr/>
          <a:lstStyle/>
          <a:p>
            <a:r>
              <a:rPr lang="en-US" dirty="0"/>
              <a:t>There are a number of reasons why multiple environments are required within computer systems. </a:t>
            </a:r>
          </a:p>
          <a:p>
            <a:r>
              <a:rPr lang="en-US" dirty="0"/>
              <a:t>Including but by no means limited to : </a:t>
            </a:r>
          </a:p>
          <a:p>
            <a:pPr marL="0" indent="0">
              <a:buNone/>
            </a:pPr>
            <a:endParaRPr lang="en-US" dirty="0"/>
          </a:p>
          <a:p>
            <a:pPr lvl="1"/>
            <a:r>
              <a:rPr lang="en-US" dirty="0"/>
              <a:t>Isolated testing in testing environments, which provide a sandbox for validating software before it reaches users. </a:t>
            </a:r>
          </a:p>
          <a:p>
            <a:pPr lvl="1"/>
            <a:r>
              <a:rPr lang="en-US" dirty="0"/>
              <a:t>Different environments act as a buffer to prevent mistakes form propagating to the live system, therefore providing risk mitigation. </a:t>
            </a:r>
          </a:p>
          <a:p>
            <a:pPr lvl="1"/>
            <a:r>
              <a:rPr lang="en-US" dirty="0"/>
              <a:t>Different environments separate tasks, ensuring that issues encountered during development or testing don’t impact that live production environment</a:t>
            </a:r>
          </a:p>
          <a:p>
            <a:endParaRPr lang="en-GB" dirty="0"/>
          </a:p>
        </p:txBody>
      </p:sp>
    </p:spTree>
    <p:extLst>
      <p:ext uri="{BB962C8B-B14F-4D97-AF65-F5344CB8AC3E}">
        <p14:creationId xmlns:p14="http://schemas.microsoft.com/office/powerpoint/2010/main" val="3370950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ide Master" id="{DB57AD56-53FF-46D7-B4CE-2A82CA236852}" vid="{61685CE2-5B07-4672-B363-04E4FBD73284}"/>
    </a:ext>
  </a:extLst>
</a:theme>
</file>

<file path=docProps/app.xml><?xml version="1.0" encoding="utf-8"?>
<Properties xmlns="http://schemas.openxmlformats.org/officeDocument/2006/extended-properties" xmlns:vt="http://schemas.openxmlformats.org/officeDocument/2006/docPropsVTypes">
  <Template>West Lothain College 23-24</Template>
  <TotalTime>132</TotalTime>
  <Words>3009</Words>
  <Application>Microsoft Office PowerPoint</Application>
  <PresentationFormat>Widescreen</PresentationFormat>
  <Paragraphs>209</Paragraphs>
  <Slides>39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Calibri Light</vt:lpstr>
      <vt:lpstr>Office Theme</vt:lpstr>
      <vt:lpstr>Computer Operating Systems</vt:lpstr>
      <vt:lpstr>Computer Operating Systems</vt:lpstr>
      <vt:lpstr>Single User Operating Systems</vt:lpstr>
      <vt:lpstr>Single User Operating Systems</vt:lpstr>
      <vt:lpstr>Single User Operating Systems </vt:lpstr>
      <vt:lpstr>Multi-User Operating Systems</vt:lpstr>
      <vt:lpstr>Multi-User Operating Systems</vt:lpstr>
      <vt:lpstr>Multi-User Operating Systems</vt:lpstr>
      <vt:lpstr>Resource Sharing </vt:lpstr>
      <vt:lpstr>Resource Sharing </vt:lpstr>
      <vt:lpstr>Multi - Tasking</vt:lpstr>
      <vt:lpstr>Multi - Tasking</vt:lpstr>
      <vt:lpstr>Background Processing </vt:lpstr>
      <vt:lpstr>Mobile Operating Systems</vt:lpstr>
      <vt:lpstr>Mobile Operating Systems</vt:lpstr>
      <vt:lpstr>Types of Mobile OS</vt:lpstr>
      <vt:lpstr>Closed Source Mobile Systems</vt:lpstr>
      <vt:lpstr>Closed Source Mobile Systems</vt:lpstr>
      <vt:lpstr>Closed Source Mobile Systems</vt:lpstr>
      <vt:lpstr>Open Source Operating System</vt:lpstr>
      <vt:lpstr>Open Source Operating System</vt:lpstr>
      <vt:lpstr>Android</vt:lpstr>
      <vt:lpstr>Embedded Operating Systems</vt:lpstr>
      <vt:lpstr>Embedded Operating Systems </vt:lpstr>
      <vt:lpstr>Embedded Operating Systems </vt:lpstr>
      <vt:lpstr>Embedded Operating Systems </vt:lpstr>
      <vt:lpstr>Embedded Operating Systems </vt:lpstr>
      <vt:lpstr>Real Time Embedded Systems</vt:lpstr>
      <vt:lpstr>Stand Alone Embedded Systems</vt:lpstr>
      <vt:lpstr>Network Embedded Systems</vt:lpstr>
      <vt:lpstr>Mobile Embedded Systems </vt:lpstr>
      <vt:lpstr>For Next Week ……</vt:lpstr>
      <vt:lpstr>Environments</vt:lpstr>
      <vt:lpstr>Environments</vt:lpstr>
      <vt:lpstr>Hardware Environment </vt:lpstr>
      <vt:lpstr>Development Environment </vt:lpstr>
      <vt:lpstr>Virtual Environment </vt:lpstr>
      <vt:lpstr>Testing Environment</vt:lpstr>
      <vt:lpstr>Environments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Operating Systems</dc:title>
  <dc:subject>COS</dc:subject>
  <dc:creator>Ross Tunnicliffe</dc:creator>
  <cp:lastModifiedBy>Emma Allardice</cp:lastModifiedBy>
  <cp:revision>3</cp:revision>
  <dcterms:created xsi:type="dcterms:W3CDTF">2023-09-03T07:22:52Z</dcterms:created>
  <dcterms:modified xsi:type="dcterms:W3CDTF">2024-09-23T15:06:33Z</dcterms:modified>
</cp:coreProperties>
</file>