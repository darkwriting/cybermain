
<file path=[Content_Types].xml><?xml version="1.0" encoding="utf-8"?>
<Types xmlns="http://schemas.openxmlformats.org/package/2006/content-types">
  <Default Extension="bin" ContentType="application/vnd.openxmlformats-officedocument.oleObject"/>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 id="272" r:id="rId16"/>
    <p:sldId id="270" r:id="rId17"/>
    <p:sldId id="276" r:id="rId18"/>
    <p:sldId id="277"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7BC12D-97BD-4A3F-9F00-3DAF720FA557}" v="13" dt="2023-08-28T12:21:55.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81" d="100"/>
          <a:sy n="81" d="100"/>
        </p:scale>
        <p:origin x="132"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s Tunnicliffe" userId="d6837b3d-8b57-406d-a8e4-876ef820a90e" providerId="ADAL" clId="{A27BC12D-97BD-4A3F-9F00-3DAF720FA557}"/>
    <pc:docChg chg="custSel modSld">
      <pc:chgData name="Ross Tunnicliffe" userId="d6837b3d-8b57-406d-a8e4-876ef820a90e" providerId="ADAL" clId="{A27BC12D-97BD-4A3F-9F00-3DAF720FA557}" dt="2023-08-28T12:22:03.654" v="24" actId="14100"/>
      <pc:docMkLst>
        <pc:docMk/>
      </pc:docMkLst>
      <pc:sldChg chg="modSp mod">
        <pc:chgData name="Ross Tunnicliffe" userId="d6837b3d-8b57-406d-a8e4-876ef820a90e" providerId="ADAL" clId="{A27BC12D-97BD-4A3F-9F00-3DAF720FA557}" dt="2023-08-28T12:17:33.384" v="2" actId="20577"/>
        <pc:sldMkLst>
          <pc:docMk/>
          <pc:sldMk cId="3374085197" sldId="256"/>
        </pc:sldMkLst>
        <pc:spChg chg="mod">
          <ac:chgData name="Ross Tunnicliffe" userId="d6837b3d-8b57-406d-a8e4-876ef820a90e" providerId="ADAL" clId="{A27BC12D-97BD-4A3F-9F00-3DAF720FA557}" dt="2023-08-28T12:17:33.384" v="2" actId="20577"/>
          <ac:spMkLst>
            <pc:docMk/>
            <pc:sldMk cId="3374085197" sldId="256"/>
            <ac:spMk id="3" creationId="{5A71C4EF-DC33-A9DD-C38C-443E8C5AA8C3}"/>
          </ac:spMkLst>
        </pc:spChg>
      </pc:sldChg>
      <pc:sldChg chg="modSp">
        <pc:chgData name="Ross Tunnicliffe" userId="d6837b3d-8b57-406d-a8e4-876ef820a90e" providerId="ADAL" clId="{A27BC12D-97BD-4A3F-9F00-3DAF720FA557}" dt="2023-08-28T12:17:48.372" v="10" actId="20577"/>
        <pc:sldMkLst>
          <pc:docMk/>
          <pc:sldMk cId="32596758" sldId="258"/>
        </pc:sldMkLst>
        <pc:spChg chg="mod">
          <ac:chgData name="Ross Tunnicliffe" userId="d6837b3d-8b57-406d-a8e4-876ef820a90e" providerId="ADAL" clId="{A27BC12D-97BD-4A3F-9F00-3DAF720FA557}" dt="2023-08-28T12:17:48.372" v="10" actId="20577"/>
          <ac:spMkLst>
            <pc:docMk/>
            <pc:sldMk cId="32596758" sldId="258"/>
            <ac:spMk id="3" creationId="{00000000-0000-0000-0000-000000000000}"/>
          </ac:spMkLst>
        </pc:spChg>
      </pc:sldChg>
      <pc:sldChg chg="modSp">
        <pc:chgData name="Ross Tunnicliffe" userId="d6837b3d-8b57-406d-a8e4-876ef820a90e" providerId="ADAL" clId="{A27BC12D-97BD-4A3F-9F00-3DAF720FA557}" dt="2023-08-28T12:19:35.590" v="11" actId="6549"/>
        <pc:sldMkLst>
          <pc:docMk/>
          <pc:sldMk cId="3667451203" sldId="264"/>
        </pc:sldMkLst>
        <pc:spChg chg="mod">
          <ac:chgData name="Ross Tunnicliffe" userId="d6837b3d-8b57-406d-a8e4-876ef820a90e" providerId="ADAL" clId="{A27BC12D-97BD-4A3F-9F00-3DAF720FA557}" dt="2023-08-28T12:19:35.590" v="11" actId="6549"/>
          <ac:spMkLst>
            <pc:docMk/>
            <pc:sldMk cId="3667451203" sldId="264"/>
            <ac:spMk id="3" creationId="{00000000-0000-0000-0000-000000000000}"/>
          </ac:spMkLst>
        </pc:spChg>
      </pc:sldChg>
      <pc:sldChg chg="addSp delSp modSp mod modAnim">
        <pc:chgData name="Ross Tunnicliffe" userId="d6837b3d-8b57-406d-a8e4-876ef820a90e" providerId="ADAL" clId="{A27BC12D-97BD-4A3F-9F00-3DAF720FA557}" dt="2023-08-28T12:22:03.654" v="24" actId="14100"/>
        <pc:sldMkLst>
          <pc:docMk/>
          <pc:sldMk cId="3033188231" sldId="266"/>
        </pc:sldMkLst>
        <pc:spChg chg="del">
          <ac:chgData name="Ross Tunnicliffe" userId="d6837b3d-8b57-406d-a8e4-876ef820a90e" providerId="ADAL" clId="{A27BC12D-97BD-4A3F-9F00-3DAF720FA557}" dt="2023-08-28T12:21:04.769" v="15" actId="478"/>
          <ac:spMkLst>
            <pc:docMk/>
            <pc:sldMk cId="3033188231" sldId="266"/>
            <ac:spMk id="5" creationId="{00000000-0000-0000-0000-000000000000}"/>
          </ac:spMkLst>
        </pc:spChg>
        <pc:spChg chg="add mod">
          <ac:chgData name="Ross Tunnicliffe" userId="d6837b3d-8b57-406d-a8e4-876ef820a90e" providerId="ADAL" clId="{A27BC12D-97BD-4A3F-9F00-3DAF720FA557}" dt="2023-08-28T12:22:03.654" v="24" actId="14100"/>
          <ac:spMkLst>
            <pc:docMk/>
            <pc:sldMk cId="3033188231" sldId="266"/>
            <ac:spMk id="8" creationId="{F85F67C0-8F9D-D0F3-9AA3-43B32E24B866}"/>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26F4-7B67-B55C-987C-9294F9ED1698}"/>
              </a:ext>
            </a:extLst>
          </p:cNvPr>
          <p:cNvSpPr>
            <a:spLocks noGrp="1"/>
          </p:cNvSpPr>
          <p:nvPr>
            <p:ph type="ctrTitle"/>
          </p:nvPr>
        </p:nvSpPr>
        <p:spPr>
          <a:xfrm>
            <a:off x="1524000" y="1122363"/>
            <a:ext cx="9144000" cy="2387600"/>
          </a:xfrm>
        </p:spPr>
        <p:txBody>
          <a:bodyPr anchor="b"/>
          <a:lstStyle>
            <a:lvl1pPr algn="ctr">
              <a:defRPr sz="6000">
                <a:solidFill>
                  <a:srgbClr val="002060"/>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8DBBE4A0-A0A5-8A47-6F17-6ECA8E12B312}"/>
              </a:ext>
            </a:extLst>
          </p:cNvPr>
          <p:cNvSpPr>
            <a:spLocks noGrp="1"/>
          </p:cNvSpPr>
          <p:nvPr>
            <p:ph type="subTitle" idx="1"/>
          </p:nvPr>
        </p:nvSpPr>
        <p:spPr>
          <a:xfrm>
            <a:off x="1524000" y="3602038"/>
            <a:ext cx="9144000" cy="1655762"/>
          </a:xfrm>
        </p:spPr>
        <p:txBody>
          <a:bodyPr/>
          <a:lstStyle>
            <a:lvl1pPr marL="0" indent="0" algn="ctr">
              <a:buNone/>
              <a:defRPr sz="24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3731785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6043-D524-A4E9-0CD0-954EE69ADD19}"/>
              </a:ext>
            </a:extLst>
          </p:cNvPr>
          <p:cNvSpPr>
            <a:spLocks noGrp="1"/>
          </p:cNvSpPr>
          <p:nvPr>
            <p:ph type="title"/>
          </p:nvPr>
        </p:nvSpPr>
        <p:spPr/>
        <p:txBody>
          <a:bodyPr/>
          <a:lstStyle>
            <a:lvl1pPr>
              <a:defRPr>
                <a:solidFill>
                  <a:srgbClr val="002060"/>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DD6EF5E-E871-C0CD-B6D0-FCBB823EF60F}"/>
              </a:ext>
            </a:extLst>
          </p:cNvPr>
          <p:cNvSpPr>
            <a:spLocks noGrp="1"/>
          </p:cNvSpPr>
          <p:nvPr>
            <p:ph idx="1"/>
          </p:nvPr>
        </p:nvSpPr>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3085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4677F-2437-852F-D17B-8BE4BD3603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2394DC0-E8D4-6061-C762-F50E77E19E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22583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62D56-5E38-74D2-8500-6E19D8801B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EC02D2-FE11-E3F5-5DEE-118C6255D0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E628D9-83C7-1318-0717-F404BD8912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04989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7D9C8-51A5-936D-C655-8F51CC9E435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A2A7802-8B28-529D-1385-6D12ED48B2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6F3702-6365-9927-42FB-249644E276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9E48870-5CBB-E804-67DC-DC22AC7B6A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E6EA82-7DB7-008C-903E-9A4E36ADED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45441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7CF6C-B7AE-53D9-D1EC-A3EC7E0606F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31773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291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7B5F4-BBA2-174F-B74C-8A1A71139B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B77956-62D7-E597-D061-5EE8C924EA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B1BE8C1-B55E-A9B0-9543-B4DED920E3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86421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C28F-0CFB-B1E5-330D-BE731E50C5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F134CC2-C8BB-1C9C-CC45-EE7F910F36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0B1AE157-919E-CB31-836C-8BFBD642A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066303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CC6519-13D0-A49E-6731-44507CFCDD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07165863-1D82-AAE6-C59D-9B9988C70F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333050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rgbClr val="00206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4.png"/><Relationship Id="rId7"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fif"/><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2E6B9-F723-FFF9-8EDE-4DA965F759B0}"/>
              </a:ext>
            </a:extLst>
          </p:cNvPr>
          <p:cNvSpPr>
            <a:spLocks noGrp="1"/>
          </p:cNvSpPr>
          <p:nvPr>
            <p:ph type="ctrTitle"/>
          </p:nvPr>
        </p:nvSpPr>
        <p:spPr/>
        <p:txBody>
          <a:bodyPr/>
          <a:lstStyle/>
          <a:p>
            <a:r>
              <a:rPr lang="en-GB" dirty="0"/>
              <a:t>Computer Operating Systems</a:t>
            </a:r>
          </a:p>
        </p:txBody>
      </p:sp>
      <p:sp>
        <p:nvSpPr>
          <p:cNvPr id="3" name="Subtitle 2">
            <a:extLst>
              <a:ext uri="{FF2B5EF4-FFF2-40B4-BE49-F238E27FC236}">
                <a16:creationId xmlns:a16="http://schemas.microsoft.com/office/drawing/2014/main" id="{5A71C4EF-DC33-A9DD-C38C-443E8C5AA8C3}"/>
              </a:ext>
            </a:extLst>
          </p:cNvPr>
          <p:cNvSpPr>
            <a:spLocks noGrp="1"/>
          </p:cNvSpPr>
          <p:nvPr>
            <p:ph type="subTitle" idx="1"/>
          </p:nvPr>
        </p:nvSpPr>
        <p:spPr/>
        <p:txBody>
          <a:bodyPr/>
          <a:lstStyle/>
          <a:p>
            <a:r>
              <a:rPr lang="en-GB" dirty="0"/>
              <a:t>Week 01 – Unit Introduction</a:t>
            </a:r>
          </a:p>
        </p:txBody>
      </p:sp>
    </p:spTree>
    <p:extLst>
      <p:ext uri="{BB962C8B-B14F-4D97-AF65-F5344CB8AC3E}">
        <p14:creationId xmlns:p14="http://schemas.microsoft.com/office/powerpoint/2010/main" val="3374085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latin typeface="Arial" panose="020B0604020202020204" pitchFamily="34" charset="0"/>
                <a:cs typeface="Arial" panose="020B0604020202020204" pitchFamily="34" charset="0"/>
              </a:rPr>
              <a:t>Unit Outcomes</a:t>
            </a:r>
          </a:p>
        </p:txBody>
      </p:sp>
      <p:sp>
        <p:nvSpPr>
          <p:cNvPr id="3" name="Content Placeholder 2"/>
          <p:cNvSpPr>
            <a:spLocks noGrp="1"/>
          </p:cNvSpPr>
          <p:nvPr>
            <p:ph idx="1"/>
          </p:nvPr>
        </p:nvSpPr>
        <p:spPr/>
        <p:txBody>
          <a:bodyPr/>
          <a:lstStyle/>
          <a:p>
            <a:r>
              <a:rPr lang="en-GB" dirty="0">
                <a:solidFill>
                  <a:schemeClr val="tx1"/>
                </a:solidFill>
                <a:latin typeface="Arial" panose="020B0604020202020204" pitchFamily="34" charset="0"/>
                <a:cs typeface="Arial" panose="020B0604020202020204" pitchFamily="34" charset="0"/>
              </a:rPr>
              <a:t>This is a 2-credit unit that will be delivered over 35 weeks (3 blocks)</a:t>
            </a:r>
          </a:p>
          <a:p>
            <a:endParaRPr lang="en-GB" dirty="0">
              <a:solidFill>
                <a:schemeClr val="tx1"/>
              </a:solidFill>
              <a:latin typeface="Arial" panose="020B0604020202020204" pitchFamily="34" charset="0"/>
              <a:cs typeface="Arial" panose="020B0604020202020204" pitchFamily="34" charset="0"/>
            </a:endParaRPr>
          </a:p>
          <a:p>
            <a:r>
              <a:rPr lang="en-GB" dirty="0">
                <a:solidFill>
                  <a:schemeClr val="tx1"/>
                </a:solidFill>
                <a:latin typeface="Arial" panose="020B0604020202020204" pitchFamily="34" charset="0"/>
                <a:cs typeface="Arial" panose="020B0604020202020204" pitchFamily="34" charset="0"/>
              </a:rPr>
              <a:t>Outcome 1:</a:t>
            </a:r>
          </a:p>
          <a:p>
            <a:pPr lvl="1"/>
            <a:r>
              <a:rPr lang="en-GB" dirty="0">
                <a:solidFill>
                  <a:schemeClr val="tx1"/>
                </a:solidFill>
                <a:latin typeface="Arial" panose="020B0604020202020204" pitchFamily="34" charset="0"/>
                <a:cs typeface="Arial" panose="020B0604020202020204" pitchFamily="34" charset="0"/>
              </a:rPr>
              <a:t>Analyse suitability of operating systems for an environment </a:t>
            </a:r>
          </a:p>
          <a:p>
            <a:pPr lvl="1"/>
            <a:endParaRPr lang="en-GB" dirty="0">
              <a:solidFill>
                <a:schemeClr val="tx1"/>
              </a:solidFill>
              <a:latin typeface="Arial" panose="020B0604020202020204" pitchFamily="34" charset="0"/>
              <a:cs typeface="Arial" panose="020B0604020202020204" pitchFamily="34" charset="0"/>
            </a:endParaRPr>
          </a:p>
          <a:p>
            <a:r>
              <a:rPr lang="en-GB" dirty="0">
                <a:solidFill>
                  <a:schemeClr val="tx1"/>
                </a:solidFill>
                <a:latin typeface="Arial" panose="020B0604020202020204" pitchFamily="34" charset="0"/>
                <a:cs typeface="Arial" panose="020B0604020202020204" pitchFamily="34" charset="0"/>
              </a:rPr>
              <a:t>Outcome 2:</a:t>
            </a:r>
          </a:p>
          <a:p>
            <a:pPr lvl="1"/>
            <a:r>
              <a:rPr lang="en-GB" dirty="0">
                <a:solidFill>
                  <a:schemeClr val="tx1"/>
                </a:solidFill>
                <a:latin typeface="Arial" panose="020B0604020202020204" pitchFamily="34" charset="0"/>
                <a:cs typeface="Arial" panose="020B0604020202020204" pitchFamily="34" charset="0"/>
              </a:rPr>
              <a:t>Configure an Operating System for use within an environment </a:t>
            </a:r>
          </a:p>
          <a:p>
            <a:pPr marL="274320" lvl="1" indent="0">
              <a:buNone/>
            </a:pPr>
            <a:endParaRPr lang="en-GB"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96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Assessments </a:t>
            </a:r>
          </a:p>
        </p:txBody>
      </p:sp>
      <p:sp>
        <p:nvSpPr>
          <p:cNvPr id="3" name="Content Placeholder 2"/>
          <p:cNvSpPr>
            <a:spLocks noGrp="1"/>
          </p:cNvSpPr>
          <p:nvPr>
            <p:ph idx="1"/>
          </p:nvPr>
        </p:nvSpPr>
        <p:spPr/>
        <p:txBody>
          <a:bodyPr/>
          <a:lstStyle/>
          <a:p>
            <a:r>
              <a:rPr lang="en-GB" dirty="0">
                <a:solidFill>
                  <a:schemeClr val="tx1"/>
                </a:solidFill>
              </a:rPr>
              <a:t>There are 3 assessments to be completed to achieve this unit. </a:t>
            </a:r>
          </a:p>
          <a:p>
            <a:endParaRPr lang="en-GB" dirty="0">
              <a:solidFill>
                <a:schemeClr val="tx1"/>
              </a:solidFill>
            </a:endParaRPr>
          </a:p>
          <a:p>
            <a:pPr lvl="1"/>
            <a:r>
              <a:rPr lang="en-GB" dirty="0">
                <a:solidFill>
                  <a:schemeClr val="tx1"/>
                </a:solidFill>
              </a:rPr>
              <a:t>1 extended response assessment </a:t>
            </a:r>
          </a:p>
          <a:p>
            <a:pPr lvl="1"/>
            <a:endParaRPr lang="en-GB" dirty="0">
              <a:solidFill>
                <a:schemeClr val="tx1"/>
              </a:solidFill>
            </a:endParaRPr>
          </a:p>
          <a:p>
            <a:pPr lvl="1"/>
            <a:r>
              <a:rPr lang="en-GB" dirty="0">
                <a:solidFill>
                  <a:schemeClr val="tx1"/>
                </a:solidFill>
              </a:rPr>
              <a:t>2 practical tasks recorded via screen recording software</a:t>
            </a:r>
          </a:p>
          <a:p>
            <a:pPr lvl="1"/>
            <a:endParaRPr lang="en-GB" dirty="0">
              <a:solidFill>
                <a:schemeClr val="tx1"/>
              </a:solidFill>
            </a:endParaRPr>
          </a:p>
        </p:txBody>
      </p:sp>
    </p:spTree>
    <p:extLst>
      <p:ext uri="{BB962C8B-B14F-4D97-AF65-F5344CB8AC3E}">
        <p14:creationId xmlns:p14="http://schemas.microsoft.com/office/powerpoint/2010/main" val="327255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 Outcome 3 **</a:t>
            </a:r>
          </a:p>
        </p:txBody>
      </p:sp>
      <p:sp>
        <p:nvSpPr>
          <p:cNvPr id="3" name="Content Placeholder 2"/>
          <p:cNvSpPr>
            <a:spLocks noGrp="1"/>
          </p:cNvSpPr>
          <p:nvPr>
            <p:ph idx="1"/>
          </p:nvPr>
        </p:nvSpPr>
        <p:spPr/>
        <p:txBody>
          <a:bodyPr>
            <a:normAutofit lnSpcReduction="10000"/>
          </a:bodyPr>
          <a:lstStyle/>
          <a:p>
            <a:r>
              <a:rPr lang="en-GB" dirty="0">
                <a:solidFill>
                  <a:schemeClr val="tx1"/>
                </a:solidFill>
              </a:rPr>
              <a:t>Outcome 3 : Automate common tasks of computer operating systems using scripting, covers a number of topics that are repeated further into your course. </a:t>
            </a:r>
          </a:p>
          <a:p>
            <a:endParaRPr lang="en-GB" dirty="0">
              <a:solidFill>
                <a:schemeClr val="tx1"/>
              </a:solidFill>
            </a:endParaRPr>
          </a:p>
          <a:p>
            <a:r>
              <a:rPr lang="en-GB" dirty="0">
                <a:solidFill>
                  <a:schemeClr val="tx1"/>
                </a:solidFill>
              </a:rPr>
              <a:t>Due to this, Outcome 3 of Computer Operating systems, has been mapped with the unit Scripting for Security. </a:t>
            </a:r>
          </a:p>
          <a:p>
            <a:endParaRPr lang="en-GB" dirty="0">
              <a:solidFill>
                <a:schemeClr val="tx1"/>
              </a:solidFill>
            </a:endParaRPr>
          </a:p>
          <a:p>
            <a:r>
              <a:rPr lang="en-GB" dirty="0">
                <a:solidFill>
                  <a:schemeClr val="tx1"/>
                </a:solidFill>
              </a:rPr>
              <a:t>There will be no assessment for this outcome in block 1, this will take place in block 3 with the one assessment covering outcomes within both units </a:t>
            </a:r>
          </a:p>
        </p:txBody>
      </p:sp>
    </p:spTree>
    <p:extLst>
      <p:ext uri="{BB962C8B-B14F-4D97-AF65-F5344CB8AC3E}">
        <p14:creationId xmlns:p14="http://schemas.microsoft.com/office/powerpoint/2010/main" val="121710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What Is An Operating System?</a:t>
            </a:r>
          </a:p>
        </p:txBody>
      </p:sp>
      <p:sp>
        <p:nvSpPr>
          <p:cNvPr id="3" name="Content Placeholder 2"/>
          <p:cNvSpPr>
            <a:spLocks noGrp="1"/>
          </p:cNvSpPr>
          <p:nvPr>
            <p:ph idx="1"/>
          </p:nvPr>
        </p:nvSpPr>
        <p:spPr/>
        <p:txBody>
          <a:bodyPr>
            <a:noAutofit/>
          </a:bodyPr>
          <a:lstStyle/>
          <a:p>
            <a:r>
              <a:rPr lang="en-GB" sz="2400" dirty="0">
                <a:solidFill>
                  <a:schemeClr val="tx1"/>
                </a:solidFill>
              </a:rPr>
              <a:t>An Operating System carries out several tasks, however, it’s main function is to provide an interface between the user and the systems hardware. </a:t>
            </a:r>
          </a:p>
          <a:p>
            <a:endParaRPr lang="en-GB" sz="2400" dirty="0">
              <a:solidFill>
                <a:schemeClr val="tx1"/>
              </a:solidFill>
            </a:endParaRPr>
          </a:p>
          <a:p>
            <a:r>
              <a:rPr lang="en-GB" sz="2400" dirty="0">
                <a:solidFill>
                  <a:schemeClr val="tx1"/>
                </a:solidFill>
              </a:rPr>
              <a:t>This allows the user to interact with the system. </a:t>
            </a:r>
          </a:p>
          <a:p>
            <a:endParaRPr lang="en-GB" sz="2400" dirty="0">
              <a:solidFill>
                <a:schemeClr val="tx1"/>
              </a:solidFill>
            </a:endParaRPr>
          </a:p>
          <a:p>
            <a:r>
              <a:rPr lang="en-GB" sz="2400" dirty="0">
                <a:solidFill>
                  <a:schemeClr val="tx1"/>
                </a:solidFill>
              </a:rPr>
              <a:t>The applications that we use to carry out everyday tasks such as word processing and email, are unable to directly communicate with system hardware on their own. </a:t>
            </a:r>
          </a:p>
        </p:txBody>
      </p:sp>
    </p:spTree>
    <p:extLst>
      <p:ext uri="{BB962C8B-B14F-4D97-AF65-F5344CB8AC3E}">
        <p14:creationId xmlns:p14="http://schemas.microsoft.com/office/powerpoint/2010/main" val="280675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What Is An Operating System? </a:t>
            </a:r>
          </a:p>
        </p:txBody>
      </p:sp>
      <p:sp>
        <p:nvSpPr>
          <p:cNvPr id="3" name="Content Placeholder 2"/>
          <p:cNvSpPr>
            <a:spLocks noGrp="1"/>
          </p:cNvSpPr>
          <p:nvPr>
            <p:ph idx="1"/>
          </p:nvPr>
        </p:nvSpPr>
        <p:spPr>
          <a:xfrm>
            <a:off x="1143000" y="2602832"/>
            <a:ext cx="9872871" cy="2450432"/>
          </a:xfrm>
        </p:spPr>
        <p:txBody>
          <a:bodyPr>
            <a:normAutofit/>
          </a:bodyPr>
          <a:lstStyle/>
          <a:p>
            <a:r>
              <a:rPr lang="en-GB" sz="2400" dirty="0">
                <a:solidFill>
                  <a:schemeClr val="tx1"/>
                </a:solidFill>
              </a:rPr>
              <a:t>The Operating Systems allows the execution of these applications as well as additional tasks such as memory management and input/output tasks. </a:t>
            </a:r>
          </a:p>
          <a:p>
            <a:endParaRPr lang="en-GB" sz="2400" dirty="0">
              <a:solidFill>
                <a:schemeClr val="tx1"/>
              </a:solidFill>
            </a:endParaRPr>
          </a:p>
          <a:p>
            <a:r>
              <a:rPr lang="en-GB" sz="2400" dirty="0">
                <a:solidFill>
                  <a:schemeClr val="tx1"/>
                </a:solidFill>
              </a:rPr>
              <a:t>Irrespective of the system or device, an operating system or software, is required in order for it to function and carry out its specified tasks. </a:t>
            </a:r>
          </a:p>
        </p:txBody>
      </p:sp>
    </p:spTree>
    <p:extLst>
      <p:ext uri="{BB962C8B-B14F-4D97-AF65-F5344CB8AC3E}">
        <p14:creationId xmlns:p14="http://schemas.microsoft.com/office/powerpoint/2010/main" val="2539146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Operating System Features</a:t>
            </a:r>
          </a:p>
        </p:txBody>
      </p:sp>
      <p:sp>
        <p:nvSpPr>
          <p:cNvPr id="3" name="Content Placeholder 2"/>
          <p:cNvSpPr>
            <a:spLocks noGrp="1"/>
          </p:cNvSpPr>
          <p:nvPr>
            <p:ph idx="1"/>
          </p:nvPr>
        </p:nvSpPr>
        <p:spPr>
          <a:xfrm>
            <a:off x="1143000" y="1965960"/>
            <a:ext cx="9872871" cy="4130040"/>
          </a:xfrm>
        </p:spPr>
        <p:txBody>
          <a:bodyPr>
            <a:normAutofit fontScale="55000" lnSpcReduction="20000"/>
          </a:bodyPr>
          <a:lstStyle/>
          <a:p>
            <a:r>
              <a:rPr lang="en-GB" sz="4400" dirty="0">
                <a:solidFill>
                  <a:schemeClr val="tx1"/>
                </a:solidFill>
              </a:rPr>
              <a:t>Although providing an interface between user and hardware is the main function of any Operating System, there are also a number of additional functions that are also carried out by an Operating System:</a:t>
            </a:r>
          </a:p>
          <a:p>
            <a:endParaRPr lang="en-GB" sz="2400" dirty="0">
              <a:solidFill>
                <a:schemeClr val="tx1"/>
              </a:solidFill>
            </a:endParaRPr>
          </a:p>
          <a:p>
            <a:pPr>
              <a:lnSpc>
                <a:spcPct val="110000"/>
              </a:lnSpc>
              <a:spcBef>
                <a:spcPts val="600"/>
              </a:spcBef>
            </a:pPr>
            <a:r>
              <a:rPr lang="en-GB" sz="3600" dirty="0">
                <a:solidFill>
                  <a:schemeClr val="tx1"/>
                </a:solidFill>
              </a:rPr>
              <a:t>Disk Access</a:t>
            </a:r>
          </a:p>
          <a:p>
            <a:pPr>
              <a:lnSpc>
                <a:spcPct val="110000"/>
              </a:lnSpc>
              <a:spcBef>
                <a:spcPts val="600"/>
              </a:spcBef>
            </a:pPr>
            <a:r>
              <a:rPr lang="en-GB" sz="3600" dirty="0">
                <a:solidFill>
                  <a:schemeClr val="tx1"/>
                </a:solidFill>
              </a:rPr>
              <a:t>Network Security </a:t>
            </a:r>
          </a:p>
          <a:p>
            <a:pPr>
              <a:lnSpc>
                <a:spcPct val="110000"/>
              </a:lnSpc>
              <a:spcBef>
                <a:spcPts val="600"/>
              </a:spcBef>
            </a:pPr>
            <a:r>
              <a:rPr lang="en-GB" sz="3600" dirty="0">
                <a:solidFill>
                  <a:schemeClr val="tx1"/>
                </a:solidFill>
              </a:rPr>
              <a:t>Application Execution </a:t>
            </a:r>
          </a:p>
          <a:p>
            <a:pPr>
              <a:lnSpc>
                <a:spcPct val="110000"/>
              </a:lnSpc>
              <a:spcBef>
                <a:spcPts val="600"/>
              </a:spcBef>
            </a:pPr>
            <a:r>
              <a:rPr lang="en-GB" sz="3600" dirty="0">
                <a:solidFill>
                  <a:schemeClr val="tx1"/>
                </a:solidFill>
              </a:rPr>
              <a:t>Access and Manipulation of the File System </a:t>
            </a:r>
          </a:p>
          <a:p>
            <a:pPr>
              <a:lnSpc>
                <a:spcPct val="110000"/>
              </a:lnSpc>
              <a:spcBef>
                <a:spcPts val="600"/>
              </a:spcBef>
            </a:pPr>
            <a:r>
              <a:rPr lang="en-GB" sz="3600" dirty="0">
                <a:solidFill>
                  <a:schemeClr val="tx1"/>
                </a:solidFill>
              </a:rPr>
              <a:t>Resource Allocation </a:t>
            </a:r>
          </a:p>
          <a:p>
            <a:pPr>
              <a:lnSpc>
                <a:spcPct val="110000"/>
              </a:lnSpc>
              <a:spcBef>
                <a:spcPts val="600"/>
              </a:spcBef>
            </a:pPr>
            <a:r>
              <a:rPr lang="en-GB" sz="3600" dirty="0">
                <a:solidFill>
                  <a:schemeClr val="tx1"/>
                </a:solidFill>
              </a:rPr>
              <a:t>Error Detection </a:t>
            </a:r>
          </a:p>
          <a:p>
            <a:pPr>
              <a:lnSpc>
                <a:spcPct val="110000"/>
              </a:lnSpc>
              <a:spcBef>
                <a:spcPts val="600"/>
              </a:spcBef>
            </a:pPr>
            <a:r>
              <a:rPr lang="en-GB" sz="3600" dirty="0">
                <a:solidFill>
                  <a:schemeClr val="tx1"/>
                </a:solidFill>
              </a:rPr>
              <a:t>Memory Management  </a:t>
            </a:r>
          </a:p>
        </p:txBody>
      </p:sp>
    </p:spTree>
    <p:extLst>
      <p:ext uri="{BB962C8B-B14F-4D97-AF65-F5344CB8AC3E}">
        <p14:creationId xmlns:p14="http://schemas.microsoft.com/office/powerpoint/2010/main" val="89668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Operating Systems</a:t>
            </a:r>
          </a:p>
        </p:txBody>
      </p:sp>
      <p:sp>
        <p:nvSpPr>
          <p:cNvPr id="3" name="Content Placeholder 2"/>
          <p:cNvSpPr>
            <a:spLocks noGrp="1"/>
          </p:cNvSpPr>
          <p:nvPr>
            <p:ph idx="1"/>
          </p:nvPr>
        </p:nvSpPr>
        <p:spPr/>
        <p:txBody>
          <a:bodyPr/>
          <a:lstStyle/>
          <a:p>
            <a:r>
              <a:rPr lang="en-GB" dirty="0">
                <a:solidFill>
                  <a:schemeClr val="tx1"/>
                </a:solidFill>
              </a:rPr>
              <a:t>There are a number of different Operating Systems available today. Some carry out all of the previous features and more; some carry out a limited number of them. </a:t>
            </a:r>
          </a:p>
          <a:p>
            <a:r>
              <a:rPr lang="en-GB" dirty="0">
                <a:solidFill>
                  <a:schemeClr val="tx1"/>
                </a:solidFill>
              </a:rPr>
              <a:t>The reason behind the variety of Operating Systems available is due to the hardware. </a:t>
            </a:r>
          </a:p>
          <a:p>
            <a:r>
              <a:rPr lang="en-GB" dirty="0">
                <a:solidFill>
                  <a:schemeClr val="tx1"/>
                </a:solidFill>
              </a:rPr>
              <a:t>In the beginning, because the Operating System required to give instructions to the systems hardware in order for it to function, each hardware manufacturer had to have an OS to out these tasks. </a:t>
            </a:r>
          </a:p>
        </p:txBody>
      </p:sp>
    </p:spTree>
    <p:extLst>
      <p:ext uri="{BB962C8B-B14F-4D97-AF65-F5344CB8AC3E}">
        <p14:creationId xmlns:p14="http://schemas.microsoft.com/office/powerpoint/2010/main" val="366745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Operating Systems</a:t>
            </a:r>
          </a:p>
        </p:txBody>
      </p:sp>
      <p:sp>
        <p:nvSpPr>
          <p:cNvPr id="3" name="Content Placeholder 2"/>
          <p:cNvSpPr>
            <a:spLocks noGrp="1"/>
          </p:cNvSpPr>
          <p:nvPr>
            <p:ph idx="1"/>
          </p:nvPr>
        </p:nvSpPr>
        <p:spPr>
          <a:xfrm>
            <a:off x="1145649" y="2445327"/>
            <a:ext cx="9872871" cy="3142673"/>
          </a:xfrm>
        </p:spPr>
        <p:txBody>
          <a:bodyPr>
            <a:normAutofit/>
          </a:bodyPr>
          <a:lstStyle/>
          <a:p>
            <a:r>
              <a:rPr lang="en-GB" sz="2400" dirty="0">
                <a:solidFill>
                  <a:schemeClr val="tx1"/>
                </a:solidFill>
              </a:rPr>
              <a:t>As computers have developed over time, the creators of operating systems have made it possible for certain drivers to be installed on the system in order to allow the operating system to be compatible with almost all hardware. </a:t>
            </a:r>
          </a:p>
          <a:p>
            <a:endParaRPr lang="en-GB" sz="2400" dirty="0">
              <a:solidFill>
                <a:schemeClr val="tx1"/>
              </a:solidFill>
            </a:endParaRPr>
          </a:p>
          <a:p>
            <a:r>
              <a:rPr lang="en-GB" sz="2400" dirty="0">
                <a:solidFill>
                  <a:schemeClr val="tx1"/>
                </a:solidFill>
              </a:rPr>
              <a:t>Which one you use will largely depend on the system you are using as well as the environment and tasks that you wish to use it for. </a:t>
            </a:r>
          </a:p>
        </p:txBody>
      </p:sp>
    </p:spTree>
    <p:extLst>
      <p:ext uri="{BB962C8B-B14F-4D97-AF65-F5344CB8AC3E}">
        <p14:creationId xmlns:p14="http://schemas.microsoft.com/office/powerpoint/2010/main" val="417488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Common Operating Systems …..</a:t>
            </a:r>
          </a:p>
        </p:txBody>
      </p:sp>
      <p:pic>
        <p:nvPicPr>
          <p:cNvPr id="4" name="Content Placeholder 3"/>
          <p:cNvPicPr>
            <a:picLocks noGrp="1" noChangeAspect="1"/>
          </p:cNvPicPr>
          <p:nvPr>
            <p:ph idx="1"/>
          </p:nvPr>
        </p:nvPicPr>
        <p:blipFill>
          <a:blip r:embed="rId2"/>
          <a:stretch>
            <a:fillRect/>
          </a:stretch>
        </p:blipFill>
        <p:spPr>
          <a:xfrm>
            <a:off x="4667038" y="1802375"/>
            <a:ext cx="1958288" cy="1618031"/>
          </a:xfrm>
          <a:prstGeom prst="rect">
            <a:avLst/>
          </a:prstGeom>
        </p:spPr>
      </p:pic>
      <p:pic>
        <p:nvPicPr>
          <p:cNvPr id="6" name="Picture 5"/>
          <p:cNvPicPr>
            <a:picLocks noChangeAspect="1"/>
          </p:cNvPicPr>
          <p:nvPr/>
        </p:nvPicPr>
        <p:blipFill>
          <a:blip r:embed="rId3"/>
          <a:stretch>
            <a:fillRect/>
          </a:stretch>
        </p:blipFill>
        <p:spPr>
          <a:xfrm>
            <a:off x="6532963" y="3915119"/>
            <a:ext cx="3695401" cy="1870512"/>
          </a:xfrm>
          <a:prstGeom prst="rect">
            <a:avLst/>
          </a:prstGeom>
        </p:spPr>
      </p:pic>
      <p:pic>
        <p:nvPicPr>
          <p:cNvPr id="7" name="Picture 6"/>
          <p:cNvPicPr>
            <a:picLocks noChangeAspect="1"/>
          </p:cNvPicPr>
          <p:nvPr/>
        </p:nvPicPr>
        <p:blipFill>
          <a:blip r:embed="rId4"/>
          <a:stretch>
            <a:fillRect/>
          </a:stretch>
        </p:blipFill>
        <p:spPr>
          <a:xfrm>
            <a:off x="9017641" y="1802375"/>
            <a:ext cx="2795781" cy="1855225"/>
          </a:xfrm>
          <a:prstGeom prst="rect">
            <a:avLst/>
          </a:prstGeom>
        </p:spPr>
      </p:pic>
      <p:pic>
        <p:nvPicPr>
          <p:cNvPr id="9" name="Picture 8"/>
          <p:cNvPicPr>
            <a:picLocks noChangeAspect="1"/>
          </p:cNvPicPr>
          <p:nvPr/>
        </p:nvPicPr>
        <p:blipFill>
          <a:blip r:embed="rId5"/>
          <a:stretch>
            <a:fillRect/>
          </a:stretch>
        </p:blipFill>
        <p:spPr>
          <a:xfrm>
            <a:off x="817381" y="1802375"/>
            <a:ext cx="2004026" cy="1950309"/>
          </a:xfrm>
          <a:prstGeom prst="rect">
            <a:avLst/>
          </a:prstGeom>
        </p:spPr>
      </p:pic>
      <p:pic>
        <p:nvPicPr>
          <p:cNvPr id="10" name="Content Placeholder 3"/>
          <p:cNvPicPr>
            <a:picLocks noChangeAspect="1"/>
          </p:cNvPicPr>
          <p:nvPr/>
        </p:nvPicPr>
        <p:blipFill>
          <a:blip r:embed="rId6"/>
          <a:stretch>
            <a:fillRect/>
          </a:stretch>
        </p:blipFill>
        <p:spPr>
          <a:xfrm>
            <a:off x="736705" y="4277539"/>
            <a:ext cx="1232618" cy="1232618"/>
          </a:xfrm>
          <a:prstGeom prst="rect">
            <a:avLst/>
          </a:prstGeom>
        </p:spPr>
      </p:pic>
      <p:sp>
        <p:nvSpPr>
          <p:cNvPr id="11" name="TextBox 10"/>
          <p:cNvSpPr txBox="1"/>
          <p:nvPr/>
        </p:nvSpPr>
        <p:spPr>
          <a:xfrm>
            <a:off x="6588379" y="2408197"/>
            <a:ext cx="1440874" cy="369332"/>
          </a:xfrm>
          <a:prstGeom prst="rect">
            <a:avLst/>
          </a:prstGeom>
          <a:noFill/>
        </p:spPr>
        <p:txBody>
          <a:bodyPr wrap="square" rtlCol="0">
            <a:spAutoFit/>
          </a:bodyPr>
          <a:lstStyle/>
          <a:p>
            <a:r>
              <a:rPr lang="en-GB" dirty="0"/>
              <a:t>Windows 95</a:t>
            </a:r>
          </a:p>
        </p:txBody>
      </p:sp>
      <p:sp>
        <p:nvSpPr>
          <p:cNvPr id="12" name="TextBox 11"/>
          <p:cNvSpPr txBox="1"/>
          <p:nvPr/>
        </p:nvSpPr>
        <p:spPr>
          <a:xfrm>
            <a:off x="907431" y="5416394"/>
            <a:ext cx="996708" cy="461665"/>
          </a:xfrm>
          <a:prstGeom prst="rect">
            <a:avLst/>
          </a:prstGeom>
          <a:noFill/>
        </p:spPr>
        <p:txBody>
          <a:bodyPr wrap="square" rtlCol="0">
            <a:spAutoFit/>
          </a:bodyPr>
          <a:lstStyle/>
          <a:p>
            <a:r>
              <a:rPr lang="en-GB" sz="1200" dirty="0"/>
              <a:t>Windows Vista</a:t>
            </a:r>
          </a:p>
        </p:txBody>
      </p:sp>
      <p:sp>
        <p:nvSpPr>
          <p:cNvPr id="14" name="TextBox 13"/>
          <p:cNvSpPr txBox="1"/>
          <p:nvPr/>
        </p:nvSpPr>
        <p:spPr>
          <a:xfrm>
            <a:off x="6625326" y="4613181"/>
            <a:ext cx="1366981" cy="369332"/>
          </a:xfrm>
          <a:prstGeom prst="rect">
            <a:avLst/>
          </a:prstGeom>
          <a:noFill/>
        </p:spPr>
        <p:txBody>
          <a:bodyPr wrap="square" rtlCol="0">
            <a:spAutoFit/>
          </a:bodyPr>
          <a:lstStyle/>
          <a:p>
            <a:r>
              <a:rPr lang="en-GB" dirty="0"/>
              <a:t>Windows 7</a:t>
            </a:r>
          </a:p>
        </p:txBody>
      </p:sp>
      <p:graphicFrame>
        <p:nvGraphicFramePr>
          <p:cNvPr id="3" name="Object 2">
            <a:extLst>
              <a:ext uri="{FF2B5EF4-FFF2-40B4-BE49-F238E27FC236}">
                <a16:creationId xmlns:a16="http://schemas.microsoft.com/office/drawing/2014/main" id="{E75C2C6D-87B1-7C01-2F09-3E2E34627A3B}"/>
              </a:ext>
            </a:extLst>
          </p:cNvPr>
          <p:cNvGraphicFramePr>
            <a:graphicFrameLocks noChangeAspect="1"/>
          </p:cNvGraphicFramePr>
          <p:nvPr/>
        </p:nvGraphicFramePr>
        <p:xfrm>
          <a:off x="2669843" y="4982513"/>
          <a:ext cx="3731755" cy="847864"/>
        </p:xfrm>
        <a:graphic>
          <a:graphicData uri="http://schemas.openxmlformats.org/presentationml/2006/ole">
            <mc:AlternateContent xmlns:mc="http://schemas.openxmlformats.org/markup-compatibility/2006">
              <mc:Choice xmlns:v="urn:schemas-microsoft-com:vml" Requires="v">
                <p:oleObj r:id="rId7" imgW="2054160" imgH="466200" progId="">
                  <p:embed/>
                </p:oleObj>
              </mc:Choice>
              <mc:Fallback>
                <p:oleObj r:id="rId7" imgW="2054160" imgH="466200" progId="">
                  <p:embed/>
                  <p:pic>
                    <p:nvPicPr>
                      <p:cNvPr id="3" name="Object 2">
                        <a:extLst>
                          <a:ext uri="{FF2B5EF4-FFF2-40B4-BE49-F238E27FC236}">
                            <a16:creationId xmlns:a16="http://schemas.microsoft.com/office/drawing/2014/main" id="{E75C2C6D-87B1-7C01-2F09-3E2E34627A3B}"/>
                          </a:ext>
                        </a:extLst>
                      </p:cNvPr>
                      <p:cNvPicPr/>
                      <p:nvPr/>
                    </p:nvPicPr>
                    <p:blipFill>
                      <a:blip r:embed="rId8"/>
                      <a:stretch>
                        <a:fillRect/>
                      </a:stretch>
                    </p:blipFill>
                    <p:spPr>
                      <a:xfrm>
                        <a:off x="2669843" y="4982513"/>
                        <a:ext cx="3731755" cy="847864"/>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F85F67C0-8F9D-D0F3-9AA3-43B32E24B866}"/>
              </a:ext>
            </a:extLst>
          </p:cNvPr>
          <p:cNvSpPr txBox="1"/>
          <p:nvPr/>
        </p:nvSpPr>
        <p:spPr>
          <a:xfrm>
            <a:off x="9959419" y="5289085"/>
            <a:ext cx="1816945" cy="584775"/>
          </a:xfrm>
          <a:prstGeom prst="rect">
            <a:avLst/>
          </a:prstGeom>
          <a:noFill/>
        </p:spPr>
        <p:txBody>
          <a:bodyPr wrap="square" rtlCol="0">
            <a:spAutoFit/>
          </a:bodyPr>
          <a:lstStyle/>
          <a:p>
            <a:r>
              <a:rPr lang="en-GB" sz="3200" dirty="0"/>
              <a:t>Windows</a:t>
            </a:r>
            <a:r>
              <a:rPr lang="en-GB" dirty="0"/>
              <a:t> </a:t>
            </a:r>
          </a:p>
        </p:txBody>
      </p:sp>
    </p:spTree>
    <p:extLst>
      <p:ext uri="{BB962C8B-B14F-4D97-AF65-F5344CB8AC3E}">
        <p14:creationId xmlns:p14="http://schemas.microsoft.com/office/powerpoint/2010/main" val="303318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Microsoft Windows</a:t>
            </a:r>
          </a:p>
        </p:txBody>
      </p:sp>
      <p:sp>
        <p:nvSpPr>
          <p:cNvPr id="3" name="Content Placeholder 2"/>
          <p:cNvSpPr>
            <a:spLocks noGrp="1"/>
          </p:cNvSpPr>
          <p:nvPr>
            <p:ph idx="1"/>
          </p:nvPr>
        </p:nvSpPr>
        <p:spPr/>
        <p:txBody>
          <a:bodyPr>
            <a:normAutofit/>
          </a:bodyPr>
          <a:lstStyle/>
          <a:p>
            <a:r>
              <a:rPr lang="en-GB" sz="2400" dirty="0">
                <a:solidFill>
                  <a:schemeClr val="tx1"/>
                </a:solidFill>
              </a:rPr>
              <a:t>Windows systems are one of the most common and recognisable Operating Systems that are available today. </a:t>
            </a:r>
          </a:p>
          <a:p>
            <a:endParaRPr lang="en-GB" sz="2400" dirty="0">
              <a:solidFill>
                <a:schemeClr val="tx1"/>
              </a:solidFill>
            </a:endParaRPr>
          </a:p>
          <a:p>
            <a:r>
              <a:rPr lang="en-GB" sz="2400" dirty="0">
                <a:solidFill>
                  <a:schemeClr val="tx1"/>
                </a:solidFill>
              </a:rPr>
              <a:t>Due to the compatibility with the extensive range of Microsoft desktop applications, as well as their usability, Windows has become a popular Operating System used by over 1.5 billion users worldwide. </a:t>
            </a:r>
          </a:p>
          <a:p>
            <a:endParaRPr lang="en-GB" sz="2400" dirty="0">
              <a:solidFill>
                <a:schemeClr val="tx1"/>
              </a:solidFill>
            </a:endParaRPr>
          </a:p>
          <a:p>
            <a:r>
              <a:rPr lang="en-GB" sz="2400" dirty="0">
                <a:solidFill>
                  <a:schemeClr val="tx1"/>
                </a:solidFill>
              </a:rPr>
              <a:t>Over the years, Windows has developed and updated multiple Operating Systems for desktop, server and mobile .</a:t>
            </a:r>
          </a:p>
        </p:txBody>
      </p:sp>
    </p:spTree>
    <p:extLst>
      <p:ext uri="{BB962C8B-B14F-4D97-AF65-F5344CB8AC3E}">
        <p14:creationId xmlns:p14="http://schemas.microsoft.com/office/powerpoint/2010/main" val="43482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25492" r="28542"/>
          <a:stretch/>
        </p:blipFill>
        <p:spPr>
          <a:xfrm flipH="1">
            <a:off x="4571776" y="1487364"/>
            <a:ext cx="1900484" cy="2323052"/>
          </a:xfrm>
          <a:prstGeom prst="rect">
            <a:avLst/>
          </a:prstGeom>
        </p:spPr>
      </p:pic>
      <p:sp>
        <p:nvSpPr>
          <p:cNvPr id="2" name="Title 1"/>
          <p:cNvSpPr>
            <a:spLocks noGrp="1"/>
          </p:cNvSpPr>
          <p:nvPr>
            <p:ph type="title"/>
          </p:nvPr>
        </p:nvSpPr>
        <p:spPr/>
        <p:txBody>
          <a:bodyPr/>
          <a:lstStyle/>
          <a:p>
            <a:r>
              <a:rPr lang="en-GB" u="sng" dirty="0">
                <a:solidFill>
                  <a:schemeClr val="tx1"/>
                </a:solidFill>
              </a:rPr>
              <a:t>Common Operating Systems …..</a:t>
            </a:r>
          </a:p>
        </p:txBody>
      </p:sp>
      <p:pic>
        <p:nvPicPr>
          <p:cNvPr id="5" name="Content Placeholder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flipH="1">
            <a:off x="8568464" y="4841613"/>
            <a:ext cx="1855003" cy="1167063"/>
          </a:xfrm>
          <a:prstGeom prst="rect">
            <a:avLst/>
          </a:prstGeom>
        </p:spPr>
      </p:pic>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l="4571" r="-1"/>
          <a:stretch/>
        </p:blipFill>
        <p:spPr>
          <a:xfrm flipH="1">
            <a:off x="358830" y="1783424"/>
            <a:ext cx="2384370" cy="1881153"/>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5827423" y="3932476"/>
            <a:ext cx="1818273" cy="1818273"/>
          </a:xfrm>
          <a:prstGeom prst="rect">
            <a:avLst/>
          </a:prstGeom>
        </p:spPr>
      </p:pic>
      <p:pic>
        <p:nvPicPr>
          <p:cNvPr id="12" name="Picture 11"/>
          <p:cNvPicPr>
            <a:picLocks noChangeAspect="1"/>
          </p:cNvPicPr>
          <p:nvPr/>
        </p:nvPicPr>
        <p:blipFill>
          <a:blip r:embed="rId6">
            <a:extLst>
              <a:ext uri="{BEBA8EAE-BF5A-486C-A8C5-ECC9F3942E4B}">
                <a14:imgProps xmlns:a14="http://schemas.microsoft.com/office/drawing/2010/main">
                  <a14:imgLayer r:embed="rId7">
                    <a14:imgEffect>
                      <a14:backgroundRemoval t="0" b="100000" l="3356" r="100000"/>
                    </a14:imgEffect>
                  </a14:imgLayer>
                </a14:imgProps>
              </a:ext>
              <a:ext uri="{28A0092B-C50C-407E-A947-70E740481C1C}">
                <a14:useLocalDpi xmlns:a14="http://schemas.microsoft.com/office/drawing/2010/main" val="0"/>
              </a:ext>
            </a:extLst>
          </a:blip>
          <a:stretch>
            <a:fillRect/>
          </a:stretch>
        </p:blipFill>
        <p:spPr>
          <a:xfrm flipH="1">
            <a:off x="8568464" y="1783424"/>
            <a:ext cx="2450056" cy="1389462"/>
          </a:xfrm>
          <a:prstGeom prst="rect">
            <a:avLst/>
          </a:prstGeom>
        </p:spPr>
      </p:pic>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2016895" y="4569014"/>
            <a:ext cx="1440141" cy="1440141"/>
          </a:xfrm>
          <a:prstGeom prst="rect">
            <a:avLst/>
          </a:prstGeom>
        </p:spPr>
      </p:pic>
      <p:sp>
        <p:nvSpPr>
          <p:cNvPr id="15" name="TextBox 14"/>
          <p:cNvSpPr txBox="1"/>
          <p:nvPr/>
        </p:nvSpPr>
        <p:spPr>
          <a:xfrm>
            <a:off x="10414000" y="5289085"/>
            <a:ext cx="1362364" cy="584775"/>
          </a:xfrm>
          <a:prstGeom prst="rect">
            <a:avLst/>
          </a:prstGeom>
          <a:noFill/>
        </p:spPr>
        <p:txBody>
          <a:bodyPr wrap="square" rtlCol="0">
            <a:spAutoFit/>
          </a:bodyPr>
          <a:lstStyle/>
          <a:p>
            <a:r>
              <a:rPr lang="en-GB" sz="3200" dirty="0"/>
              <a:t>Linux</a:t>
            </a:r>
            <a:r>
              <a:rPr lang="en-GB" dirty="0"/>
              <a:t> </a:t>
            </a:r>
          </a:p>
        </p:txBody>
      </p:sp>
      <p:sp>
        <p:nvSpPr>
          <p:cNvPr id="16" name="TextBox 15"/>
          <p:cNvSpPr txBox="1"/>
          <p:nvPr/>
        </p:nvSpPr>
        <p:spPr>
          <a:xfrm>
            <a:off x="876352" y="3509309"/>
            <a:ext cx="1505303" cy="369332"/>
          </a:xfrm>
          <a:prstGeom prst="rect">
            <a:avLst/>
          </a:prstGeom>
          <a:noFill/>
        </p:spPr>
        <p:txBody>
          <a:bodyPr wrap="square" rtlCol="0">
            <a:spAutoFit/>
          </a:bodyPr>
          <a:lstStyle/>
          <a:p>
            <a:r>
              <a:rPr lang="en-GB" dirty="0"/>
              <a:t>Kali Linux</a:t>
            </a:r>
          </a:p>
        </p:txBody>
      </p:sp>
      <p:sp>
        <p:nvSpPr>
          <p:cNvPr id="17" name="TextBox 16"/>
          <p:cNvSpPr txBox="1"/>
          <p:nvPr/>
        </p:nvSpPr>
        <p:spPr>
          <a:xfrm>
            <a:off x="5184216" y="3288023"/>
            <a:ext cx="1650059" cy="369332"/>
          </a:xfrm>
          <a:prstGeom prst="rect">
            <a:avLst/>
          </a:prstGeom>
          <a:noFill/>
        </p:spPr>
        <p:txBody>
          <a:bodyPr wrap="square" rtlCol="0">
            <a:spAutoFit/>
          </a:bodyPr>
          <a:lstStyle/>
          <a:p>
            <a:r>
              <a:rPr lang="en-GB" dirty="0"/>
              <a:t>Fedora</a:t>
            </a:r>
          </a:p>
        </p:txBody>
      </p:sp>
      <p:sp>
        <p:nvSpPr>
          <p:cNvPr id="18" name="TextBox 17"/>
          <p:cNvSpPr txBox="1"/>
          <p:nvPr/>
        </p:nvSpPr>
        <p:spPr>
          <a:xfrm>
            <a:off x="9347200" y="3219120"/>
            <a:ext cx="1597891" cy="369332"/>
          </a:xfrm>
          <a:prstGeom prst="rect">
            <a:avLst/>
          </a:prstGeom>
          <a:noFill/>
        </p:spPr>
        <p:txBody>
          <a:bodyPr wrap="square" rtlCol="0">
            <a:spAutoFit/>
          </a:bodyPr>
          <a:lstStyle/>
          <a:p>
            <a:r>
              <a:rPr lang="en-GB" dirty="0" err="1"/>
              <a:t>Debian</a:t>
            </a:r>
            <a:endParaRPr lang="en-GB" dirty="0"/>
          </a:p>
        </p:txBody>
      </p:sp>
      <p:sp>
        <p:nvSpPr>
          <p:cNvPr id="19" name="TextBox 18"/>
          <p:cNvSpPr txBox="1"/>
          <p:nvPr/>
        </p:nvSpPr>
        <p:spPr>
          <a:xfrm>
            <a:off x="6325717" y="6160655"/>
            <a:ext cx="1073801" cy="369332"/>
          </a:xfrm>
          <a:prstGeom prst="rect">
            <a:avLst/>
          </a:prstGeom>
          <a:noFill/>
        </p:spPr>
        <p:txBody>
          <a:bodyPr wrap="square" rtlCol="0">
            <a:spAutoFit/>
          </a:bodyPr>
          <a:lstStyle/>
          <a:p>
            <a:r>
              <a:rPr lang="en-GB" dirty="0"/>
              <a:t>Centos</a:t>
            </a:r>
          </a:p>
        </p:txBody>
      </p:sp>
      <p:sp>
        <p:nvSpPr>
          <p:cNvPr id="20" name="TextBox 19"/>
          <p:cNvSpPr txBox="1"/>
          <p:nvPr/>
        </p:nvSpPr>
        <p:spPr>
          <a:xfrm>
            <a:off x="2309091" y="6160655"/>
            <a:ext cx="1246909" cy="369332"/>
          </a:xfrm>
          <a:prstGeom prst="rect">
            <a:avLst/>
          </a:prstGeom>
          <a:noFill/>
        </p:spPr>
        <p:txBody>
          <a:bodyPr wrap="square" rtlCol="0">
            <a:spAutoFit/>
          </a:bodyPr>
          <a:lstStyle/>
          <a:p>
            <a:r>
              <a:rPr lang="en-GB" dirty="0"/>
              <a:t>Ubuntu</a:t>
            </a:r>
          </a:p>
        </p:txBody>
      </p:sp>
    </p:spTree>
    <p:extLst>
      <p:ext uri="{BB962C8B-B14F-4D97-AF65-F5344CB8AC3E}">
        <p14:creationId xmlns:p14="http://schemas.microsoft.com/office/powerpoint/2010/main" val="3144538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Linux</a:t>
            </a:r>
          </a:p>
        </p:txBody>
      </p:sp>
      <p:sp>
        <p:nvSpPr>
          <p:cNvPr id="3" name="Content Placeholder 2"/>
          <p:cNvSpPr>
            <a:spLocks noGrp="1"/>
          </p:cNvSpPr>
          <p:nvPr>
            <p:ph idx="1"/>
          </p:nvPr>
        </p:nvSpPr>
        <p:spPr/>
        <p:txBody>
          <a:bodyPr>
            <a:normAutofit lnSpcReduction="10000"/>
          </a:bodyPr>
          <a:lstStyle/>
          <a:p>
            <a:r>
              <a:rPr lang="en-GB" dirty="0">
                <a:solidFill>
                  <a:schemeClr val="tx1"/>
                </a:solidFill>
              </a:rPr>
              <a:t>Linux is a collection of operating systems based on the Unix Kernel. </a:t>
            </a:r>
          </a:p>
          <a:p>
            <a:endParaRPr lang="en-GB" dirty="0">
              <a:solidFill>
                <a:schemeClr val="tx1"/>
              </a:solidFill>
            </a:endParaRPr>
          </a:p>
          <a:p>
            <a:r>
              <a:rPr lang="en-GB" dirty="0">
                <a:solidFill>
                  <a:schemeClr val="tx1"/>
                </a:solidFill>
              </a:rPr>
              <a:t>There are multiple distributions of Linux, and which one you use is generally dependant on the purpose of the system. </a:t>
            </a:r>
          </a:p>
          <a:p>
            <a:endParaRPr lang="en-GB" dirty="0">
              <a:solidFill>
                <a:schemeClr val="tx1"/>
              </a:solidFill>
            </a:endParaRPr>
          </a:p>
          <a:p>
            <a:r>
              <a:rPr lang="en-GB" dirty="0">
                <a:solidFill>
                  <a:schemeClr val="tx1"/>
                </a:solidFill>
              </a:rPr>
              <a:t>For Example:</a:t>
            </a:r>
          </a:p>
          <a:p>
            <a:pPr lvl="2"/>
            <a:r>
              <a:rPr lang="en-GB" sz="2000" dirty="0">
                <a:solidFill>
                  <a:schemeClr val="tx1"/>
                </a:solidFill>
              </a:rPr>
              <a:t>The extensive range of security tools that come readily available with Kali Linux makes it a suited OS for security professionals to use. </a:t>
            </a:r>
          </a:p>
          <a:p>
            <a:pPr lvl="2"/>
            <a:endParaRPr lang="en-GB" sz="2000" dirty="0">
              <a:solidFill>
                <a:schemeClr val="tx1"/>
              </a:solidFill>
            </a:endParaRPr>
          </a:p>
          <a:p>
            <a:pPr lvl="2"/>
            <a:r>
              <a:rPr lang="en-GB" sz="2000" dirty="0">
                <a:solidFill>
                  <a:schemeClr val="tx1"/>
                </a:solidFill>
              </a:rPr>
              <a:t>Ubuntu on the other hand is suited for desktop use by individual users due to its user-friendly interface</a:t>
            </a:r>
          </a:p>
        </p:txBody>
      </p:sp>
    </p:spTree>
    <p:extLst>
      <p:ext uri="{BB962C8B-B14F-4D97-AF65-F5344CB8AC3E}">
        <p14:creationId xmlns:p14="http://schemas.microsoft.com/office/powerpoint/2010/main" val="3875459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Other Operating Systems </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85699" y="2091490"/>
            <a:ext cx="1373605" cy="1373605"/>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93558" y="2527114"/>
            <a:ext cx="1319464" cy="70938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6699" y="2335677"/>
            <a:ext cx="1319464" cy="1129418"/>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93558" y="4813707"/>
            <a:ext cx="1217789" cy="1217789"/>
          </a:xfrm>
          <a:prstGeom prst="rect">
            <a:avLst/>
          </a:prstGeom>
        </p:spPr>
      </p:pic>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78304" y="4927076"/>
            <a:ext cx="1354137" cy="1104420"/>
          </a:xfrm>
          <a:prstGeom prst="rect">
            <a:avLst/>
          </a:prstGeom>
        </p:spPr>
      </p:pic>
    </p:spTree>
    <p:extLst>
      <p:ext uri="{BB962C8B-B14F-4D97-AF65-F5344CB8AC3E}">
        <p14:creationId xmlns:p14="http://schemas.microsoft.com/office/powerpoint/2010/main" val="2415148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Other Operating Systems </a:t>
            </a:r>
          </a:p>
        </p:txBody>
      </p:sp>
      <p:sp>
        <p:nvSpPr>
          <p:cNvPr id="3" name="Content Placeholder 2"/>
          <p:cNvSpPr>
            <a:spLocks noGrp="1"/>
          </p:cNvSpPr>
          <p:nvPr>
            <p:ph idx="1"/>
          </p:nvPr>
        </p:nvSpPr>
        <p:spPr/>
        <p:txBody>
          <a:bodyPr>
            <a:normAutofit/>
          </a:bodyPr>
          <a:lstStyle/>
          <a:p>
            <a:r>
              <a:rPr lang="en-GB" sz="2400" dirty="0">
                <a:solidFill>
                  <a:schemeClr val="tx1"/>
                </a:solidFill>
              </a:rPr>
              <a:t>Although Windows and Linux distributions are 2 of the most commonly used systems for desktop devices, there are others available. </a:t>
            </a:r>
          </a:p>
          <a:p>
            <a:endParaRPr lang="en-GB" sz="2400" dirty="0">
              <a:solidFill>
                <a:schemeClr val="tx1"/>
              </a:solidFill>
            </a:endParaRPr>
          </a:p>
          <a:p>
            <a:r>
              <a:rPr lang="en-GB" sz="2400" dirty="0">
                <a:solidFill>
                  <a:schemeClr val="tx1"/>
                </a:solidFill>
              </a:rPr>
              <a:t>For example, Apples </a:t>
            </a:r>
            <a:r>
              <a:rPr lang="en-GB" sz="2400" dirty="0" err="1">
                <a:solidFill>
                  <a:schemeClr val="tx1"/>
                </a:solidFill>
              </a:rPr>
              <a:t>MacOS</a:t>
            </a:r>
            <a:r>
              <a:rPr lang="en-GB" sz="2400" dirty="0">
                <a:solidFill>
                  <a:schemeClr val="tx1"/>
                </a:solidFill>
              </a:rPr>
              <a:t> is fairly popular with those who favour Apple products. As is the mobile version IOS which is used by Apples mobile devices such as </a:t>
            </a:r>
            <a:r>
              <a:rPr lang="en-GB" sz="2400" dirty="0" err="1">
                <a:solidFill>
                  <a:schemeClr val="tx1"/>
                </a:solidFill>
              </a:rPr>
              <a:t>Iphones</a:t>
            </a:r>
            <a:r>
              <a:rPr lang="en-GB" sz="2400" dirty="0">
                <a:solidFill>
                  <a:schemeClr val="tx1"/>
                </a:solidFill>
              </a:rPr>
              <a:t> and </a:t>
            </a:r>
            <a:r>
              <a:rPr lang="en-GB" sz="2400" dirty="0" err="1">
                <a:solidFill>
                  <a:schemeClr val="tx1"/>
                </a:solidFill>
              </a:rPr>
              <a:t>Ipads</a:t>
            </a:r>
            <a:r>
              <a:rPr lang="en-GB" sz="2400" dirty="0">
                <a:solidFill>
                  <a:schemeClr val="tx1"/>
                </a:solidFill>
              </a:rPr>
              <a:t>. </a:t>
            </a:r>
          </a:p>
          <a:p>
            <a:endParaRPr lang="en-GB" sz="2400" dirty="0">
              <a:solidFill>
                <a:schemeClr val="tx1"/>
              </a:solidFill>
            </a:endParaRPr>
          </a:p>
          <a:p>
            <a:r>
              <a:rPr lang="en-GB" sz="2400" dirty="0">
                <a:solidFill>
                  <a:schemeClr val="tx1"/>
                </a:solidFill>
              </a:rPr>
              <a:t>Other popular mobile device Operating Systems include Android and Amazon Fire OS. </a:t>
            </a:r>
          </a:p>
          <a:p>
            <a:endParaRPr lang="en-GB" dirty="0"/>
          </a:p>
          <a:p>
            <a:endParaRPr lang="en-GB" dirty="0"/>
          </a:p>
        </p:txBody>
      </p:sp>
    </p:spTree>
    <p:extLst>
      <p:ext uri="{BB962C8B-B14F-4D97-AF65-F5344CB8AC3E}">
        <p14:creationId xmlns:p14="http://schemas.microsoft.com/office/powerpoint/2010/main" val="319890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Other Operating Systems </a:t>
            </a:r>
          </a:p>
        </p:txBody>
      </p:sp>
      <p:sp>
        <p:nvSpPr>
          <p:cNvPr id="3" name="Content Placeholder 2"/>
          <p:cNvSpPr>
            <a:spLocks noGrp="1"/>
          </p:cNvSpPr>
          <p:nvPr>
            <p:ph idx="1"/>
          </p:nvPr>
        </p:nvSpPr>
        <p:spPr/>
        <p:txBody>
          <a:bodyPr>
            <a:normAutofit/>
          </a:bodyPr>
          <a:lstStyle/>
          <a:p>
            <a:r>
              <a:rPr lang="en-GB" sz="2400" dirty="0">
                <a:solidFill>
                  <a:schemeClr val="tx1"/>
                </a:solidFill>
              </a:rPr>
              <a:t>The previously mentioned systems are fairly common, and as they are used by devices that most of us interact with on daily basis, we are aware that they exist. </a:t>
            </a:r>
          </a:p>
          <a:p>
            <a:r>
              <a:rPr lang="en-GB" sz="2400" dirty="0">
                <a:solidFill>
                  <a:schemeClr val="tx1"/>
                </a:solidFill>
              </a:rPr>
              <a:t>It is common knowledge that out PCs and mobile phones require some sort of OS to allow the hardware to carry out its intended functions. </a:t>
            </a:r>
          </a:p>
          <a:p>
            <a:r>
              <a:rPr lang="en-GB" sz="2400" dirty="0">
                <a:solidFill>
                  <a:schemeClr val="tx1"/>
                </a:solidFill>
              </a:rPr>
              <a:t>What may not be as apparent is that every device needs some sort of OS. Cisco routers for example, use </a:t>
            </a:r>
            <a:r>
              <a:rPr lang="en-GB" sz="2400" dirty="0" err="1">
                <a:solidFill>
                  <a:schemeClr val="tx1"/>
                </a:solidFill>
              </a:rPr>
              <a:t>Ciscos</a:t>
            </a:r>
            <a:r>
              <a:rPr lang="en-GB" sz="2400" dirty="0">
                <a:solidFill>
                  <a:schemeClr val="tx1"/>
                </a:solidFill>
              </a:rPr>
              <a:t> IOS. Other devices such as ATMs and games consoles also require Operating Systems. </a:t>
            </a:r>
          </a:p>
        </p:txBody>
      </p:sp>
    </p:spTree>
    <p:extLst>
      <p:ext uri="{BB962C8B-B14F-4D97-AF65-F5344CB8AC3E}">
        <p14:creationId xmlns:p14="http://schemas.microsoft.com/office/powerpoint/2010/main" val="314237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Operating Systems</a:t>
            </a:r>
          </a:p>
        </p:txBody>
      </p:sp>
      <p:sp>
        <p:nvSpPr>
          <p:cNvPr id="3" name="Content Placeholder 2"/>
          <p:cNvSpPr>
            <a:spLocks noGrp="1"/>
          </p:cNvSpPr>
          <p:nvPr>
            <p:ph idx="1"/>
          </p:nvPr>
        </p:nvSpPr>
        <p:spPr/>
        <p:txBody>
          <a:bodyPr/>
          <a:lstStyle/>
          <a:p>
            <a:r>
              <a:rPr lang="en-GB" sz="2400" dirty="0">
                <a:solidFill>
                  <a:schemeClr val="tx1"/>
                </a:solidFill>
              </a:rPr>
              <a:t>Over the course of this unit, we will be looking at a range of Operating Systems. </a:t>
            </a:r>
          </a:p>
          <a:p>
            <a:r>
              <a:rPr lang="en-GB" sz="2400" dirty="0">
                <a:solidFill>
                  <a:schemeClr val="tx1"/>
                </a:solidFill>
              </a:rPr>
              <a:t>These will include</a:t>
            </a:r>
            <a:r>
              <a:rPr lang="en-GB" dirty="0">
                <a:solidFill>
                  <a:schemeClr val="tx1"/>
                </a:solidFill>
              </a:rPr>
              <a:t>:</a:t>
            </a:r>
          </a:p>
          <a:p>
            <a:pPr lvl="8">
              <a:lnSpc>
                <a:spcPct val="150000"/>
              </a:lnSpc>
            </a:pPr>
            <a:r>
              <a:rPr lang="en-GB" sz="2400" dirty="0">
                <a:solidFill>
                  <a:schemeClr val="tx1"/>
                </a:solidFill>
              </a:rPr>
              <a:t>Single User Systems</a:t>
            </a:r>
          </a:p>
          <a:p>
            <a:pPr lvl="8">
              <a:lnSpc>
                <a:spcPct val="150000"/>
              </a:lnSpc>
            </a:pPr>
            <a:r>
              <a:rPr lang="en-GB" sz="2400" dirty="0">
                <a:solidFill>
                  <a:schemeClr val="tx1"/>
                </a:solidFill>
              </a:rPr>
              <a:t>Multi User Systems </a:t>
            </a:r>
          </a:p>
          <a:p>
            <a:pPr lvl="8">
              <a:lnSpc>
                <a:spcPct val="150000"/>
              </a:lnSpc>
            </a:pPr>
            <a:r>
              <a:rPr lang="en-GB" sz="2400" dirty="0">
                <a:solidFill>
                  <a:schemeClr val="tx1"/>
                </a:solidFill>
              </a:rPr>
              <a:t>Embedded Systems</a:t>
            </a:r>
          </a:p>
          <a:p>
            <a:pPr lvl="8">
              <a:lnSpc>
                <a:spcPct val="150000"/>
              </a:lnSpc>
            </a:pPr>
            <a:r>
              <a:rPr lang="en-GB" sz="2400" dirty="0">
                <a:solidFill>
                  <a:schemeClr val="tx1"/>
                </a:solidFill>
              </a:rPr>
              <a:t>Mobile Operating Systems</a:t>
            </a:r>
          </a:p>
          <a:p>
            <a:pPr>
              <a:lnSpc>
                <a:spcPct val="150000"/>
              </a:lnSpc>
            </a:pPr>
            <a:endParaRPr lang="en-GB" dirty="0">
              <a:solidFill>
                <a:schemeClr val="tx1"/>
              </a:solidFill>
            </a:endParaRPr>
          </a:p>
        </p:txBody>
      </p:sp>
    </p:spTree>
    <p:extLst>
      <p:ext uri="{BB962C8B-B14F-4D97-AF65-F5344CB8AC3E}">
        <p14:creationId xmlns:p14="http://schemas.microsoft.com/office/powerpoint/2010/main" val="122414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Operating Systems </a:t>
            </a:r>
          </a:p>
        </p:txBody>
      </p:sp>
      <p:sp>
        <p:nvSpPr>
          <p:cNvPr id="3" name="Content Placeholder 2"/>
          <p:cNvSpPr>
            <a:spLocks noGrp="1"/>
          </p:cNvSpPr>
          <p:nvPr>
            <p:ph idx="1"/>
          </p:nvPr>
        </p:nvSpPr>
        <p:spPr/>
        <p:txBody>
          <a:bodyPr/>
          <a:lstStyle/>
          <a:p>
            <a:r>
              <a:rPr lang="en-GB" dirty="0">
                <a:solidFill>
                  <a:schemeClr val="tx1"/>
                </a:solidFill>
              </a:rPr>
              <a:t>We will also be looking at the different environments that operating systems offer, such as the command line and graphical user interface. </a:t>
            </a:r>
          </a:p>
          <a:p>
            <a:endParaRPr lang="en-GB" dirty="0">
              <a:solidFill>
                <a:schemeClr val="tx1"/>
              </a:solidFill>
            </a:endParaRPr>
          </a:p>
          <a:p>
            <a:r>
              <a:rPr lang="en-GB" dirty="0">
                <a:solidFill>
                  <a:schemeClr val="tx1"/>
                </a:solidFill>
              </a:rPr>
              <a:t>Additionally, we will be looking at the file systems that are used by some systems, and how these allow us to store and retrieve data. </a:t>
            </a:r>
          </a:p>
          <a:p>
            <a:endParaRPr lang="en-GB" dirty="0">
              <a:solidFill>
                <a:schemeClr val="tx1"/>
              </a:solidFill>
            </a:endParaRPr>
          </a:p>
          <a:p>
            <a:r>
              <a:rPr lang="en-GB" dirty="0">
                <a:solidFill>
                  <a:schemeClr val="tx1"/>
                </a:solidFill>
              </a:rPr>
              <a:t>File systems that we will look at will include, FAT, NTFS and Ext. </a:t>
            </a:r>
          </a:p>
          <a:p>
            <a:endParaRPr lang="en-GB" dirty="0"/>
          </a:p>
        </p:txBody>
      </p:sp>
    </p:spTree>
    <p:extLst>
      <p:ext uri="{BB962C8B-B14F-4D97-AF65-F5344CB8AC3E}">
        <p14:creationId xmlns:p14="http://schemas.microsoft.com/office/powerpoint/2010/main" val="98751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For Next Week ……</a:t>
            </a:r>
          </a:p>
        </p:txBody>
      </p:sp>
      <p:sp>
        <p:nvSpPr>
          <p:cNvPr id="3" name="Content Placeholder 2"/>
          <p:cNvSpPr>
            <a:spLocks noGrp="1"/>
          </p:cNvSpPr>
          <p:nvPr>
            <p:ph idx="1"/>
          </p:nvPr>
        </p:nvSpPr>
        <p:spPr>
          <a:xfrm>
            <a:off x="1143000" y="2787073"/>
            <a:ext cx="6550891" cy="1738745"/>
          </a:xfrm>
        </p:spPr>
        <p:txBody>
          <a:bodyPr>
            <a:normAutofit/>
          </a:bodyPr>
          <a:lstStyle/>
          <a:p>
            <a:r>
              <a:rPr lang="en-GB" sz="2400" dirty="0">
                <a:solidFill>
                  <a:schemeClr val="tx1"/>
                </a:solidFill>
              </a:rPr>
              <a:t>There is no tutorial this week </a:t>
            </a:r>
          </a:p>
          <a:p>
            <a:endParaRPr lang="en-GB" sz="2400" dirty="0">
              <a:solidFill>
                <a:schemeClr val="tx1"/>
              </a:solidFill>
            </a:endParaRPr>
          </a:p>
          <a:p>
            <a:r>
              <a:rPr lang="en-GB" sz="2400" dirty="0">
                <a:solidFill>
                  <a:schemeClr val="tx1"/>
                </a:solidFill>
              </a:rPr>
              <a:t>Slides are available to access on Moodle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9968" y="2432249"/>
            <a:ext cx="2781300" cy="3048000"/>
          </a:xfrm>
          <a:prstGeom prst="rect">
            <a:avLst/>
          </a:prstGeom>
        </p:spPr>
      </p:pic>
    </p:spTree>
    <p:extLst>
      <p:ext uri="{BB962C8B-B14F-4D97-AF65-F5344CB8AC3E}">
        <p14:creationId xmlns:p14="http://schemas.microsoft.com/office/powerpoint/2010/main" val="3085149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9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 Master" id="{DB57AD56-53FF-46D7-B4CE-2A82CA236852}" vid="{61685CE2-5B07-4672-B363-04E4FBD73284}"/>
    </a:ext>
  </a:extLst>
</a:theme>
</file>

<file path=docProps/app.xml><?xml version="1.0" encoding="utf-8"?>
<Properties xmlns="http://schemas.openxmlformats.org/officeDocument/2006/extended-properties" xmlns:vt="http://schemas.openxmlformats.org/officeDocument/2006/docPropsVTypes">
  <Template>West Lothain College 23-24</Template>
  <TotalTime>684</TotalTime>
  <Words>964</Words>
  <Application>Microsoft Office PowerPoint</Application>
  <PresentationFormat>Widescreen</PresentationFormat>
  <Paragraphs>105</Paragraphs>
  <Slides>19</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0</vt:i4>
      </vt:variant>
      <vt:variant>
        <vt:lpstr>Slide Titles</vt:lpstr>
      </vt:variant>
      <vt:variant>
        <vt:i4>19</vt:i4>
      </vt:variant>
    </vt:vector>
  </HeadingPairs>
  <TitlesOfParts>
    <vt:vector size="23" baseType="lpstr">
      <vt:lpstr>Arial</vt:lpstr>
      <vt:lpstr>Calibri</vt:lpstr>
      <vt:lpstr>Calibri Light</vt:lpstr>
      <vt:lpstr>Office Theme</vt:lpstr>
      <vt:lpstr>Computer Operating Systems</vt:lpstr>
      <vt:lpstr>Unit Outcomes</vt:lpstr>
      <vt:lpstr>Assessments </vt:lpstr>
      <vt:lpstr>** Outcome 3 **</vt:lpstr>
      <vt:lpstr>What Is An Operating System?</vt:lpstr>
      <vt:lpstr>What Is An Operating System? </vt:lpstr>
      <vt:lpstr>Operating System Features</vt:lpstr>
      <vt:lpstr>Operating Systems</vt:lpstr>
      <vt:lpstr>Operating Systems</vt:lpstr>
      <vt:lpstr>Common Operating Systems …..</vt:lpstr>
      <vt:lpstr>Microsoft Windows</vt:lpstr>
      <vt:lpstr>Common Operating Systems …..</vt:lpstr>
      <vt:lpstr>Linux</vt:lpstr>
      <vt:lpstr>Other Operating Systems </vt:lpstr>
      <vt:lpstr>Other Operating Systems </vt:lpstr>
      <vt:lpstr>Other Operating Systems </vt:lpstr>
      <vt:lpstr>Operating Systems</vt:lpstr>
      <vt:lpstr>Operating Systems </vt:lpstr>
      <vt:lpstr>For Next Week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Operating Systems</dc:title>
  <dc:subject>COS</dc:subject>
  <dc:creator>Ross Tunnicliffe</dc:creator>
  <cp:lastModifiedBy>Ross Tunnicliffe</cp:lastModifiedBy>
  <cp:revision>1</cp:revision>
  <dcterms:created xsi:type="dcterms:W3CDTF">2023-08-27T07:48:51Z</dcterms:created>
  <dcterms:modified xsi:type="dcterms:W3CDTF">2023-08-28T12:22:04Z</dcterms:modified>
</cp:coreProperties>
</file>