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2" r:id="rId2"/>
    <p:sldId id="258" r:id="rId3"/>
    <p:sldId id="259" r:id="rId4"/>
    <p:sldId id="260" r:id="rId5"/>
    <p:sldId id="257" r:id="rId6"/>
    <p:sldId id="261" r:id="rId7"/>
    <p:sldId id="263" r:id="rId8"/>
    <p:sldId id="264" r:id="rId9"/>
    <p:sldId id="267" r:id="rId10"/>
    <p:sldId id="268" r:id="rId11"/>
    <p:sldId id="269" r:id="rId12"/>
    <p:sldId id="270" r:id="rId13"/>
    <p:sldId id="271" r:id="rId14"/>
    <p:sldId id="266" r:id="rId15"/>
    <p:sldId id="272" r:id="rId16"/>
    <p:sldId id="273" r:id="rId17"/>
    <p:sldId id="277" r:id="rId18"/>
    <p:sldId id="278"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694" y="2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s Tunnicliffe" userId="d6837b3d-8b57-406d-a8e4-876ef820a90e" providerId="ADAL" clId="{BF621EF4-E5B4-4FFB-A6F2-0A5ED6C2FF99}"/>
    <pc:docChg chg="modSld">
      <pc:chgData name="Ross Tunnicliffe" userId="d6837b3d-8b57-406d-a8e4-876ef820a90e" providerId="ADAL" clId="{BF621EF4-E5B4-4FFB-A6F2-0A5ED6C2FF99}" dt="2023-09-01T14:23:43.848" v="0" actId="20577"/>
      <pc:docMkLst>
        <pc:docMk/>
      </pc:docMkLst>
      <pc:sldChg chg="modSp mod">
        <pc:chgData name="Ross Tunnicliffe" userId="d6837b3d-8b57-406d-a8e4-876ef820a90e" providerId="ADAL" clId="{BF621EF4-E5B4-4FFB-A6F2-0A5ED6C2FF99}" dt="2023-09-01T14:23:43.848" v="0" actId="20577"/>
        <pc:sldMkLst>
          <pc:docMk/>
          <pc:sldMk cId="2234025142" sldId="263"/>
        </pc:sldMkLst>
        <pc:spChg chg="mod">
          <ac:chgData name="Ross Tunnicliffe" userId="d6837b3d-8b57-406d-a8e4-876ef820a90e" providerId="ADAL" clId="{BF621EF4-E5B4-4FFB-A6F2-0A5ED6C2FF99}" dt="2023-09-01T14:23:43.848" v="0" actId="20577"/>
          <ac:spMkLst>
            <pc:docMk/>
            <pc:sldMk cId="2234025142" sldId="263"/>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79DD6DC-1A74-4ADB-B6A5-C95776B19CDD}" type="datetimeFigureOut">
              <a:rPr lang="en-GB" smtClean="0"/>
              <a:t>01/09/2023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15D1F25-9163-46C0-BFDF-3CA11BF41243}" type="slidenum">
              <a:rPr lang="en-GB" smtClean="0"/>
              <a:t>‹#›</a:t>
            </a:fld>
            <a:endParaRPr lang="en-GB"/>
          </a:p>
        </p:txBody>
      </p:sp>
    </p:spTree>
    <p:extLst>
      <p:ext uri="{BB962C8B-B14F-4D97-AF65-F5344CB8AC3E}">
        <p14:creationId xmlns:p14="http://schemas.microsoft.com/office/powerpoint/2010/main" val="2029804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79DD6DC-1A74-4ADB-B6A5-C95776B19CDD}" type="datetimeFigureOut">
              <a:rPr lang="en-GB" smtClean="0"/>
              <a:t>01/09/2023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15D1F25-9163-46C0-BFDF-3CA11BF41243}" type="slidenum">
              <a:rPr lang="en-GB" smtClean="0"/>
              <a:t>‹#›</a:t>
            </a:fld>
            <a:endParaRPr lang="en-GB"/>
          </a:p>
        </p:txBody>
      </p:sp>
    </p:spTree>
    <p:extLst>
      <p:ext uri="{BB962C8B-B14F-4D97-AF65-F5344CB8AC3E}">
        <p14:creationId xmlns:p14="http://schemas.microsoft.com/office/powerpoint/2010/main" val="1475667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79DD6DC-1A74-4ADB-B6A5-C95776B19CDD}" type="datetimeFigureOut">
              <a:rPr lang="en-GB" smtClean="0"/>
              <a:t>01/09/2023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15D1F25-9163-46C0-BFDF-3CA11BF41243}" type="slidenum">
              <a:rPr lang="en-GB" smtClean="0"/>
              <a:t>‹#›</a:t>
            </a:fld>
            <a:endParaRPr lang="en-GB"/>
          </a:p>
        </p:txBody>
      </p:sp>
    </p:spTree>
    <p:extLst>
      <p:ext uri="{BB962C8B-B14F-4D97-AF65-F5344CB8AC3E}">
        <p14:creationId xmlns:p14="http://schemas.microsoft.com/office/powerpoint/2010/main" val="2613859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579DD6DC-1A74-4ADB-B6A5-C95776B19CDD}" type="datetimeFigureOut">
              <a:rPr lang="en-GB" smtClean="0"/>
              <a:t>01/09/2023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15D1F25-9163-46C0-BFDF-3CA11BF41243}" type="slidenum">
              <a:rPr lang="en-GB" smtClean="0"/>
              <a:t>‹#›</a:t>
            </a:fld>
            <a:endParaRPr lang="en-GB"/>
          </a:p>
        </p:txBody>
      </p:sp>
    </p:spTree>
    <p:extLst>
      <p:ext uri="{BB962C8B-B14F-4D97-AF65-F5344CB8AC3E}">
        <p14:creationId xmlns:p14="http://schemas.microsoft.com/office/powerpoint/2010/main" val="1510685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579DD6DC-1A74-4ADB-B6A5-C95776B19CDD}" type="datetimeFigureOut">
              <a:rPr lang="en-GB" smtClean="0"/>
              <a:t>01/09/2023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915D1F25-9163-46C0-BFDF-3CA11BF41243}" type="slidenum">
              <a:rPr lang="en-GB" smtClean="0"/>
              <a:t>‹#›</a:t>
            </a:fld>
            <a:endParaRPr lang="en-GB"/>
          </a:p>
        </p:txBody>
      </p:sp>
    </p:spTree>
    <p:extLst>
      <p:ext uri="{BB962C8B-B14F-4D97-AF65-F5344CB8AC3E}">
        <p14:creationId xmlns:p14="http://schemas.microsoft.com/office/powerpoint/2010/main" val="1850499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95325" y="1"/>
            <a:ext cx="10515600" cy="958850"/>
          </a:xfrm>
        </p:spPr>
        <p:txBody>
          <a:bodyPr/>
          <a:lstStyle>
            <a:lvl1pPr algn="ctr">
              <a:defRPr/>
            </a:lvl1pPr>
          </a:lstStyle>
          <a:p>
            <a:r>
              <a:rPr lang="en-US"/>
              <a:t>Click to edit Master title style</a:t>
            </a:r>
            <a:endParaRPr lang="en-GB" dirty="0"/>
          </a:p>
        </p:txBody>
      </p:sp>
      <p:sp>
        <p:nvSpPr>
          <p:cNvPr id="4" name="Footer Placeholder 3"/>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831449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579DD6DC-1A74-4ADB-B6A5-C95776B19CDD}" type="datetimeFigureOut">
              <a:rPr lang="en-GB" smtClean="0"/>
              <a:t>01/09/2023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915D1F25-9163-46C0-BFDF-3CA11BF41243}" type="slidenum">
              <a:rPr lang="en-GB" smtClean="0"/>
              <a:t>‹#›</a:t>
            </a:fld>
            <a:endParaRPr lang="en-GB"/>
          </a:p>
        </p:txBody>
      </p:sp>
    </p:spTree>
    <p:extLst>
      <p:ext uri="{BB962C8B-B14F-4D97-AF65-F5344CB8AC3E}">
        <p14:creationId xmlns:p14="http://schemas.microsoft.com/office/powerpoint/2010/main" val="423782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579DD6DC-1A74-4ADB-B6A5-C95776B19CDD}" type="datetimeFigureOut">
              <a:rPr lang="en-GB" smtClean="0"/>
              <a:t>01/09/2023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15D1F25-9163-46C0-BFDF-3CA11BF41243}" type="slidenum">
              <a:rPr lang="en-GB" smtClean="0"/>
              <a:t>‹#›</a:t>
            </a:fld>
            <a:endParaRPr lang="en-GB"/>
          </a:p>
        </p:txBody>
      </p:sp>
    </p:spTree>
    <p:extLst>
      <p:ext uri="{BB962C8B-B14F-4D97-AF65-F5344CB8AC3E}">
        <p14:creationId xmlns:p14="http://schemas.microsoft.com/office/powerpoint/2010/main" val="3474996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579DD6DC-1A74-4ADB-B6A5-C95776B19CDD}" type="datetimeFigureOut">
              <a:rPr lang="en-GB" smtClean="0"/>
              <a:t>01/09/2023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15D1F25-9163-46C0-BFDF-3CA11BF41243}" type="slidenum">
              <a:rPr lang="en-GB" smtClean="0"/>
              <a:t>‹#›</a:t>
            </a:fld>
            <a:endParaRPr lang="en-GB"/>
          </a:p>
        </p:txBody>
      </p:sp>
    </p:spTree>
    <p:extLst>
      <p:ext uri="{BB962C8B-B14F-4D97-AF65-F5344CB8AC3E}">
        <p14:creationId xmlns:p14="http://schemas.microsoft.com/office/powerpoint/2010/main" val="1336868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79DD6DC-1A74-4ADB-B6A5-C95776B19CDD}" type="datetimeFigureOut">
              <a:rPr lang="en-GB" smtClean="0"/>
              <a:t>01/09/2023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15D1F25-9163-46C0-BFDF-3CA11BF41243}" type="slidenum">
              <a:rPr lang="en-GB" smtClean="0"/>
              <a:t>‹#›</a:t>
            </a:fld>
            <a:endParaRPr lang="en-GB"/>
          </a:p>
        </p:txBody>
      </p:sp>
    </p:spTree>
    <p:extLst>
      <p:ext uri="{BB962C8B-B14F-4D97-AF65-F5344CB8AC3E}">
        <p14:creationId xmlns:p14="http://schemas.microsoft.com/office/powerpoint/2010/main" val="2271423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79DD6DC-1A74-4ADB-B6A5-C95776B19CDD}" type="datetimeFigureOut">
              <a:rPr lang="en-GB" smtClean="0"/>
              <a:t>01/09/2023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15D1F25-9163-46C0-BFDF-3CA11BF41243}" type="slidenum">
              <a:rPr lang="en-GB" smtClean="0"/>
              <a:t>‹#›</a:t>
            </a:fld>
            <a:endParaRPr lang="en-GB"/>
          </a:p>
        </p:txBody>
      </p:sp>
    </p:spTree>
    <p:extLst>
      <p:ext uri="{BB962C8B-B14F-4D97-AF65-F5344CB8AC3E}">
        <p14:creationId xmlns:p14="http://schemas.microsoft.com/office/powerpoint/2010/main" val="2163150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7169" y="0"/>
            <a:ext cx="10515600" cy="1086197"/>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2">
                    <a:lumMod val="90000"/>
                  </a:schemeClr>
                </a:solidFill>
              </a:defRPr>
            </a:lvl1pPr>
          </a:lstStyle>
          <a:p>
            <a:endParaRPr lang="en-GB"/>
          </a:p>
        </p:txBody>
      </p:sp>
      <p:pic>
        <p:nvPicPr>
          <p:cNvPr id="7" name="Picture 6"/>
          <p:cNvPicPr>
            <a:picLocks noChangeAspect="1"/>
          </p:cNvPicPr>
          <p:nvPr/>
        </p:nvPicPr>
        <p:blipFill>
          <a:blip r:embed="rId13">
            <a:extLst>
              <a:ext uri="{BEBA8EAE-BF5A-486C-A8C5-ECC9F3942E4B}">
                <a14:imgProps xmlns:a14="http://schemas.microsoft.com/office/drawing/2010/main">
                  <a14:imgLayer r:embed="rId14">
                    <a14:imgEffect>
                      <a14:backgroundRemoval t="1429" b="96667" l="4149" r="95436">
                        <a14:foregroundMark x1="46473" y1="32381" x2="46473" y2="32381"/>
                        <a14:foregroundMark x1="50207" y1="55714" x2="50207" y2="55714"/>
                        <a14:foregroundMark x1="49793" y1="82381" x2="49793" y2="82381"/>
                      </a14:backgroundRemoval>
                    </a14:imgEffect>
                  </a14:imgLayer>
                </a14:imgProps>
              </a:ext>
            </a:extLst>
          </a:blip>
          <a:stretch>
            <a:fillRect/>
          </a:stretch>
        </p:blipFill>
        <p:spPr>
          <a:xfrm rot="7962228">
            <a:off x="-159974" y="-114294"/>
            <a:ext cx="1060407" cy="967777"/>
          </a:xfrm>
          <a:prstGeom prst="rect">
            <a:avLst/>
          </a:prstGeom>
        </p:spPr>
      </p:pic>
      <p:pic>
        <p:nvPicPr>
          <p:cNvPr id="8" name="Picture 7"/>
          <p:cNvPicPr>
            <a:picLocks noChangeAspect="1"/>
          </p:cNvPicPr>
          <p:nvPr/>
        </p:nvPicPr>
        <p:blipFill>
          <a:blip r:embed="rId13">
            <a:extLst>
              <a:ext uri="{BEBA8EAE-BF5A-486C-A8C5-ECC9F3942E4B}">
                <a14:imgProps xmlns:a14="http://schemas.microsoft.com/office/drawing/2010/main">
                  <a14:imgLayer r:embed="rId14">
                    <a14:imgEffect>
                      <a14:backgroundRemoval t="1429" b="96667" l="4149" r="95436">
                        <a14:foregroundMark x1="46473" y1="32381" x2="46473" y2="32381"/>
                        <a14:foregroundMark x1="50207" y1="55714" x2="50207" y2="55714"/>
                        <a14:foregroundMark x1="49793" y1="82381" x2="49793" y2="82381"/>
                      </a14:backgroundRemoval>
                    </a14:imgEffect>
                  </a14:imgLayer>
                </a14:imgProps>
              </a:ext>
            </a:extLst>
          </a:blip>
          <a:stretch>
            <a:fillRect/>
          </a:stretch>
        </p:blipFill>
        <p:spPr>
          <a:xfrm rot="13514630">
            <a:off x="11271544" y="-114294"/>
            <a:ext cx="1060407" cy="967777"/>
          </a:xfrm>
          <a:prstGeom prst="rect">
            <a:avLst/>
          </a:prstGeom>
        </p:spPr>
      </p:pic>
    </p:spTree>
    <p:extLst>
      <p:ext uri="{BB962C8B-B14F-4D97-AF65-F5344CB8AC3E}">
        <p14:creationId xmlns:p14="http://schemas.microsoft.com/office/powerpoint/2010/main" val="3435204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19333" y="2739237"/>
            <a:ext cx="7499489" cy="923330"/>
          </a:xfrm>
          <a:prstGeom prst="rect">
            <a:avLst/>
          </a:prstGeom>
        </p:spPr>
        <p:txBody>
          <a:bodyPr wrap="none">
            <a:spAutoFit/>
          </a:bodyPr>
          <a:lstStyle/>
          <a:p>
            <a:r>
              <a:rPr lang="en-GB" sz="5400" dirty="0">
                <a:solidFill>
                  <a:schemeClr val="bg1"/>
                </a:solidFill>
              </a:rPr>
              <a:t>Wireless Device Securities</a:t>
            </a:r>
          </a:p>
        </p:txBody>
      </p:sp>
    </p:spTree>
    <p:extLst>
      <p:ext uri="{BB962C8B-B14F-4D97-AF65-F5344CB8AC3E}">
        <p14:creationId xmlns:p14="http://schemas.microsoft.com/office/powerpoint/2010/main" val="1277593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34031" y="83123"/>
            <a:ext cx="5054269" cy="646331"/>
          </a:xfrm>
          <a:prstGeom prst="rect">
            <a:avLst/>
          </a:prstGeom>
        </p:spPr>
        <p:txBody>
          <a:bodyPr wrap="none">
            <a:spAutoFit/>
          </a:bodyPr>
          <a:lstStyle/>
          <a:p>
            <a:r>
              <a:rPr lang="en-GB" sz="3600" dirty="0">
                <a:solidFill>
                  <a:schemeClr val="bg1"/>
                </a:solidFill>
              </a:rPr>
              <a:t>Wireless Device Securities</a:t>
            </a:r>
          </a:p>
        </p:txBody>
      </p:sp>
      <p:sp>
        <p:nvSpPr>
          <p:cNvPr id="3" name="Rectangle 2">
            <a:extLst>
              <a:ext uri="{FF2B5EF4-FFF2-40B4-BE49-F238E27FC236}">
                <a16:creationId xmlns:a16="http://schemas.microsoft.com/office/drawing/2014/main" id="{3800A27A-B0C1-42AE-BC7B-38E2F33A427A}"/>
              </a:ext>
            </a:extLst>
          </p:cNvPr>
          <p:cNvSpPr/>
          <p:nvPr/>
        </p:nvSpPr>
        <p:spPr>
          <a:xfrm>
            <a:off x="1251284" y="1186787"/>
            <a:ext cx="9373656" cy="4969053"/>
          </a:xfrm>
          <a:prstGeom prst="rect">
            <a:avLst/>
          </a:prstGeom>
          <a:solidFill>
            <a:schemeClr val="accent1">
              <a:lumMod val="60000"/>
              <a:lumOff val="40000"/>
            </a:schemeClr>
          </a:solidFill>
        </p:spPr>
        <p:txBody>
          <a:bodyPr wrap="square">
            <a:spAutoFit/>
          </a:bodyPr>
          <a:lstStyle/>
          <a:p>
            <a:pPr fontAlgn="base">
              <a:lnSpc>
                <a:spcPct val="110000"/>
              </a:lnSpc>
              <a:spcBef>
                <a:spcPct val="20000"/>
              </a:spcBef>
              <a:spcAft>
                <a:spcPct val="0"/>
              </a:spcAft>
              <a:buClr>
                <a:schemeClr val="accent2">
                  <a:lumMod val="50000"/>
                </a:schemeClr>
              </a:buClr>
              <a:buSzPct val="75000"/>
            </a:pPr>
            <a:r>
              <a:rPr lang="en-US" altLang="en-US" sz="2000" b="1" dirty="0"/>
              <a:t>The approach that was taken was to implement a layered model to enhance the security procedures, the ability to separate each layer gave engineers the opportunity to investigate and mitigate fragilities of the movements of packets whether that be through the Ethernet or wireless.</a:t>
            </a:r>
          </a:p>
          <a:p>
            <a:pPr marL="457200" indent="-457200" fontAlgn="base">
              <a:lnSpc>
                <a:spcPct val="110000"/>
              </a:lnSpc>
              <a:spcBef>
                <a:spcPct val="20000"/>
              </a:spcBef>
              <a:spcAft>
                <a:spcPct val="0"/>
              </a:spcAft>
              <a:buClr>
                <a:schemeClr val="accent2">
                  <a:lumMod val="50000"/>
                </a:schemeClr>
              </a:buClr>
              <a:buSzPct val="75000"/>
              <a:buFont typeface="Arial" panose="020B0604020202020204" pitchFamily="34" charset="0"/>
              <a:buChar char="•"/>
            </a:pPr>
            <a:endParaRPr lang="en-US" altLang="en-US" sz="2000" b="1" dirty="0"/>
          </a:p>
          <a:p>
            <a:pPr marL="457200" indent="-457200" fontAlgn="base">
              <a:lnSpc>
                <a:spcPct val="110000"/>
              </a:lnSpc>
              <a:spcBef>
                <a:spcPct val="20000"/>
              </a:spcBef>
              <a:spcAft>
                <a:spcPct val="0"/>
              </a:spcAft>
              <a:buClr>
                <a:schemeClr val="accent2">
                  <a:lumMod val="50000"/>
                </a:schemeClr>
              </a:buClr>
              <a:buSzPct val="75000"/>
              <a:buFont typeface="Arial" panose="020B0604020202020204" pitchFamily="34" charset="0"/>
              <a:buChar char="•"/>
            </a:pPr>
            <a:r>
              <a:rPr lang="en-US" altLang="en-US" sz="2000" b="1" dirty="0"/>
              <a:t>Easier to teach communication process.</a:t>
            </a:r>
          </a:p>
          <a:p>
            <a:pPr marL="457200" indent="-457200" fontAlgn="base">
              <a:lnSpc>
                <a:spcPct val="110000"/>
              </a:lnSpc>
              <a:spcBef>
                <a:spcPct val="20000"/>
              </a:spcBef>
              <a:spcAft>
                <a:spcPct val="0"/>
              </a:spcAft>
              <a:buClr>
                <a:schemeClr val="accent2">
                  <a:lumMod val="50000"/>
                </a:schemeClr>
              </a:buClr>
              <a:buSzPct val="75000"/>
              <a:buFont typeface="Arial" panose="020B0604020202020204" pitchFamily="34" charset="0"/>
              <a:buChar char="•"/>
            </a:pPr>
            <a:r>
              <a:rPr lang="en-US" altLang="en-US" sz="2000" b="1" dirty="0"/>
              <a:t>Speeds development, changes in one layer does not affect how the other levels works.</a:t>
            </a:r>
          </a:p>
          <a:p>
            <a:pPr marL="457200" indent="-457200" fontAlgn="base">
              <a:lnSpc>
                <a:spcPct val="110000"/>
              </a:lnSpc>
              <a:spcBef>
                <a:spcPct val="20000"/>
              </a:spcBef>
              <a:spcAft>
                <a:spcPct val="0"/>
              </a:spcAft>
              <a:buClr>
                <a:schemeClr val="accent2">
                  <a:lumMod val="50000"/>
                </a:schemeClr>
              </a:buClr>
              <a:buSzPct val="75000"/>
              <a:buFont typeface="Arial" panose="020B0604020202020204" pitchFamily="34" charset="0"/>
              <a:buChar char="•"/>
            </a:pPr>
            <a:r>
              <a:rPr lang="en-US" altLang="en-US" sz="2000" b="1" dirty="0"/>
              <a:t>Standardization across manufactures.</a:t>
            </a:r>
          </a:p>
          <a:p>
            <a:pPr marL="457200" indent="-457200" fontAlgn="base">
              <a:lnSpc>
                <a:spcPct val="110000"/>
              </a:lnSpc>
              <a:spcBef>
                <a:spcPct val="20000"/>
              </a:spcBef>
              <a:spcAft>
                <a:spcPct val="0"/>
              </a:spcAft>
              <a:buClr>
                <a:schemeClr val="accent2">
                  <a:lumMod val="50000"/>
                </a:schemeClr>
              </a:buClr>
              <a:buSzPct val="75000"/>
              <a:buFont typeface="Arial" panose="020B0604020202020204" pitchFamily="34" charset="0"/>
              <a:buChar char="•"/>
            </a:pPr>
            <a:r>
              <a:rPr lang="en-US" altLang="en-US" sz="2000" b="1" dirty="0"/>
              <a:t>Allows different hardware and software to work together.</a:t>
            </a:r>
          </a:p>
          <a:p>
            <a:pPr marL="457200" indent="-457200" fontAlgn="base">
              <a:lnSpc>
                <a:spcPct val="110000"/>
              </a:lnSpc>
              <a:spcBef>
                <a:spcPct val="20000"/>
              </a:spcBef>
              <a:spcAft>
                <a:spcPct val="0"/>
              </a:spcAft>
              <a:buClr>
                <a:schemeClr val="accent2">
                  <a:lumMod val="50000"/>
                </a:schemeClr>
              </a:buClr>
              <a:buSzPct val="75000"/>
              <a:buFont typeface="Arial" panose="020B0604020202020204" pitchFamily="34" charset="0"/>
              <a:buChar char="•"/>
            </a:pPr>
            <a:r>
              <a:rPr lang="en-US" altLang="en-US" sz="2000" b="1" dirty="0"/>
              <a:t>Reduces complexity.</a:t>
            </a:r>
          </a:p>
          <a:p>
            <a:pPr marL="457200" indent="-457200" fontAlgn="base">
              <a:lnSpc>
                <a:spcPct val="110000"/>
              </a:lnSpc>
              <a:spcBef>
                <a:spcPct val="20000"/>
              </a:spcBef>
              <a:spcAft>
                <a:spcPct val="0"/>
              </a:spcAft>
              <a:buClr>
                <a:schemeClr val="accent2">
                  <a:lumMod val="50000"/>
                </a:schemeClr>
              </a:buClr>
              <a:buSzPct val="75000"/>
              <a:buFont typeface="Arial" panose="020B0604020202020204" pitchFamily="34" charset="0"/>
              <a:buChar char="•"/>
            </a:pPr>
            <a:endParaRPr lang="en-US" altLang="en-US" sz="2000" b="1" dirty="0"/>
          </a:p>
          <a:p>
            <a:pPr fontAlgn="base">
              <a:lnSpc>
                <a:spcPct val="110000"/>
              </a:lnSpc>
              <a:spcBef>
                <a:spcPct val="20000"/>
              </a:spcBef>
              <a:spcAft>
                <a:spcPct val="0"/>
              </a:spcAft>
              <a:buClr>
                <a:schemeClr val="accent2">
                  <a:lumMod val="50000"/>
                </a:schemeClr>
              </a:buClr>
              <a:buSzPct val="75000"/>
            </a:pPr>
            <a:r>
              <a:rPr lang="en-US" altLang="en-US" sz="2000" b="1" dirty="0"/>
              <a:t>The process the IEEE put in place was the OSI model.</a:t>
            </a:r>
          </a:p>
        </p:txBody>
      </p:sp>
    </p:spTree>
    <p:extLst>
      <p:ext uri="{BB962C8B-B14F-4D97-AF65-F5344CB8AC3E}">
        <p14:creationId xmlns:p14="http://schemas.microsoft.com/office/powerpoint/2010/main" val="2276924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13164" y="1446486"/>
            <a:ext cx="6096000" cy="400110"/>
          </a:xfrm>
          <a:prstGeom prst="rect">
            <a:avLst/>
          </a:prstGeom>
          <a:solidFill>
            <a:schemeClr val="accent1">
              <a:lumMod val="60000"/>
              <a:lumOff val="40000"/>
            </a:schemeClr>
          </a:solidFill>
        </p:spPr>
        <p:txBody>
          <a:bodyPr>
            <a:spAutoFit/>
          </a:bodyPr>
          <a:lstStyle/>
          <a:p>
            <a:pPr algn="ctr"/>
            <a:r>
              <a:rPr lang="en-GB" sz="2000" dirty="0"/>
              <a:t>Open System Interconnection Model(OSI) Upper Layers</a:t>
            </a:r>
          </a:p>
        </p:txBody>
      </p:sp>
      <p:sp>
        <p:nvSpPr>
          <p:cNvPr id="3" name="Rectangle 2"/>
          <p:cNvSpPr/>
          <p:nvPr/>
        </p:nvSpPr>
        <p:spPr>
          <a:xfrm>
            <a:off x="3534031" y="83123"/>
            <a:ext cx="5054269" cy="646331"/>
          </a:xfrm>
          <a:prstGeom prst="rect">
            <a:avLst/>
          </a:prstGeom>
        </p:spPr>
        <p:txBody>
          <a:bodyPr wrap="none">
            <a:spAutoFit/>
          </a:bodyPr>
          <a:lstStyle/>
          <a:p>
            <a:r>
              <a:rPr lang="en-GB" sz="3600" dirty="0">
                <a:solidFill>
                  <a:schemeClr val="bg1"/>
                </a:solidFill>
              </a:rPr>
              <a:t>Wireless Device Securities</a:t>
            </a:r>
          </a:p>
        </p:txBody>
      </p:sp>
      <p:pic>
        <p:nvPicPr>
          <p:cNvPr id="4" name="Picture 3"/>
          <p:cNvPicPr>
            <a:picLocks noChangeAspect="1"/>
          </p:cNvPicPr>
          <p:nvPr/>
        </p:nvPicPr>
        <p:blipFill>
          <a:blip r:embed="rId2"/>
          <a:stretch>
            <a:fillRect/>
          </a:stretch>
        </p:blipFill>
        <p:spPr>
          <a:xfrm>
            <a:off x="747782" y="2372041"/>
            <a:ext cx="6498899" cy="4029805"/>
          </a:xfrm>
          <a:prstGeom prst="rect">
            <a:avLst/>
          </a:prstGeom>
        </p:spPr>
      </p:pic>
      <p:sp>
        <p:nvSpPr>
          <p:cNvPr id="5" name="Rectangle 4"/>
          <p:cNvSpPr/>
          <p:nvPr/>
        </p:nvSpPr>
        <p:spPr>
          <a:xfrm>
            <a:off x="7620000" y="2372041"/>
            <a:ext cx="4119154" cy="2308324"/>
          </a:xfrm>
          <a:prstGeom prst="rect">
            <a:avLst/>
          </a:prstGeom>
          <a:solidFill>
            <a:schemeClr val="accent1">
              <a:lumMod val="40000"/>
              <a:lumOff val="60000"/>
            </a:schemeClr>
          </a:solidFill>
        </p:spPr>
        <p:txBody>
          <a:bodyPr wrap="square">
            <a:spAutoFit/>
          </a:bodyPr>
          <a:lstStyle/>
          <a:p>
            <a:r>
              <a:rPr lang="en-GB" dirty="0">
                <a:solidFill>
                  <a:srgbClr val="000000"/>
                </a:solidFill>
                <a:latin typeface="Palatino-Roman"/>
              </a:rPr>
              <a:t>The link layer is subdivided into two sub-layers: MAC (Medium Access Control) and LLC (Logical Link Control). LLC is defined in a separate standard 802.2 for all types of local networks. Its protocol manages the connection between sending and receiving computers.</a:t>
            </a:r>
            <a:endParaRPr lang="en-GB" dirty="0"/>
          </a:p>
        </p:txBody>
      </p:sp>
    </p:spTree>
    <p:extLst>
      <p:ext uri="{BB962C8B-B14F-4D97-AF65-F5344CB8AC3E}">
        <p14:creationId xmlns:p14="http://schemas.microsoft.com/office/powerpoint/2010/main" val="3787180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34031" y="83123"/>
            <a:ext cx="5054269" cy="646331"/>
          </a:xfrm>
          <a:prstGeom prst="rect">
            <a:avLst/>
          </a:prstGeom>
        </p:spPr>
        <p:txBody>
          <a:bodyPr wrap="none">
            <a:spAutoFit/>
          </a:bodyPr>
          <a:lstStyle/>
          <a:p>
            <a:r>
              <a:rPr lang="en-GB" sz="3600" dirty="0">
                <a:solidFill>
                  <a:schemeClr val="bg1"/>
                </a:solidFill>
              </a:rPr>
              <a:t>Wireless Device Securities</a:t>
            </a:r>
          </a:p>
        </p:txBody>
      </p:sp>
      <p:sp>
        <p:nvSpPr>
          <p:cNvPr id="3" name="Rectangle 2"/>
          <p:cNvSpPr/>
          <p:nvPr/>
        </p:nvSpPr>
        <p:spPr>
          <a:xfrm>
            <a:off x="2351313" y="1330123"/>
            <a:ext cx="7419703" cy="400110"/>
          </a:xfrm>
          <a:prstGeom prst="rect">
            <a:avLst/>
          </a:prstGeom>
          <a:solidFill>
            <a:schemeClr val="accent1">
              <a:lumMod val="60000"/>
              <a:lumOff val="40000"/>
            </a:schemeClr>
          </a:solidFill>
        </p:spPr>
        <p:txBody>
          <a:bodyPr wrap="square">
            <a:spAutoFit/>
          </a:bodyPr>
          <a:lstStyle/>
          <a:p>
            <a:pPr algn="ctr"/>
            <a:r>
              <a:rPr lang="en-GB" sz="2000" dirty="0"/>
              <a:t>Open System Interconnection Model(OSI) Lower Layers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888" y="2102718"/>
            <a:ext cx="6660644" cy="4385168"/>
          </a:xfrm>
          <a:prstGeom prst="rect">
            <a:avLst/>
          </a:prstGeom>
        </p:spPr>
      </p:pic>
      <p:sp>
        <p:nvSpPr>
          <p:cNvPr id="6" name="Rectangle 5"/>
          <p:cNvSpPr/>
          <p:nvPr/>
        </p:nvSpPr>
        <p:spPr>
          <a:xfrm>
            <a:off x="7428411" y="2102718"/>
            <a:ext cx="4545875" cy="3693319"/>
          </a:xfrm>
          <a:prstGeom prst="rect">
            <a:avLst/>
          </a:prstGeom>
          <a:solidFill>
            <a:schemeClr val="accent1">
              <a:lumMod val="40000"/>
              <a:lumOff val="60000"/>
            </a:schemeClr>
          </a:solidFill>
        </p:spPr>
        <p:txBody>
          <a:bodyPr wrap="square">
            <a:spAutoFit/>
          </a:bodyPr>
          <a:lstStyle/>
          <a:p>
            <a:r>
              <a:rPr lang="en-GB" dirty="0"/>
              <a:t>MAC ensures data packaging into so called MAC protocol data units (MPDU)and controls access to the carrier medium and the mode of operation, which has been defined in the physical layer. </a:t>
            </a:r>
          </a:p>
          <a:p>
            <a:endParaRPr lang="en-GB" dirty="0"/>
          </a:p>
          <a:p>
            <a:r>
              <a:rPr lang="en-GB" dirty="0"/>
              <a:t>The appropriate rules come into play, when several stations share the same carrier medium. The purpose of the MAC protocols is to avoid collisions and in consequence data loss. This could happen, if several stations within the same network try to send and receive data at the same time.</a:t>
            </a:r>
          </a:p>
        </p:txBody>
      </p:sp>
    </p:spTree>
    <p:extLst>
      <p:ext uri="{BB962C8B-B14F-4D97-AF65-F5344CB8AC3E}">
        <p14:creationId xmlns:p14="http://schemas.microsoft.com/office/powerpoint/2010/main" val="2323193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95399" y="1593668"/>
            <a:ext cx="9531531" cy="3816429"/>
          </a:xfrm>
          <a:prstGeom prst="rect">
            <a:avLst/>
          </a:prstGeom>
          <a:solidFill>
            <a:schemeClr val="accent1">
              <a:lumMod val="60000"/>
              <a:lumOff val="40000"/>
            </a:schemeClr>
          </a:solidFill>
        </p:spPr>
        <p:txBody>
          <a:bodyPr wrap="square">
            <a:spAutoFit/>
          </a:bodyPr>
          <a:lstStyle/>
          <a:p>
            <a:endParaRPr lang="en-GB" dirty="0"/>
          </a:p>
          <a:p>
            <a:r>
              <a:rPr lang="en-GB" sz="2800" dirty="0"/>
              <a:t>Wireless devices that can be vulnerable to attack can include;</a:t>
            </a:r>
          </a:p>
          <a:p>
            <a:endParaRPr lang="en-GB" sz="2800" dirty="0"/>
          </a:p>
          <a:p>
            <a:pPr marL="285750" indent="-285750">
              <a:buFont typeface="Arial" panose="020B0604020202020204" pitchFamily="34" charset="0"/>
              <a:buChar char="•"/>
            </a:pPr>
            <a:r>
              <a:rPr lang="en-GB" sz="2800" dirty="0"/>
              <a:t>WLAN</a:t>
            </a:r>
          </a:p>
          <a:p>
            <a:pPr marL="285750" indent="-285750">
              <a:buFont typeface="Arial" panose="020B0604020202020204" pitchFamily="34" charset="0"/>
              <a:buChar char="•"/>
            </a:pPr>
            <a:r>
              <a:rPr lang="en-GB" sz="2800" dirty="0"/>
              <a:t>Mobile Phones</a:t>
            </a:r>
          </a:p>
          <a:p>
            <a:pPr marL="285750" indent="-285750">
              <a:buFont typeface="Arial" panose="020B0604020202020204" pitchFamily="34" charset="0"/>
              <a:buChar char="•"/>
            </a:pPr>
            <a:r>
              <a:rPr lang="en-GB" sz="2800" dirty="0"/>
              <a:t>Bluetooth</a:t>
            </a:r>
          </a:p>
          <a:p>
            <a:pPr marL="285750" indent="-285750">
              <a:buFont typeface="Arial" panose="020B0604020202020204" pitchFamily="34" charset="0"/>
              <a:buChar char="•"/>
            </a:pPr>
            <a:r>
              <a:rPr lang="en-GB" sz="2800" dirty="0"/>
              <a:t>Infrared</a:t>
            </a:r>
          </a:p>
          <a:p>
            <a:pPr marL="285750" indent="-285750">
              <a:buFont typeface="Arial" panose="020B0604020202020204" pitchFamily="34" charset="0"/>
              <a:buChar char="•"/>
            </a:pPr>
            <a:r>
              <a:rPr lang="en-GB" sz="2800" dirty="0"/>
              <a:t>Near Field Communication</a:t>
            </a:r>
          </a:p>
          <a:p>
            <a:endParaRPr lang="en-GB" sz="2800" b="1" dirty="0"/>
          </a:p>
        </p:txBody>
      </p:sp>
      <p:sp>
        <p:nvSpPr>
          <p:cNvPr id="3" name="Rectangle 2"/>
          <p:cNvSpPr/>
          <p:nvPr/>
        </p:nvSpPr>
        <p:spPr>
          <a:xfrm>
            <a:off x="3534031" y="83123"/>
            <a:ext cx="5054269" cy="646331"/>
          </a:xfrm>
          <a:prstGeom prst="rect">
            <a:avLst/>
          </a:prstGeom>
        </p:spPr>
        <p:txBody>
          <a:bodyPr wrap="none">
            <a:spAutoFit/>
          </a:bodyPr>
          <a:lstStyle/>
          <a:p>
            <a:r>
              <a:rPr lang="en-GB" sz="3600" dirty="0">
                <a:solidFill>
                  <a:schemeClr val="bg1"/>
                </a:solidFill>
              </a:rPr>
              <a:t>Wireless Device Securities</a:t>
            </a:r>
          </a:p>
        </p:txBody>
      </p:sp>
    </p:spTree>
    <p:extLst>
      <p:ext uri="{BB962C8B-B14F-4D97-AF65-F5344CB8AC3E}">
        <p14:creationId xmlns:p14="http://schemas.microsoft.com/office/powerpoint/2010/main" val="837540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34031" y="83123"/>
            <a:ext cx="5054269" cy="646331"/>
          </a:xfrm>
          <a:prstGeom prst="rect">
            <a:avLst/>
          </a:prstGeom>
        </p:spPr>
        <p:txBody>
          <a:bodyPr wrap="none">
            <a:spAutoFit/>
          </a:bodyPr>
          <a:lstStyle/>
          <a:p>
            <a:r>
              <a:rPr lang="en-GB" sz="3600" dirty="0">
                <a:solidFill>
                  <a:schemeClr val="bg1"/>
                </a:solidFill>
              </a:rPr>
              <a:t>Wireless Device Securities</a:t>
            </a:r>
          </a:p>
        </p:txBody>
      </p:sp>
      <p:sp>
        <p:nvSpPr>
          <p:cNvPr id="3" name="Rectangle 2"/>
          <p:cNvSpPr/>
          <p:nvPr/>
        </p:nvSpPr>
        <p:spPr>
          <a:xfrm>
            <a:off x="992777" y="1102390"/>
            <a:ext cx="10136776" cy="5078313"/>
          </a:xfrm>
          <a:prstGeom prst="rect">
            <a:avLst/>
          </a:prstGeom>
          <a:solidFill>
            <a:schemeClr val="accent1">
              <a:lumMod val="60000"/>
              <a:lumOff val="40000"/>
            </a:schemeClr>
          </a:solidFill>
        </p:spPr>
        <p:txBody>
          <a:bodyPr wrap="square">
            <a:spAutoFit/>
          </a:bodyPr>
          <a:lstStyle/>
          <a:p>
            <a:r>
              <a:rPr lang="en-GB" sz="2400" dirty="0">
                <a:latin typeface="ArialMT"/>
              </a:rPr>
              <a:t>WEP</a:t>
            </a:r>
          </a:p>
          <a:p>
            <a:endParaRPr lang="en-GB" sz="2000" dirty="0">
              <a:solidFill>
                <a:prstClr val="black"/>
              </a:solidFill>
            </a:endParaRPr>
          </a:p>
          <a:p>
            <a:r>
              <a:rPr lang="en-GB" sz="2000" dirty="0">
                <a:solidFill>
                  <a:prstClr val="black"/>
                </a:solidFill>
              </a:rPr>
              <a:t>Wireless encryption uses security standards which started with the Wired Equivalent Privacy (WEP) standard. </a:t>
            </a:r>
          </a:p>
          <a:p>
            <a:endParaRPr lang="en-GB" sz="2000" dirty="0">
              <a:solidFill>
                <a:prstClr val="black"/>
              </a:solidFill>
            </a:endParaRPr>
          </a:p>
          <a:p>
            <a:r>
              <a:rPr lang="en-GB" sz="2000" dirty="0">
                <a:solidFill>
                  <a:prstClr val="black"/>
                </a:solidFill>
              </a:rPr>
              <a:t>This encryption method was introduced in 1999 as part of the 802.11b standard to provide secure wireless communications using the RC4 stream cipher system from RSA. WEP uses a symmetric encryption scheme where a shared key is used for both encryption and</a:t>
            </a:r>
          </a:p>
          <a:p>
            <a:r>
              <a:rPr lang="en-GB" sz="2000" dirty="0">
                <a:solidFill>
                  <a:prstClr val="black"/>
                </a:solidFill>
              </a:rPr>
              <a:t>decryption. </a:t>
            </a:r>
          </a:p>
          <a:p>
            <a:endParaRPr lang="en-GB" sz="2000" dirty="0">
              <a:solidFill>
                <a:prstClr val="black"/>
              </a:solidFill>
            </a:endParaRPr>
          </a:p>
          <a:p>
            <a:r>
              <a:rPr lang="en-GB" sz="2000" dirty="0">
                <a:solidFill>
                  <a:prstClr val="black"/>
                </a:solidFill>
              </a:rPr>
              <a:t>It was, however, quickly breached and anyone intercepting and monitoring the wireless traffic could easily break the encryption using a brute force attack with tools such as Airsnort and WEPCrack.</a:t>
            </a:r>
          </a:p>
          <a:p>
            <a:endParaRPr lang="en-GB" sz="2000" dirty="0">
              <a:solidFill>
                <a:prstClr val="black"/>
              </a:solidFill>
            </a:endParaRPr>
          </a:p>
          <a:p>
            <a:r>
              <a:rPr lang="en-GB" sz="2000" dirty="0">
                <a:solidFill>
                  <a:prstClr val="black"/>
                </a:solidFill>
              </a:rPr>
              <a:t>WEP is inadequate for protecting wireless networks and that organisations should deploy stronger encryption protocols such as Temporal Key Integrity Protocol (TKIP)</a:t>
            </a:r>
          </a:p>
        </p:txBody>
      </p:sp>
    </p:spTree>
    <p:extLst>
      <p:ext uri="{BB962C8B-B14F-4D97-AF65-F5344CB8AC3E}">
        <p14:creationId xmlns:p14="http://schemas.microsoft.com/office/powerpoint/2010/main" val="3772140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5953" y="1343021"/>
            <a:ext cx="9370423" cy="4093428"/>
          </a:xfrm>
          <a:prstGeom prst="rect">
            <a:avLst/>
          </a:prstGeom>
          <a:solidFill>
            <a:schemeClr val="accent1">
              <a:lumMod val="60000"/>
              <a:lumOff val="40000"/>
            </a:schemeClr>
          </a:solidFill>
        </p:spPr>
        <p:txBody>
          <a:bodyPr wrap="square">
            <a:spAutoFit/>
          </a:bodyPr>
          <a:lstStyle/>
          <a:p>
            <a:r>
              <a:rPr lang="en-GB" sz="2400" dirty="0">
                <a:latin typeface="ArialMT"/>
              </a:rPr>
              <a:t>Wi-Fi Protected Access(WPA)</a:t>
            </a:r>
          </a:p>
          <a:p>
            <a:endParaRPr lang="en-GB" dirty="0">
              <a:latin typeface="ArialMT"/>
            </a:endParaRPr>
          </a:p>
          <a:p>
            <a:r>
              <a:rPr lang="en-GB" sz="2000" dirty="0">
                <a:solidFill>
                  <a:prstClr val="black"/>
                </a:solidFill>
              </a:rPr>
              <a:t>A solution had to be found to improve the securities of the flawed WEP structure. Although WEP worked fine if there were no hackers, increased security was needed to protect WiFi systems.</a:t>
            </a:r>
          </a:p>
          <a:p>
            <a:endParaRPr lang="en-GB" sz="2000" dirty="0">
              <a:solidFill>
                <a:prstClr val="black"/>
              </a:solidFill>
            </a:endParaRPr>
          </a:p>
          <a:p>
            <a:r>
              <a:rPr lang="en-GB" sz="2000" dirty="0">
                <a:solidFill>
                  <a:prstClr val="black"/>
                </a:solidFill>
              </a:rPr>
              <a:t>A new scheme was developed under the control of the WiFi alliance, amendments were made to the IEEE 802.11i standard the key difference was the use of Temporal Key Integrity Protocol, creating a more rigorous security that could perform packet key mixing.</a:t>
            </a:r>
          </a:p>
          <a:p>
            <a:endParaRPr lang="en-GB" sz="2000" dirty="0">
              <a:solidFill>
                <a:prstClr val="black"/>
              </a:solidFill>
            </a:endParaRPr>
          </a:p>
          <a:p>
            <a:r>
              <a:rPr lang="en-GB" sz="2000" dirty="0">
                <a:solidFill>
                  <a:prstClr val="black"/>
                </a:solidFill>
              </a:rPr>
              <a:t>This enhanced the encryption method used in the previous weak WEP.</a:t>
            </a:r>
          </a:p>
          <a:p>
            <a:r>
              <a:rPr lang="en-GB" dirty="0">
                <a:latin typeface="ArialMT"/>
              </a:rPr>
              <a:t> </a:t>
            </a:r>
          </a:p>
        </p:txBody>
      </p:sp>
      <p:sp>
        <p:nvSpPr>
          <p:cNvPr id="3" name="Rectangle 2"/>
          <p:cNvSpPr/>
          <p:nvPr/>
        </p:nvSpPr>
        <p:spPr>
          <a:xfrm>
            <a:off x="3534031" y="83123"/>
            <a:ext cx="5054269" cy="646331"/>
          </a:xfrm>
          <a:prstGeom prst="rect">
            <a:avLst/>
          </a:prstGeom>
        </p:spPr>
        <p:txBody>
          <a:bodyPr wrap="none">
            <a:spAutoFit/>
          </a:bodyPr>
          <a:lstStyle/>
          <a:p>
            <a:r>
              <a:rPr lang="en-GB" sz="3600" dirty="0">
                <a:solidFill>
                  <a:schemeClr val="bg1"/>
                </a:solidFill>
              </a:rPr>
              <a:t>Wireless Device Securities</a:t>
            </a:r>
          </a:p>
        </p:txBody>
      </p:sp>
    </p:spTree>
    <p:extLst>
      <p:ext uri="{BB962C8B-B14F-4D97-AF65-F5344CB8AC3E}">
        <p14:creationId xmlns:p14="http://schemas.microsoft.com/office/powerpoint/2010/main" val="2234025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8382" y="1439273"/>
            <a:ext cx="5762783" cy="5139869"/>
          </a:xfrm>
          <a:prstGeom prst="rect">
            <a:avLst/>
          </a:prstGeom>
          <a:solidFill>
            <a:schemeClr val="accent1">
              <a:lumMod val="60000"/>
              <a:lumOff val="40000"/>
            </a:schemeClr>
          </a:solidFill>
        </p:spPr>
        <p:txBody>
          <a:bodyPr wrap="square">
            <a:spAutoFit/>
          </a:bodyPr>
          <a:lstStyle/>
          <a:p>
            <a:r>
              <a:rPr lang="en-GB" sz="2400" dirty="0">
                <a:latin typeface="ArialMT"/>
              </a:rPr>
              <a:t>Wi-Fi Protected Access2(WPA2)</a:t>
            </a:r>
          </a:p>
          <a:p>
            <a:endParaRPr lang="en-GB" sz="2400" dirty="0">
              <a:latin typeface="ArialMT"/>
            </a:endParaRPr>
          </a:p>
          <a:p>
            <a:r>
              <a:rPr lang="en-GB" sz="2000" dirty="0">
                <a:solidFill>
                  <a:prstClr val="black"/>
                </a:solidFill>
              </a:rPr>
              <a:t>The WPA2 scheme for Wi-Fi network security has now superseded the basic WPA or WPAv1 scheme. WPA2 implements the mandatory elements of IEEE 802.11i. In particular, it introduces Cipher-block Chaining Message (CCMP), a new AES-based encryption mode with strong security.</a:t>
            </a:r>
          </a:p>
          <a:p>
            <a:endParaRPr lang="en-GB" sz="2000" dirty="0">
              <a:solidFill>
                <a:prstClr val="black"/>
              </a:solidFill>
            </a:endParaRPr>
          </a:p>
          <a:p>
            <a:r>
              <a:rPr lang="en-GB" sz="2000" dirty="0">
                <a:solidFill>
                  <a:prstClr val="black"/>
                </a:solidFill>
              </a:rPr>
              <a:t>Certification for WPA2 began in September, 2004 and now it is mandatory for all new devices that bear the Wi-Fi trademark.</a:t>
            </a:r>
          </a:p>
          <a:p>
            <a:endParaRPr lang="en-GB" sz="2000" dirty="0">
              <a:solidFill>
                <a:prstClr val="black"/>
              </a:solidFill>
            </a:endParaRPr>
          </a:p>
          <a:p>
            <a:r>
              <a:rPr lang="en-GB" sz="2000" dirty="0">
                <a:solidFill>
                  <a:prstClr val="black"/>
                </a:solidFill>
              </a:rPr>
              <a:t>Advance Encryption Standard(AES) uses a 128bit key to encrypt data in 128 blocks. The 128 data blocks can use cypher keys of 128, 192 and 256 bits.</a:t>
            </a:r>
          </a:p>
        </p:txBody>
      </p:sp>
      <p:sp>
        <p:nvSpPr>
          <p:cNvPr id="3" name="Rectangle 2"/>
          <p:cNvSpPr/>
          <p:nvPr/>
        </p:nvSpPr>
        <p:spPr>
          <a:xfrm>
            <a:off x="3534031" y="83123"/>
            <a:ext cx="5054269" cy="646331"/>
          </a:xfrm>
          <a:prstGeom prst="rect">
            <a:avLst/>
          </a:prstGeom>
        </p:spPr>
        <p:txBody>
          <a:bodyPr wrap="none">
            <a:spAutoFit/>
          </a:bodyPr>
          <a:lstStyle/>
          <a:p>
            <a:r>
              <a:rPr lang="en-GB" sz="3600" dirty="0">
                <a:solidFill>
                  <a:schemeClr val="bg1"/>
                </a:solidFill>
              </a:rPr>
              <a:t>Wireless Device Securities</a:t>
            </a:r>
          </a:p>
        </p:txBody>
      </p:sp>
      <p:pic>
        <p:nvPicPr>
          <p:cNvPr id="4" name="Picture 3"/>
          <p:cNvPicPr>
            <a:picLocks noChangeAspect="1"/>
          </p:cNvPicPr>
          <p:nvPr/>
        </p:nvPicPr>
        <p:blipFill>
          <a:blip r:embed="rId2"/>
          <a:stretch>
            <a:fillRect/>
          </a:stretch>
        </p:blipFill>
        <p:spPr>
          <a:xfrm>
            <a:off x="5884701" y="1187115"/>
            <a:ext cx="5845462" cy="3765884"/>
          </a:xfrm>
          <a:prstGeom prst="rect">
            <a:avLst/>
          </a:prstGeom>
        </p:spPr>
      </p:pic>
    </p:spTree>
    <p:extLst>
      <p:ext uri="{BB962C8B-B14F-4D97-AF65-F5344CB8AC3E}">
        <p14:creationId xmlns:p14="http://schemas.microsoft.com/office/powerpoint/2010/main" val="3080855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34031" y="83123"/>
            <a:ext cx="5054269" cy="646331"/>
          </a:xfrm>
          <a:prstGeom prst="rect">
            <a:avLst/>
          </a:prstGeom>
        </p:spPr>
        <p:txBody>
          <a:bodyPr wrap="none">
            <a:spAutoFit/>
          </a:bodyPr>
          <a:lstStyle/>
          <a:p>
            <a:r>
              <a:rPr lang="en-GB" sz="3600" dirty="0">
                <a:solidFill>
                  <a:schemeClr val="bg1"/>
                </a:solidFill>
              </a:rPr>
              <a:t>Wireless Device Securities</a:t>
            </a:r>
          </a:p>
        </p:txBody>
      </p:sp>
      <p:sp>
        <p:nvSpPr>
          <p:cNvPr id="3" name="Rectangle 2"/>
          <p:cNvSpPr/>
          <p:nvPr/>
        </p:nvSpPr>
        <p:spPr>
          <a:xfrm>
            <a:off x="1090863" y="1219542"/>
            <a:ext cx="9593179" cy="4893647"/>
          </a:xfrm>
          <a:prstGeom prst="rect">
            <a:avLst/>
          </a:prstGeom>
          <a:solidFill>
            <a:schemeClr val="accent1">
              <a:lumMod val="60000"/>
              <a:lumOff val="40000"/>
            </a:schemeClr>
          </a:solidFill>
        </p:spPr>
        <p:txBody>
          <a:bodyPr wrap="square">
            <a:spAutoFit/>
          </a:bodyPr>
          <a:lstStyle/>
          <a:p>
            <a:pPr lvl="0"/>
            <a:r>
              <a:rPr lang="en-GB" sz="2400" dirty="0">
                <a:solidFill>
                  <a:prstClr val="black"/>
                </a:solidFill>
                <a:latin typeface="ArialMT"/>
              </a:rPr>
              <a:t>Wireless networks receive more attention due to the deficiency of physical hurdles but wired equivalent also has breaches in its defences.</a:t>
            </a:r>
          </a:p>
          <a:p>
            <a:pPr lvl="0"/>
            <a:endParaRPr lang="en-GB" sz="2400" dirty="0">
              <a:solidFill>
                <a:prstClr val="black"/>
              </a:solidFill>
              <a:latin typeface="ArialMT"/>
            </a:endParaRPr>
          </a:p>
          <a:p>
            <a:pPr lvl="0"/>
            <a:r>
              <a:rPr lang="en-GB" sz="2400" dirty="0">
                <a:solidFill>
                  <a:prstClr val="black"/>
                </a:solidFill>
                <a:latin typeface="ArialMT"/>
              </a:rPr>
              <a:t>A wireless access point will always be controlled by its wired equivalent, even large WiFi masts will still be connected to a physical area.</a:t>
            </a:r>
          </a:p>
          <a:p>
            <a:pPr lvl="0"/>
            <a:endParaRPr lang="en-GB" sz="2400" dirty="0">
              <a:solidFill>
                <a:prstClr val="black"/>
              </a:solidFill>
              <a:latin typeface="ArialMT"/>
            </a:endParaRPr>
          </a:p>
          <a:p>
            <a:pPr lvl="0"/>
            <a:r>
              <a:rPr lang="en-GB" sz="2400" dirty="0">
                <a:solidFill>
                  <a:prstClr val="black"/>
                </a:solidFill>
                <a:latin typeface="ArialMT"/>
              </a:rPr>
              <a:t>Both sections must be equally secured to prevent any kind of malicious attacks.</a:t>
            </a:r>
          </a:p>
          <a:p>
            <a:pPr lvl="0"/>
            <a:endParaRPr lang="en-GB" sz="2400" dirty="0">
              <a:solidFill>
                <a:prstClr val="black"/>
              </a:solidFill>
              <a:latin typeface="ArialMT"/>
            </a:endParaRPr>
          </a:p>
          <a:p>
            <a:pPr lvl="0"/>
            <a:r>
              <a:rPr lang="en-GB" sz="2400" dirty="0">
                <a:solidFill>
                  <a:prstClr val="black"/>
                </a:solidFill>
                <a:latin typeface="ArialMT"/>
              </a:rPr>
              <a:t>Mitigating a breach of data loss during transmission is what the security administrator endeavours for in modern day systems.</a:t>
            </a:r>
            <a:endParaRPr lang="en-GB" sz="2000" dirty="0">
              <a:solidFill>
                <a:prstClr val="black"/>
              </a:solidFill>
            </a:endParaRPr>
          </a:p>
        </p:txBody>
      </p:sp>
    </p:spTree>
    <p:extLst>
      <p:ext uri="{BB962C8B-B14F-4D97-AF65-F5344CB8AC3E}">
        <p14:creationId xmlns:p14="http://schemas.microsoft.com/office/powerpoint/2010/main" val="932320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34031" y="83123"/>
            <a:ext cx="5054269" cy="646331"/>
          </a:xfrm>
          <a:prstGeom prst="rect">
            <a:avLst/>
          </a:prstGeom>
        </p:spPr>
        <p:txBody>
          <a:bodyPr wrap="none">
            <a:spAutoFit/>
          </a:bodyPr>
          <a:lstStyle/>
          <a:p>
            <a:r>
              <a:rPr lang="en-GB" sz="3600" dirty="0">
                <a:solidFill>
                  <a:schemeClr val="bg1"/>
                </a:solidFill>
              </a:rPr>
              <a:t>Wireless Device Securities</a:t>
            </a:r>
          </a:p>
        </p:txBody>
      </p:sp>
      <p:sp>
        <p:nvSpPr>
          <p:cNvPr id="4" name="Rectangle 3"/>
          <p:cNvSpPr/>
          <p:nvPr/>
        </p:nvSpPr>
        <p:spPr>
          <a:xfrm>
            <a:off x="1328744" y="1206038"/>
            <a:ext cx="9464842" cy="4832092"/>
          </a:xfrm>
          <a:prstGeom prst="rect">
            <a:avLst/>
          </a:prstGeom>
          <a:solidFill>
            <a:schemeClr val="accent1">
              <a:lumMod val="60000"/>
              <a:lumOff val="40000"/>
            </a:schemeClr>
          </a:solidFill>
        </p:spPr>
        <p:txBody>
          <a:bodyPr wrap="square">
            <a:spAutoFit/>
          </a:bodyPr>
          <a:lstStyle/>
          <a:p>
            <a:pPr lvl="0"/>
            <a:r>
              <a:rPr lang="en-GB" sz="2400" dirty="0">
                <a:solidFill>
                  <a:prstClr val="black"/>
                </a:solidFill>
                <a:latin typeface="ArialMT"/>
              </a:rPr>
              <a:t>IEEE 802.3</a:t>
            </a:r>
          </a:p>
          <a:p>
            <a:pPr lvl="0"/>
            <a:endParaRPr lang="en-GB" sz="2400" dirty="0">
              <a:solidFill>
                <a:prstClr val="black"/>
              </a:solidFill>
              <a:latin typeface="ArialMT"/>
            </a:endParaRPr>
          </a:p>
          <a:p>
            <a:pPr lvl="0"/>
            <a:r>
              <a:rPr lang="en-GB" sz="2400" dirty="0">
                <a:solidFill>
                  <a:prstClr val="black"/>
                </a:solidFill>
                <a:latin typeface="ArialMT"/>
              </a:rPr>
              <a:t>Physical Security:</a:t>
            </a:r>
          </a:p>
          <a:p>
            <a:pPr lvl="0"/>
            <a:endParaRPr lang="en-GB" sz="2400" dirty="0">
              <a:solidFill>
                <a:prstClr val="black"/>
              </a:solidFill>
              <a:latin typeface="ArialMT"/>
            </a:endParaRPr>
          </a:p>
          <a:p>
            <a:pPr marL="342900" lvl="0" indent="-342900">
              <a:buFont typeface="Arial" panose="020B0604020202020204" pitchFamily="34" charset="0"/>
              <a:buChar char="•"/>
            </a:pPr>
            <a:r>
              <a:rPr lang="en-GB" sz="2400" dirty="0">
                <a:solidFill>
                  <a:prstClr val="black"/>
                </a:solidFill>
                <a:latin typeface="ArialMT"/>
              </a:rPr>
              <a:t>Port control and access prevention</a:t>
            </a:r>
          </a:p>
          <a:p>
            <a:pPr marL="342900" lvl="0" indent="-342900">
              <a:buFont typeface="Arial" panose="020B0604020202020204" pitchFamily="34" charset="0"/>
              <a:buChar char="•"/>
            </a:pPr>
            <a:r>
              <a:rPr lang="en-GB" sz="2400" dirty="0">
                <a:solidFill>
                  <a:prstClr val="black"/>
                </a:solidFill>
                <a:latin typeface="ArialMT"/>
              </a:rPr>
              <a:t>Secured ports to assigned MAC addresses</a:t>
            </a:r>
          </a:p>
          <a:p>
            <a:pPr marL="342900" lvl="0" indent="-342900">
              <a:buFont typeface="Arial" panose="020B0604020202020204" pitchFamily="34" charset="0"/>
              <a:buChar char="•"/>
            </a:pPr>
            <a:r>
              <a:rPr lang="en-GB" sz="2400" dirty="0">
                <a:solidFill>
                  <a:prstClr val="black"/>
                </a:solidFill>
                <a:latin typeface="ArialMT"/>
              </a:rPr>
              <a:t>Physical security of all network hardware, routers, switches, servers etc….</a:t>
            </a:r>
          </a:p>
          <a:p>
            <a:pPr marL="342900" lvl="0" indent="-342900">
              <a:buFont typeface="Arial" panose="020B0604020202020204" pitchFamily="34" charset="0"/>
              <a:buChar char="•"/>
            </a:pPr>
            <a:r>
              <a:rPr lang="en-GB" sz="2400" dirty="0">
                <a:solidFill>
                  <a:prstClr val="black"/>
                </a:solidFill>
                <a:latin typeface="ArialMT"/>
              </a:rPr>
              <a:t>Perform an auditing map( understand what hardware is running at what time. Should it be running at that time?</a:t>
            </a:r>
          </a:p>
          <a:p>
            <a:pPr marL="342900" lvl="0" indent="-342900">
              <a:buFont typeface="Arial" panose="020B0604020202020204" pitchFamily="34" charset="0"/>
              <a:buChar char="•"/>
            </a:pPr>
            <a:r>
              <a:rPr lang="en-GB" sz="2400" dirty="0">
                <a:solidFill>
                  <a:prstClr val="black"/>
                </a:solidFill>
                <a:latin typeface="ArialMT"/>
              </a:rPr>
              <a:t>Controlled patch and software updates</a:t>
            </a:r>
          </a:p>
          <a:p>
            <a:pPr marL="342900" lvl="0" indent="-342900">
              <a:buFont typeface="Arial" panose="020B0604020202020204" pitchFamily="34" charset="0"/>
              <a:buChar char="•"/>
            </a:pPr>
            <a:r>
              <a:rPr lang="en-GB" sz="2400" dirty="0">
                <a:solidFill>
                  <a:prstClr val="black"/>
                </a:solidFill>
                <a:latin typeface="ArialMT"/>
              </a:rPr>
              <a:t>Personnel access control</a:t>
            </a:r>
          </a:p>
          <a:p>
            <a:pPr marL="342900" lvl="0" indent="-342900">
              <a:buFont typeface="Arial" panose="020B0604020202020204" pitchFamily="34" charset="0"/>
              <a:buChar char="•"/>
            </a:pPr>
            <a:endParaRPr lang="en-GB" sz="2000" dirty="0">
              <a:solidFill>
                <a:prstClr val="black"/>
              </a:solidFill>
            </a:endParaRPr>
          </a:p>
        </p:txBody>
      </p:sp>
    </p:spTree>
    <p:extLst>
      <p:ext uri="{BB962C8B-B14F-4D97-AF65-F5344CB8AC3E}">
        <p14:creationId xmlns:p14="http://schemas.microsoft.com/office/powerpoint/2010/main" val="1273857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34031" y="83123"/>
            <a:ext cx="5054269" cy="646331"/>
          </a:xfrm>
          <a:prstGeom prst="rect">
            <a:avLst/>
          </a:prstGeom>
        </p:spPr>
        <p:txBody>
          <a:bodyPr wrap="none">
            <a:spAutoFit/>
          </a:bodyPr>
          <a:lstStyle/>
          <a:p>
            <a:r>
              <a:rPr lang="en-GB" sz="3600" dirty="0">
                <a:solidFill>
                  <a:schemeClr val="bg1"/>
                </a:solidFill>
              </a:rPr>
              <a:t>Wireless Device Securities</a:t>
            </a:r>
          </a:p>
        </p:txBody>
      </p:sp>
      <p:sp>
        <p:nvSpPr>
          <p:cNvPr id="3" name="Rectangle 2"/>
          <p:cNvSpPr/>
          <p:nvPr/>
        </p:nvSpPr>
        <p:spPr>
          <a:xfrm>
            <a:off x="1328744" y="1366458"/>
            <a:ext cx="9464842" cy="5139869"/>
          </a:xfrm>
          <a:prstGeom prst="rect">
            <a:avLst/>
          </a:prstGeom>
          <a:solidFill>
            <a:schemeClr val="accent1">
              <a:lumMod val="60000"/>
              <a:lumOff val="40000"/>
            </a:schemeClr>
          </a:solidFill>
        </p:spPr>
        <p:txBody>
          <a:bodyPr wrap="square">
            <a:spAutoFit/>
          </a:bodyPr>
          <a:lstStyle/>
          <a:p>
            <a:pPr lvl="0"/>
            <a:r>
              <a:rPr lang="en-GB" sz="2400" dirty="0">
                <a:solidFill>
                  <a:prstClr val="black"/>
                </a:solidFill>
                <a:latin typeface="ArialMT"/>
              </a:rPr>
              <a:t>IEEE</a:t>
            </a:r>
            <a:r>
              <a:rPr lang="en-GB" sz="2000" dirty="0">
                <a:solidFill>
                  <a:prstClr val="black"/>
                </a:solidFill>
              </a:rPr>
              <a:t> </a:t>
            </a:r>
            <a:r>
              <a:rPr lang="en-GB" sz="2800" dirty="0">
                <a:solidFill>
                  <a:prstClr val="black"/>
                </a:solidFill>
              </a:rPr>
              <a:t>802.11</a:t>
            </a:r>
            <a:r>
              <a:rPr lang="en-GB" sz="2000" dirty="0">
                <a:solidFill>
                  <a:prstClr val="black"/>
                </a:solidFill>
              </a:rPr>
              <a:t> </a:t>
            </a:r>
            <a:r>
              <a:rPr lang="en-GB" sz="2400" dirty="0">
                <a:solidFill>
                  <a:prstClr val="black"/>
                </a:solidFill>
                <a:latin typeface="ArialMT"/>
              </a:rPr>
              <a:t>Wireless</a:t>
            </a:r>
            <a:r>
              <a:rPr lang="en-GB" sz="2000" dirty="0">
                <a:solidFill>
                  <a:prstClr val="black"/>
                </a:solidFill>
              </a:rPr>
              <a:t> </a:t>
            </a:r>
            <a:r>
              <a:rPr lang="en-GB" sz="2400" dirty="0">
                <a:solidFill>
                  <a:prstClr val="black"/>
                </a:solidFill>
                <a:latin typeface="ArialMT"/>
              </a:rPr>
              <a:t>Security</a:t>
            </a:r>
          </a:p>
          <a:p>
            <a:pPr lvl="0"/>
            <a:endParaRPr lang="en-GB" sz="2400" dirty="0">
              <a:solidFill>
                <a:prstClr val="black"/>
              </a:solidFill>
              <a:latin typeface="ArialMT"/>
            </a:endParaRPr>
          </a:p>
          <a:p>
            <a:pPr lvl="0"/>
            <a:r>
              <a:rPr lang="en-GB" sz="2400" dirty="0">
                <a:solidFill>
                  <a:prstClr val="black"/>
                </a:solidFill>
                <a:latin typeface="ArialMT"/>
              </a:rPr>
              <a:t>Piggybacking. If you fail to secure your wireless network, anyone with a wireless-enabled computer in range of your access point can use your connection</a:t>
            </a:r>
          </a:p>
          <a:p>
            <a:pPr lvl="0"/>
            <a:r>
              <a:rPr lang="en-GB" sz="2400" dirty="0">
                <a:solidFill>
                  <a:prstClr val="black"/>
                </a:solidFill>
                <a:latin typeface="ArialMT"/>
              </a:rPr>
              <a:t>Wardriving</a:t>
            </a:r>
          </a:p>
          <a:p>
            <a:pPr lvl="0"/>
            <a:r>
              <a:rPr lang="en-GB" sz="2400" dirty="0">
                <a:solidFill>
                  <a:prstClr val="black"/>
                </a:solidFill>
                <a:latin typeface="ArialMT"/>
              </a:rPr>
              <a:t>Evil Twin Attacks</a:t>
            </a:r>
          </a:p>
          <a:p>
            <a:pPr lvl="0"/>
            <a:r>
              <a:rPr lang="en-GB" sz="2400" dirty="0">
                <a:solidFill>
                  <a:prstClr val="black"/>
                </a:solidFill>
                <a:latin typeface="ArialMT"/>
              </a:rPr>
              <a:t>Wireless Sniffing. ...</a:t>
            </a:r>
          </a:p>
          <a:p>
            <a:pPr lvl="0"/>
            <a:r>
              <a:rPr lang="en-GB" sz="2400" dirty="0">
                <a:solidFill>
                  <a:prstClr val="black"/>
                </a:solidFill>
                <a:latin typeface="ArialMT"/>
              </a:rPr>
              <a:t>Unauthorized Computer Access. ...</a:t>
            </a:r>
          </a:p>
          <a:p>
            <a:pPr lvl="0"/>
            <a:r>
              <a:rPr lang="en-GB" sz="2400" dirty="0">
                <a:solidFill>
                  <a:prstClr val="black"/>
                </a:solidFill>
                <a:latin typeface="ArialMT"/>
              </a:rPr>
              <a:t>Shoulder Surfing. ...</a:t>
            </a:r>
          </a:p>
          <a:p>
            <a:pPr lvl="0"/>
            <a:r>
              <a:rPr lang="en-GB" sz="2400" dirty="0">
                <a:solidFill>
                  <a:prstClr val="black"/>
                </a:solidFill>
                <a:latin typeface="ArialMT"/>
              </a:rPr>
              <a:t>Theft of Mobile Devices.</a:t>
            </a:r>
          </a:p>
          <a:p>
            <a:pPr lvl="0"/>
            <a:endParaRPr lang="en-GB" sz="2000" dirty="0">
              <a:solidFill>
                <a:prstClr val="black"/>
              </a:solidFill>
            </a:endParaRPr>
          </a:p>
          <a:p>
            <a:pPr lvl="0"/>
            <a:endParaRPr lang="en-GB" sz="2000" b="1" dirty="0">
              <a:solidFill>
                <a:prstClr val="black"/>
              </a:solidFill>
            </a:endParaRPr>
          </a:p>
          <a:p>
            <a:pPr lvl="0"/>
            <a:endParaRPr lang="en-GB" sz="2000" b="1" dirty="0">
              <a:solidFill>
                <a:prstClr val="black"/>
              </a:solidFill>
            </a:endParaRPr>
          </a:p>
        </p:txBody>
      </p:sp>
    </p:spTree>
    <p:extLst>
      <p:ext uri="{BB962C8B-B14F-4D97-AF65-F5344CB8AC3E}">
        <p14:creationId xmlns:p14="http://schemas.microsoft.com/office/powerpoint/2010/main" val="4085081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20196" y="1226223"/>
            <a:ext cx="9881937" cy="4154984"/>
          </a:xfrm>
          <a:prstGeom prst="rect">
            <a:avLst/>
          </a:prstGeom>
          <a:solidFill>
            <a:schemeClr val="accent1">
              <a:lumMod val="60000"/>
              <a:lumOff val="40000"/>
            </a:schemeClr>
          </a:solidFill>
        </p:spPr>
        <p:txBody>
          <a:bodyPr wrap="square">
            <a:spAutoFit/>
          </a:bodyPr>
          <a:lstStyle/>
          <a:p>
            <a:r>
              <a:rPr lang="en-GB" sz="2400" b="1" dirty="0">
                <a:solidFill>
                  <a:prstClr val="black"/>
                </a:solidFill>
                <a:latin typeface="ArialMT"/>
              </a:rPr>
              <a:t>Wardriving</a:t>
            </a:r>
          </a:p>
          <a:p>
            <a:endParaRPr lang="en-GB" sz="2400" dirty="0">
              <a:solidFill>
                <a:srgbClr val="292929"/>
              </a:solidFill>
              <a:latin typeface="benton-sans"/>
            </a:endParaRPr>
          </a:p>
          <a:p>
            <a:endParaRPr lang="en-GB" sz="2400" dirty="0">
              <a:solidFill>
                <a:srgbClr val="292929"/>
              </a:solidFill>
              <a:latin typeface="benton-sans"/>
            </a:endParaRPr>
          </a:p>
          <a:p>
            <a:r>
              <a:rPr lang="en-GB" sz="2400" dirty="0">
                <a:solidFill>
                  <a:srgbClr val="292929"/>
                </a:solidFill>
                <a:latin typeface="benton-sans"/>
              </a:rPr>
              <a:t>Driving around an area with a laptop computer and an 802.11 wireless LAN adapter in order to find unsecured wireless LANs. When the laptop's wireless network adapter (NIC) is set to promiscuous mode, it will receive any packets within its range. GPS systems can be added to get the geo location of each access point.</a:t>
            </a:r>
          </a:p>
          <a:p>
            <a:endParaRPr lang="en-GB" sz="2400" dirty="0">
              <a:solidFill>
                <a:srgbClr val="292929"/>
              </a:solidFill>
              <a:latin typeface="benton-sans"/>
            </a:endParaRPr>
          </a:p>
          <a:p>
            <a:r>
              <a:rPr lang="en-GB" sz="2400" dirty="0">
                <a:solidFill>
                  <a:srgbClr val="292929"/>
                </a:solidFill>
                <a:latin typeface="benton-sans"/>
              </a:rPr>
              <a:t>The goal is to find vulnerable sites either to obtain free Internet service or to potentially gain illegal access to the organization's data.</a:t>
            </a:r>
            <a:endParaRPr lang="en-GB" sz="2400" dirty="0"/>
          </a:p>
        </p:txBody>
      </p:sp>
      <p:sp>
        <p:nvSpPr>
          <p:cNvPr id="3" name="Rectangle 2"/>
          <p:cNvSpPr/>
          <p:nvPr/>
        </p:nvSpPr>
        <p:spPr>
          <a:xfrm>
            <a:off x="3534031" y="83123"/>
            <a:ext cx="5054269" cy="646331"/>
          </a:xfrm>
          <a:prstGeom prst="rect">
            <a:avLst/>
          </a:prstGeom>
        </p:spPr>
        <p:txBody>
          <a:bodyPr wrap="none">
            <a:spAutoFit/>
          </a:bodyPr>
          <a:lstStyle/>
          <a:p>
            <a:r>
              <a:rPr lang="en-GB" sz="3600" dirty="0">
                <a:solidFill>
                  <a:schemeClr val="bg1"/>
                </a:solidFill>
              </a:rPr>
              <a:t>Wireless Device Securities</a:t>
            </a:r>
          </a:p>
        </p:txBody>
      </p:sp>
    </p:spTree>
    <p:extLst>
      <p:ext uri="{BB962C8B-B14F-4D97-AF65-F5344CB8AC3E}">
        <p14:creationId xmlns:p14="http://schemas.microsoft.com/office/powerpoint/2010/main" val="2640250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7059" y="1351366"/>
            <a:ext cx="10748211" cy="4278094"/>
          </a:xfrm>
          <a:prstGeom prst="rect">
            <a:avLst/>
          </a:prstGeom>
          <a:solidFill>
            <a:schemeClr val="accent1">
              <a:lumMod val="60000"/>
              <a:lumOff val="40000"/>
            </a:schemeClr>
          </a:solidFill>
        </p:spPr>
        <p:txBody>
          <a:bodyPr wrap="square">
            <a:spAutoFit/>
          </a:bodyPr>
          <a:lstStyle/>
          <a:p>
            <a:r>
              <a:rPr lang="en-GB" sz="3200" b="1" dirty="0"/>
              <a:t>Evil Twin Attacks</a:t>
            </a:r>
          </a:p>
          <a:p>
            <a:endParaRPr lang="en-GB" sz="2400" dirty="0"/>
          </a:p>
          <a:p>
            <a:r>
              <a:rPr lang="en-GB" sz="2400" dirty="0">
                <a:solidFill>
                  <a:srgbClr val="292929"/>
                </a:solidFill>
                <a:latin typeface="benton-sans"/>
              </a:rPr>
              <a:t>This layer 2 attack on wireless systems still persists today even though attacks have been witnessed for over 20 years, mitigating these problems are difficult to solve. The problem lies in the hardware of the systems such as mobile phones and laptops, they re not equipped to distinguish between two radio signals broadcasting at the same time with the same SSID name.</a:t>
            </a:r>
          </a:p>
          <a:p>
            <a:endParaRPr lang="en-GB" sz="2400" dirty="0">
              <a:solidFill>
                <a:srgbClr val="292929"/>
              </a:solidFill>
              <a:latin typeface="benton-sans"/>
            </a:endParaRPr>
          </a:p>
          <a:p>
            <a:r>
              <a:rPr lang="en-GB" sz="2400" dirty="0">
                <a:solidFill>
                  <a:srgbClr val="292929"/>
                </a:solidFill>
                <a:latin typeface="benton-sans"/>
              </a:rPr>
              <a:t>This allows for a Man in the Middle attack to extract sensitive information without leaving traces behind them.</a:t>
            </a:r>
          </a:p>
          <a:p>
            <a:endParaRPr lang="en-GB" sz="2400" dirty="0"/>
          </a:p>
        </p:txBody>
      </p:sp>
      <p:sp>
        <p:nvSpPr>
          <p:cNvPr id="3" name="Rectangle 2"/>
          <p:cNvSpPr/>
          <p:nvPr/>
        </p:nvSpPr>
        <p:spPr>
          <a:xfrm>
            <a:off x="3534031" y="83123"/>
            <a:ext cx="5054269" cy="646331"/>
          </a:xfrm>
          <a:prstGeom prst="rect">
            <a:avLst/>
          </a:prstGeom>
        </p:spPr>
        <p:txBody>
          <a:bodyPr wrap="none">
            <a:spAutoFit/>
          </a:bodyPr>
          <a:lstStyle/>
          <a:p>
            <a:r>
              <a:rPr lang="en-GB" sz="3600" dirty="0">
                <a:solidFill>
                  <a:schemeClr val="bg1"/>
                </a:solidFill>
              </a:rPr>
              <a:t>Wireless Device Securities</a:t>
            </a:r>
          </a:p>
        </p:txBody>
      </p:sp>
    </p:spTree>
    <p:extLst>
      <p:ext uri="{BB962C8B-B14F-4D97-AF65-F5344CB8AC3E}">
        <p14:creationId xmlns:p14="http://schemas.microsoft.com/office/powerpoint/2010/main" val="209260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34031" y="83123"/>
            <a:ext cx="5054269" cy="646331"/>
          </a:xfrm>
          <a:prstGeom prst="rect">
            <a:avLst/>
          </a:prstGeom>
        </p:spPr>
        <p:txBody>
          <a:bodyPr wrap="none">
            <a:spAutoFit/>
          </a:bodyPr>
          <a:lstStyle/>
          <a:p>
            <a:r>
              <a:rPr lang="en-GB" sz="3600" dirty="0">
                <a:solidFill>
                  <a:schemeClr val="bg1"/>
                </a:solidFill>
              </a:rPr>
              <a:t>Wireless Device Securities</a:t>
            </a:r>
          </a:p>
        </p:txBody>
      </p:sp>
      <p:sp>
        <p:nvSpPr>
          <p:cNvPr id="4" name="Rectangle 3"/>
          <p:cNvSpPr/>
          <p:nvPr/>
        </p:nvSpPr>
        <p:spPr>
          <a:xfrm>
            <a:off x="1251953" y="1170914"/>
            <a:ext cx="9994231" cy="4893647"/>
          </a:xfrm>
          <a:prstGeom prst="rect">
            <a:avLst/>
          </a:prstGeom>
          <a:solidFill>
            <a:schemeClr val="accent1">
              <a:lumMod val="60000"/>
              <a:lumOff val="40000"/>
            </a:schemeClr>
          </a:solidFill>
        </p:spPr>
        <p:txBody>
          <a:bodyPr wrap="square">
            <a:spAutoFit/>
          </a:bodyPr>
          <a:lstStyle/>
          <a:p>
            <a:pPr lvl="0"/>
            <a:r>
              <a:rPr lang="en-GB" sz="2400" dirty="0">
                <a:solidFill>
                  <a:prstClr val="black"/>
                </a:solidFill>
              </a:rPr>
              <a:t>IDS/IPS</a:t>
            </a:r>
          </a:p>
          <a:p>
            <a:pPr lvl="0"/>
            <a:r>
              <a:rPr lang="en-GB" sz="2400" dirty="0">
                <a:solidFill>
                  <a:prstClr val="black"/>
                </a:solidFill>
              </a:rPr>
              <a:t>Intrusion Detection Systems (IDSs) and Intrusion Prevention Systems (IPSs) are very important in today’s networks. They are network security appliances that monitor networks and packets for malicious activity. An IDS is considered monitor mode and just records and tells you about problems, whereas an IPS can work in real time to stop threats as they occur. </a:t>
            </a:r>
          </a:p>
          <a:p>
            <a:pPr lvl="0"/>
            <a:endParaRPr lang="en-GB" sz="2400" dirty="0">
              <a:solidFill>
                <a:prstClr val="black"/>
              </a:solidFill>
            </a:endParaRPr>
          </a:p>
          <a:p>
            <a:pPr lvl="0"/>
            <a:endParaRPr lang="en-GB" sz="2400" dirty="0">
              <a:solidFill>
                <a:prstClr val="black"/>
              </a:solidFill>
            </a:endParaRPr>
          </a:p>
          <a:p>
            <a:pPr lvl="0"/>
            <a:r>
              <a:rPr lang="en-GB" sz="2400" dirty="0">
                <a:solidFill>
                  <a:prstClr val="black"/>
                </a:solidFill>
              </a:rPr>
              <a:t>The main difference between them is that an IPS works inline to actively prevent and block intrusions that are detected based on the rules you set up. IPSs can send an alarm, create correlation rules and remediation, drop malicious packets, provide malware protection, and reset the connection of offending source hosts.</a:t>
            </a:r>
          </a:p>
        </p:txBody>
      </p:sp>
    </p:spTree>
    <p:extLst>
      <p:ext uri="{BB962C8B-B14F-4D97-AF65-F5344CB8AC3E}">
        <p14:creationId xmlns:p14="http://schemas.microsoft.com/office/powerpoint/2010/main" val="862412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34031" y="83123"/>
            <a:ext cx="5054269" cy="646331"/>
          </a:xfrm>
          <a:prstGeom prst="rect">
            <a:avLst/>
          </a:prstGeom>
        </p:spPr>
        <p:txBody>
          <a:bodyPr wrap="none">
            <a:spAutoFit/>
          </a:bodyPr>
          <a:lstStyle/>
          <a:p>
            <a:r>
              <a:rPr lang="en-GB" sz="3600" dirty="0">
                <a:solidFill>
                  <a:schemeClr val="bg1"/>
                </a:solidFill>
              </a:rPr>
              <a:t>Wireless Device Securities</a:t>
            </a:r>
          </a:p>
        </p:txBody>
      </p:sp>
      <p:sp>
        <p:nvSpPr>
          <p:cNvPr id="3" name="Rectangle 2"/>
          <p:cNvSpPr/>
          <p:nvPr/>
        </p:nvSpPr>
        <p:spPr>
          <a:xfrm>
            <a:off x="1337266" y="1606611"/>
            <a:ext cx="9447798" cy="3416320"/>
          </a:xfrm>
          <a:prstGeom prst="rect">
            <a:avLst/>
          </a:prstGeom>
          <a:solidFill>
            <a:schemeClr val="accent1">
              <a:lumMod val="40000"/>
              <a:lumOff val="60000"/>
            </a:schemeClr>
          </a:solidFill>
        </p:spPr>
        <p:txBody>
          <a:bodyPr wrap="square">
            <a:spAutoFit/>
          </a:bodyPr>
          <a:lstStyle/>
          <a:p>
            <a:r>
              <a:rPr lang="en-GB" dirty="0">
                <a:solidFill>
                  <a:prstClr val="black"/>
                </a:solidFill>
              </a:rPr>
              <a:t>Intrusion Detection Systems (IDSs)</a:t>
            </a:r>
          </a:p>
          <a:p>
            <a:endParaRPr lang="en-GB" dirty="0">
              <a:solidFill>
                <a:prstClr val="black"/>
              </a:solidFill>
            </a:endParaRPr>
          </a:p>
          <a:p>
            <a:r>
              <a:rPr lang="en-GB" dirty="0">
                <a:solidFill>
                  <a:prstClr val="black"/>
                </a:solidFill>
              </a:rPr>
              <a:t>An IDS is not a firewall! Firewalls are designed to be outward looking and to limit access between networks in order to prevent an intrusion happening. IDS watch the wired and wireless network from the inside and report or alarm depending on how they evaluate the network traffic they see. </a:t>
            </a:r>
          </a:p>
          <a:p>
            <a:endParaRPr lang="en-GB" dirty="0">
              <a:solidFill>
                <a:prstClr val="black"/>
              </a:solidFill>
            </a:endParaRPr>
          </a:p>
          <a:p>
            <a:r>
              <a:rPr lang="en-GB" dirty="0">
                <a:solidFill>
                  <a:prstClr val="black"/>
                </a:solidFill>
              </a:rPr>
              <a:t>They continually monitor for access points to the network and are able, in some cases, to do comparisons of the security controls defined on the access point with pre-defined company security standards and either reset or closedown any non conforming AP’s they find.</a:t>
            </a:r>
          </a:p>
          <a:p>
            <a:endParaRPr lang="en-GB" dirty="0">
              <a:solidFill>
                <a:prstClr val="black"/>
              </a:solidFill>
            </a:endParaRPr>
          </a:p>
          <a:p>
            <a:r>
              <a:rPr lang="en-GB" dirty="0"/>
              <a:t>In their simplest form, Intrusion detection systems are designed and built to monitor and report on network activities, or packets, between communicating devices.</a:t>
            </a:r>
          </a:p>
        </p:txBody>
      </p:sp>
    </p:spTree>
    <p:extLst>
      <p:ext uri="{BB962C8B-B14F-4D97-AF65-F5344CB8AC3E}">
        <p14:creationId xmlns:p14="http://schemas.microsoft.com/office/powerpoint/2010/main" val="315626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32962" y="1218866"/>
            <a:ext cx="8856405" cy="4801314"/>
          </a:xfrm>
          <a:prstGeom prst="rect">
            <a:avLst/>
          </a:prstGeom>
          <a:solidFill>
            <a:schemeClr val="accent1">
              <a:lumMod val="40000"/>
              <a:lumOff val="60000"/>
            </a:schemeClr>
          </a:solidFill>
        </p:spPr>
        <p:txBody>
          <a:bodyPr wrap="square">
            <a:spAutoFit/>
          </a:bodyPr>
          <a:lstStyle/>
          <a:p>
            <a:r>
              <a:rPr lang="en-GB" dirty="0"/>
              <a:t>Intrusion Prevention Systems (IPSs)</a:t>
            </a:r>
          </a:p>
          <a:p>
            <a:endParaRPr lang="en-GB" dirty="0"/>
          </a:p>
          <a:p>
            <a:r>
              <a:rPr lang="en-GB" dirty="0"/>
              <a:t>Like IDS the Intrusion Prevention System enhances security difference is that as well </a:t>
            </a:r>
          </a:p>
          <a:p>
            <a:r>
              <a:rPr lang="en-GB" dirty="0"/>
              <a:t>as well as observing events and informing security administrators of important actions.</a:t>
            </a:r>
          </a:p>
          <a:p>
            <a:r>
              <a:rPr lang="en-GB" dirty="0"/>
              <a:t> IPS can respond to situations that is detected and start prevention responses .</a:t>
            </a:r>
          </a:p>
          <a:p>
            <a:endParaRPr lang="en-GB" dirty="0"/>
          </a:p>
          <a:p>
            <a:r>
              <a:rPr lang="en-GB" dirty="0"/>
              <a:t>IPS can stop the attack from damaging the network and system attached. </a:t>
            </a:r>
          </a:p>
          <a:p>
            <a:endParaRPr lang="en-GB" dirty="0"/>
          </a:p>
          <a:p>
            <a:r>
              <a:rPr lang="en-GB" dirty="0"/>
              <a:t>Comparison of IPS with IDS</a:t>
            </a:r>
          </a:p>
          <a:p>
            <a:endParaRPr lang="en-GB" dirty="0"/>
          </a:p>
          <a:p>
            <a:pPr marL="285750" indent="-285750">
              <a:buFont typeface="Arial" panose="020B0604020202020204" pitchFamily="34" charset="0"/>
              <a:buChar char="•"/>
            </a:pPr>
            <a:r>
              <a:rPr lang="en-GB" dirty="0"/>
              <a:t>Intrusion prevention systems are placed in-line and are able to actively prevent or block intrusions that are detected.</a:t>
            </a:r>
          </a:p>
          <a:p>
            <a:pPr marL="285750" indent="-285750">
              <a:buFont typeface="Arial" panose="020B0604020202020204" pitchFamily="34" charset="0"/>
              <a:buChar char="•"/>
            </a:pPr>
            <a:r>
              <a:rPr lang="en-GB" dirty="0"/>
              <a:t>IPS can take such actions as sending an alarm, dropping detected malicious packets, resetting a connection or blocking traffic from the offending IP address.</a:t>
            </a:r>
          </a:p>
          <a:p>
            <a:pPr marL="285750" indent="-285750">
              <a:buFont typeface="Arial" panose="020B0604020202020204" pitchFamily="34" charset="0"/>
              <a:buChar char="•"/>
            </a:pPr>
            <a:r>
              <a:rPr lang="en-GB" dirty="0"/>
              <a:t>IPS also can correct cyclic redundancy check (CRC) errors, defragment packet streams, mitigate TCP sequencing issues and clean up unwanted transport and network layer options.</a:t>
            </a:r>
          </a:p>
        </p:txBody>
      </p:sp>
      <p:sp>
        <p:nvSpPr>
          <p:cNvPr id="3" name="Rectangle 2"/>
          <p:cNvSpPr/>
          <p:nvPr/>
        </p:nvSpPr>
        <p:spPr>
          <a:xfrm>
            <a:off x="3534031" y="83123"/>
            <a:ext cx="5054269" cy="646331"/>
          </a:xfrm>
          <a:prstGeom prst="rect">
            <a:avLst/>
          </a:prstGeom>
        </p:spPr>
        <p:txBody>
          <a:bodyPr wrap="none">
            <a:spAutoFit/>
          </a:bodyPr>
          <a:lstStyle/>
          <a:p>
            <a:r>
              <a:rPr lang="en-GB" sz="3600" dirty="0">
                <a:solidFill>
                  <a:schemeClr val="bg1"/>
                </a:solidFill>
              </a:rPr>
              <a:t>Wireless Device Securities</a:t>
            </a:r>
          </a:p>
        </p:txBody>
      </p:sp>
    </p:spTree>
    <p:extLst>
      <p:ext uri="{BB962C8B-B14F-4D97-AF65-F5344CB8AC3E}">
        <p14:creationId xmlns:p14="http://schemas.microsoft.com/office/powerpoint/2010/main" val="3405597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2500" y="1439039"/>
            <a:ext cx="10401300" cy="3416320"/>
          </a:xfrm>
          <a:prstGeom prst="rect">
            <a:avLst/>
          </a:prstGeom>
          <a:solidFill>
            <a:schemeClr val="accent1">
              <a:lumMod val="40000"/>
              <a:lumOff val="60000"/>
            </a:schemeClr>
          </a:solidFill>
        </p:spPr>
        <p:txBody>
          <a:bodyPr wrap="square">
            <a:spAutoFit/>
          </a:bodyPr>
          <a:lstStyle/>
          <a:p>
            <a:r>
              <a:rPr lang="en-GB" sz="2400" dirty="0">
                <a:latin typeface="Nunito Sans"/>
              </a:rPr>
              <a:t>Vistumbler is an open source Windows application that finds Wireless access points - Uses the Vista command '</a:t>
            </a:r>
            <a:r>
              <a:rPr lang="en-GB" sz="2400" dirty="0" err="1">
                <a:latin typeface="Nunito Sans"/>
              </a:rPr>
              <a:t>netsh</a:t>
            </a:r>
            <a:r>
              <a:rPr lang="en-GB" sz="2400" dirty="0">
                <a:latin typeface="Nunito Sans"/>
              </a:rPr>
              <a:t> </a:t>
            </a:r>
            <a:r>
              <a:rPr lang="en-GB" sz="2400" dirty="0" err="1">
                <a:latin typeface="Nunito Sans"/>
              </a:rPr>
              <a:t>wlan</a:t>
            </a:r>
            <a:r>
              <a:rPr lang="en-GB" sz="2400" dirty="0">
                <a:latin typeface="Nunito Sans"/>
              </a:rPr>
              <a:t> show networks mode=</a:t>
            </a:r>
            <a:r>
              <a:rPr lang="en-GB" sz="2400" dirty="0" err="1">
                <a:latin typeface="Nunito Sans"/>
              </a:rPr>
              <a:t>bssid</a:t>
            </a:r>
            <a:r>
              <a:rPr lang="en-GB" sz="2400" dirty="0">
                <a:latin typeface="Nunito Sans"/>
              </a:rPr>
              <a:t>' to get wireless information.  It displays the basic AP details, including the exact authentication and encryption methods, and can even speak the SSID and RSSI.</a:t>
            </a:r>
          </a:p>
          <a:p>
            <a:endParaRPr lang="en-GB" sz="2400" dirty="0">
              <a:latin typeface="Nunito Sans"/>
            </a:endParaRPr>
          </a:p>
          <a:p>
            <a:r>
              <a:rPr lang="en-GB" sz="2400" dirty="0">
                <a:latin typeface="Nunito Sans"/>
              </a:rPr>
              <a:t>It also displays graphs of signal levels. It's highly customizable and offers flexible configuration options. It supports AP names to help distinguish them, also helping to detect rogue APs.</a:t>
            </a:r>
            <a:endParaRPr lang="en-GB" sz="2400" b="0" i="0" dirty="0">
              <a:effectLst/>
              <a:latin typeface="Nunito Sans"/>
            </a:endParaRPr>
          </a:p>
        </p:txBody>
      </p:sp>
      <p:sp>
        <p:nvSpPr>
          <p:cNvPr id="3" name="Rectangle 2"/>
          <p:cNvSpPr/>
          <p:nvPr/>
        </p:nvSpPr>
        <p:spPr>
          <a:xfrm>
            <a:off x="5114493" y="0"/>
            <a:ext cx="2229713" cy="646331"/>
          </a:xfrm>
          <a:prstGeom prst="rect">
            <a:avLst/>
          </a:prstGeom>
        </p:spPr>
        <p:txBody>
          <a:bodyPr wrap="none">
            <a:spAutoFit/>
          </a:bodyPr>
          <a:lstStyle/>
          <a:p>
            <a:r>
              <a:rPr lang="en-GB" sz="3600" dirty="0">
                <a:solidFill>
                  <a:schemeClr val="bg1"/>
                </a:solidFill>
              </a:rPr>
              <a:t>Vistumbler</a:t>
            </a:r>
          </a:p>
        </p:txBody>
      </p:sp>
    </p:spTree>
    <p:extLst>
      <p:ext uri="{BB962C8B-B14F-4D97-AF65-F5344CB8AC3E}">
        <p14:creationId xmlns:p14="http://schemas.microsoft.com/office/powerpoint/2010/main" val="1304491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03349" y="1252141"/>
            <a:ext cx="9652000" cy="4154984"/>
          </a:xfrm>
          <a:prstGeom prst="rect">
            <a:avLst/>
          </a:prstGeom>
          <a:solidFill>
            <a:schemeClr val="accent1">
              <a:lumMod val="40000"/>
              <a:lumOff val="60000"/>
            </a:schemeClr>
          </a:solidFill>
        </p:spPr>
        <p:txBody>
          <a:bodyPr wrap="square">
            <a:spAutoFit/>
          </a:bodyPr>
          <a:lstStyle/>
          <a:p>
            <a:pPr marL="285750" indent="-285750">
              <a:buFont typeface="Arial" panose="020B0604020202020204" pitchFamily="34" charset="0"/>
              <a:buChar char="•"/>
            </a:pPr>
            <a:r>
              <a:rPr lang="en-GB" sz="2400" dirty="0"/>
              <a:t>Find Wireless access points - Uses the Vista command '</a:t>
            </a:r>
            <a:r>
              <a:rPr lang="en-GB" sz="2400" dirty="0" err="1"/>
              <a:t>netsh</a:t>
            </a:r>
            <a:r>
              <a:rPr lang="en-GB" sz="2400" dirty="0"/>
              <a:t> </a:t>
            </a:r>
            <a:r>
              <a:rPr lang="en-GB" sz="2400" dirty="0" err="1"/>
              <a:t>wlan</a:t>
            </a:r>
            <a:r>
              <a:rPr lang="en-GB" sz="2400" dirty="0"/>
              <a:t> show networks mode=</a:t>
            </a:r>
            <a:r>
              <a:rPr lang="en-GB" sz="2400" dirty="0" err="1"/>
              <a:t>bssid</a:t>
            </a:r>
            <a:r>
              <a:rPr lang="en-GB" sz="2400" dirty="0"/>
              <a:t>' to get wireless information</a:t>
            </a:r>
          </a:p>
          <a:p>
            <a:pPr marL="285750" indent="-285750">
              <a:buFont typeface="Arial" panose="020B0604020202020204" pitchFamily="34" charset="0"/>
              <a:buChar char="•"/>
            </a:pPr>
            <a:r>
              <a:rPr lang="en-GB" sz="2400" dirty="0"/>
              <a:t>GPS Support</a:t>
            </a:r>
          </a:p>
          <a:p>
            <a:pPr marL="285750" indent="-285750">
              <a:buFont typeface="Arial" panose="020B0604020202020204" pitchFamily="34" charset="0"/>
              <a:buChar char="•"/>
            </a:pPr>
            <a:r>
              <a:rPr lang="en-GB" sz="2400" dirty="0"/>
              <a:t>Export/Import access points from Vistumbler TXT/VS1/VSZ or </a:t>
            </a:r>
            <a:r>
              <a:rPr lang="en-GB" sz="2400" dirty="0" err="1"/>
              <a:t>Netstumbler</a:t>
            </a:r>
            <a:r>
              <a:rPr lang="en-GB" sz="2400" dirty="0"/>
              <a:t> TXT/Text NS1</a:t>
            </a:r>
          </a:p>
          <a:p>
            <a:pPr marL="285750" indent="-285750">
              <a:buFont typeface="Arial" panose="020B0604020202020204" pitchFamily="34" charset="0"/>
              <a:buChar char="•"/>
            </a:pPr>
            <a:r>
              <a:rPr lang="en-GB" sz="2400" dirty="0"/>
              <a:t>Export access point GPS locations to a google earth </a:t>
            </a:r>
            <a:r>
              <a:rPr lang="en-GB" sz="2400" dirty="0" err="1"/>
              <a:t>kml</a:t>
            </a:r>
            <a:r>
              <a:rPr lang="en-GB" sz="2400" dirty="0"/>
              <a:t> file or GPX(GPS </a:t>
            </a:r>
            <a:r>
              <a:rPr lang="en-GB" sz="2400" dirty="0" err="1"/>
              <a:t>eXchange</a:t>
            </a:r>
            <a:r>
              <a:rPr lang="en-GB" sz="2400" dirty="0"/>
              <a:t> format)</a:t>
            </a:r>
          </a:p>
          <a:p>
            <a:pPr marL="285750" indent="-285750">
              <a:buFont typeface="Arial" panose="020B0604020202020204" pitchFamily="34" charset="0"/>
              <a:buChar char="•"/>
            </a:pPr>
            <a:r>
              <a:rPr lang="en-GB" sz="2400" dirty="0"/>
              <a:t>Live Google Earth Tracking - Auto KML automatically shows access points in google earth.</a:t>
            </a:r>
          </a:p>
          <a:p>
            <a:pPr marL="285750" indent="-285750">
              <a:buFont typeface="Arial" panose="020B0604020202020204" pitchFamily="34" charset="0"/>
              <a:buChar char="•"/>
            </a:pPr>
            <a:r>
              <a:rPr lang="en-GB" sz="2400" dirty="0"/>
              <a:t>Speaks Signal Strength using sound files, windows sound </a:t>
            </a:r>
            <a:r>
              <a:rPr lang="en-GB" sz="2400" dirty="0" err="1"/>
              <a:t>api</a:t>
            </a:r>
            <a:r>
              <a:rPr lang="en-GB" sz="2400" dirty="0"/>
              <a:t>, or MIDI</a:t>
            </a:r>
          </a:p>
          <a:p>
            <a:pPr marL="285750" indent="-285750">
              <a:buFont typeface="Arial" panose="020B0604020202020204" pitchFamily="34" charset="0"/>
              <a:buChar char="•"/>
            </a:pPr>
            <a:r>
              <a:rPr lang="en-GB" sz="2400" dirty="0"/>
              <a:t>Open Source (GPLv2 License / Written in </a:t>
            </a:r>
            <a:r>
              <a:rPr lang="en-GB" sz="2400" dirty="0" err="1"/>
              <a:t>AutoIt</a:t>
            </a:r>
            <a:r>
              <a:rPr lang="en-GB" sz="2400" dirty="0"/>
              <a:t> Scripting Language)</a:t>
            </a:r>
          </a:p>
        </p:txBody>
      </p:sp>
      <p:sp>
        <p:nvSpPr>
          <p:cNvPr id="3" name="Rectangle 2"/>
          <p:cNvSpPr/>
          <p:nvPr/>
        </p:nvSpPr>
        <p:spPr>
          <a:xfrm>
            <a:off x="5114493" y="0"/>
            <a:ext cx="2229713" cy="646331"/>
          </a:xfrm>
          <a:prstGeom prst="rect">
            <a:avLst/>
          </a:prstGeom>
        </p:spPr>
        <p:txBody>
          <a:bodyPr wrap="none">
            <a:spAutoFit/>
          </a:bodyPr>
          <a:lstStyle/>
          <a:p>
            <a:r>
              <a:rPr lang="en-GB" sz="3600" dirty="0">
                <a:solidFill>
                  <a:schemeClr val="bg1"/>
                </a:solidFill>
              </a:rPr>
              <a:t>Vistumbler</a:t>
            </a:r>
          </a:p>
        </p:txBody>
      </p:sp>
    </p:spTree>
    <p:extLst>
      <p:ext uri="{BB962C8B-B14F-4D97-AF65-F5344CB8AC3E}">
        <p14:creationId xmlns:p14="http://schemas.microsoft.com/office/powerpoint/2010/main" val="420586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53057" y="646331"/>
            <a:ext cx="9152581" cy="4992469"/>
          </a:xfrm>
          <a:prstGeom prst="rect">
            <a:avLst/>
          </a:prstGeom>
        </p:spPr>
      </p:pic>
      <p:sp>
        <p:nvSpPr>
          <p:cNvPr id="3" name="Rectangle 2"/>
          <p:cNvSpPr/>
          <p:nvPr/>
        </p:nvSpPr>
        <p:spPr>
          <a:xfrm>
            <a:off x="5114493" y="0"/>
            <a:ext cx="2229713" cy="646331"/>
          </a:xfrm>
          <a:prstGeom prst="rect">
            <a:avLst/>
          </a:prstGeom>
        </p:spPr>
        <p:txBody>
          <a:bodyPr wrap="none">
            <a:spAutoFit/>
          </a:bodyPr>
          <a:lstStyle/>
          <a:p>
            <a:r>
              <a:rPr lang="en-GB" sz="3600" dirty="0">
                <a:solidFill>
                  <a:schemeClr val="bg1"/>
                </a:solidFill>
              </a:rPr>
              <a:t>Vistumbler</a:t>
            </a:r>
          </a:p>
        </p:txBody>
      </p:sp>
      <p:sp>
        <p:nvSpPr>
          <p:cNvPr id="4" name="Rectangle 3"/>
          <p:cNvSpPr/>
          <p:nvPr/>
        </p:nvSpPr>
        <p:spPr>
          <a:xfrm>
            <a:off x="1930397" y="5823466"/>
            <a:ext cx="8597900" cy="923330"/>
          </a:xfrm>
          <a:prstGeom prst="rect">
            <a:avLst/>
          </a:prstGeom>
          <a:solidFill>
            <a:schemeClr val="accent1">
              <a:lumMod val="40000"/>
              <a:lumOff val="60000"/>
            </a:schemeClr>
          </a:solidFill>
        </p:spPr>
        <p:txBody>
          <a:bodyPr wrap="square">
            <a:spAutoFit/>
          </a:bodyPr>
          <a:lstStyle/>
          <a:p>
            <a:r>
              <a:rPr lang="en-GB" dirty="0">
                <a:solidFill>
                  <a:srgbClr val="000000"/>
                </a:solidFill>
                <a:latin typeface="Times New Roman" panose="02020603050405020304" pitchFamily="18" charset="0"/>
              </a:rPr>
              <a:t>Vistumbler is wireless network scanner written in Auto IT for Windows . The main purpose of Vistumbler is to map and visualize the access points around you based on the wireless and GPS data collected.</a:t>
            </a:r>
            <a:endParaRPr lang="en-GB" b="0" i="0" dirty="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55997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81030" y="915194"/>
            <a:ext cx="9639300" cy="5422106"/>
          </a:xfrm>
          <a:prstGeom prst="rect">
            <a:avLst/>
          </a:prstGeom>
        </p:spPr>
      </p:pic>
      <p:sp>
        <p:nvSpPr>
          <p:cNvPr id="3" name="Rectangle 2"/>
          <p:cNvSpPr/>
          <p:nvPr/>
        </p:nvSpPr>
        <p:spPr>
          <a:xfrm>
            <a:off x="5088366" y="0"/>
            <a:ext cx="2624629" cy="769441"/>
          </a:xfrm>
          <a:prstGeom prst="rect">
            <a:avLst/>
          </a:prstGeom>
        </p:spPr>
        <p:txBody>
          <a:bodyPr wrap="none">
            <a:spAutoFit/>
          </a:bodyPr>
          <a:lstStyle/>
          <a:p>
            <a:r>
              <a:rPr lang="en-GB" sz="4400" dirty="0">
                <a:solidFill>
                  <a:schemeClr val="bg1"/>
                </a:solidFill>
              </a:rPr>
              <a:t>Kismet IDS</a:t>
            </a:r>
          </a:p>
        </p:txBody>
      </p:sp>
    </p:spTree>
    <p:extLst>
      <p:ext uri="{BB962C8B-B14F-4D97-AF65-F5344CB8AC3E}">
        <p14:creationId xmlns:p14="http://schemas.microsoft.com/office/powerpoint/2010/main" val="763002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88366" y="0"/>
            <a:ext cx="2624629" cy="769441"/>
          </a:xfrm>
          <a:prstGeom prst="rect">
            <a:avLst/>
          </a:prstGeom>
        </p:spPr>
        <p:txBody>
          <a:bodyPr wrap="none">
            <a:spAutoFit/>
          </a:bodyPr>
          <a:lstStyle/>
          <a:p>
            <a:r>
              <a:rPr lang="en-GB" sz="4400" dirty="0">
                <a:solidFill>
                  <a:schemeClr val="bg1"/>
                </a:solidFill>
              </a:rPr>
              <a:t>Kismet IDS</a:t>
            </a:r>
          </a:p>
        </p:txBody>
      </p:sp>
      <p:sp>
        <p:nvSpPr>
          <p:cNvPr id="3" name="Rectangle 2"/>
          <p:cNvSpPr/>
          <p:nvPr/>
        </p:nvSpPr>
        <p:spPr>
          <a:xfrm>
            <a:off x="1942979" y="873036"/>
            <a:ext cx="8915400" cy="1569660"/>
          </a:xfrm>
          <a:prstGeom prst="rect">
            <a:avLst/>
          </a:prstGeom>
          <a:solidFill>
            <a:schemeClr val="accent1">
              <a:lumMod val="40000"/>
              <a:lumOff val="60000"/>
            </a:schemeClr>
          </a:solidFill>
        </p:spPr>
        <p:txBody>
          <a:bodyPr wrap="square">
            <a:spAutoFit/>
          </a:bodyPr>
          <a:lstStyle/>
          <a:p>
            <a:r>
              <a:rPr lang="en-GB" sz="2400" b="1" dirty="0">
                <a:solidFill>
                  <a:srgbClr val="565656"/>
                </a:solidFill>
                <a:latin typeface="Calibri" panose="020F0502020204030204" pitchFamily="34" charset="0"/>
              </a:rPr>
              <a:t>Kismet</a:t>
            </a:r>
            <a:r>
              <a:rPr lang="en-GB" sz="2400" dirty="0">
                <a:solidFill>
                  <a:srgbClr val="363636"/>
                </a:solidFill>
                <a:latin typeface="Calibri" panose="020F0502020204030204" pitchFamily="34" charset="0"/>
              </a:rPr>
              <a:t> is a network detector, packet sniffer, and intrusion detection system for 802.11 wireless LANs. Kismet will work with any wireless card which supports raw monitoring mode, and can sniff 802.11a, 802.11b, 802.11g, and 802.11n traffic. </a:t>
            </a:r>
            <a:endParaRPr lang="en-GB" sz="2400" dirty="0"/>
          </a:p>
        </p:txBody>
      </p:sp>
      <p:pic>
        <p:nvPicPr>
          <p:cNvPr id="4" name="Picture 3"/>
          <p:cNvPicPr>
            <a:picLocks noChangeAspect="1"/>
          </p:cNvPicPr>
          <p:nvPr/>
        </p:nvPicPr>
        <p:blipFill>
          <a:blip r:embed="rId2"/>
          <a:stretch>
            <a:fillRect/>
          </a:stretch>
        </p:blipFill>
        <p:spPr>
          <a:xfrm>
            <a:off x="3332041" y="2771918"/>
            <a:ext cx="6137275" cy="3698731"/>
          </a:xfrm>
          <a:prstGeom prst="rect">
            <a:avLst/>
          </a:prstGeom>
        </p:spPr>
      </p:pic>
    </p:spTree>
    <p:extLst>
      <p:ext uri="{BB962C8B-B14F-4D97-AF65-F5344CB8AC3E}">
        <p14:creationId xmlns:p14="http://schemas.microsoft.com/office/powerpoint/2010/main" val="3606477441"/>
      </p:ext>
    </p:extLst>
  </p:cSld>
  <p:clrMapOvr>
    <a:masterClrMapping/>
  </p:clrMapOvr>
</p:sld>
</file>

<file path=ppt/theme/theme1.xml><?xml version="1.0" encoding="utf-8"?>
<a:theme xmlns:a="http://schemas.openxmlformats.org/drawingml/2006/main" name="Wireless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ireless theme" id="{D527DE29-914B-418E-83E2-4CC01CB73E6C}" vid="{115B0B0C-1987-44B6-9431-FAA8DD4B2015}"/>
    </a:ext>
  </a:extLst>
</a:theme>
</file>

<file path=docProps/app.xml><?xml version="1.0" encoding="utf-8"?>
<Properties xmlns="http://schemas.openxmlformats.org/officeDocument/2006/extended-properties" xmlns:vt="http://schemas.openxmlformats.org/officeDocument/2006/docPropsVTypes">
  <Template>Wireless theme</Template>
  <TotalTime>730</TotalTime>
  <Words>1683</Words>
  <Application>Microsoft Office PowerPoint</Application>
  <PresentationFormat>Widescreen</PresentationFormat>
  <Paragraphs>144</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ArialMT</vt:lpstr>
      <vt:lpstr>benton-sans</vt:lpstr>
      <vt:lpstr>Calibri</vt:lpstr>
      <vt:lpstr>Calibri Light</vt:lpstr>
      <vt:lpstr>Nunito Sans</vt:lpstr>
      <vt:lpstr>Palatino-Roman</vt:lpstr>
      <vt:lpstr>Times New Roman</vt:lpstr>
      <vt:lpstr>Wireless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Reid</dc:creator>
  <cp:lastModifiedBy>Ross Tunnicliffe</cp:lastModifiedBy>
  <cp:revision>35</cp:revision>
  <dcterms:created xsi:type="dcterms:W3CDTF">2020-09-17T09:10:14Z</dcterms:created>
  <dcterms:modified xsi:type="dcterms:W3CDTF">2023-09-01T14:23:52Z</dcterms:modified>
</cp:coreProperties>
</file>