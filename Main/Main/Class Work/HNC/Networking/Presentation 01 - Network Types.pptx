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1"/>
  </p:notesMasterIdLst>
  <p:sldIdLst>
    <p:sldId id="257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248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s Tunnicliffe" userId="d6837b3d-8b57-406d-a8e4-876ef820a90e" providerId="ADAL" clId="{7048A93E-226B-4701-9717-3BDC2157D46C}"/>
    <pc:docChg chg="modSld">
      <pc:chgData name="Ross Tunnicliffe" userId="d6837b3d-8b57-406d-a8e4-876ef820a90e" providerId="ADAL" clId="{7048A93E-226B-4701-9717-3BDC2157D46C}" dt="2022-08-27T10:02:51.333" v="3" actId="20577"/>
      <pc:docMkLst>
        <pc:docMk/>
      </pc:docMkLst>
      <pc:sldChg chg="modSp">
        <pc:chgData name="Ross Tunnicliffe" userId="d6837b3d-8b57-406d-a8e4-876ef820a90e" providerId="ADAL" clId="{7048A93E-226B-4701-9717-3BDC2157D46C}" dt="2022-08-27T09:44:59.081" v="1" actId="20577"/>
        <pc:sldMkLst>
          <pc:docMk/>
          <pc:sldMk cId="3243439686" sldId="261"/>
        </pc:sldMkLst>
        <pc:spChg chg="mod">
          <ac:chgData name="Ross Tunnicliffe" userId="d6837b3d-8b57-406d-a8e4-876ef820a90e" providerId="ADAL" clId="{7048A93E-226B-4701-9717-3BDC2157D46C}" dt="2022-08-27T09:44:59.081" v="1" actId="20577"/>
          <ac:spMkLst>
            <pc:docMk/>
            <pc:sldMk cId="3243439686" sldId="261"/>
            <ac:spMk id="3" creationId="{DE205083-68F0-45B5-8459-D5B9B3DFA89D}"/>
          </ac:spMkLst>
        </pc:spChg>
      </pc:sldChg>
      <pc:sldChg chg="modSp">
        <pc:chgData name="Ross Tunnicliffe" userId="d6837b3d-8b57-406d-a8e4-876ef820a90e" providerId="ADAL" clId="{7048A93E-226B-4701-9717-3BDC2157D46C}" dt="2022-08-27T10:02:51.333" v="3" actId="20577"/>
        <pc:sldMkLst>
          <pc:docMk/>
          <pc:sldMk cId="4282091157" sldId="276"/>
        </pc:sldMkLst>
        <pc:spChg chg="mod">
          <ac:chgData name="Ross Tunnicliffe" userId="d6837b3d-8b57-406d-a8e4-876ef820a90e" providerId="ADAL" clId="{7048A93E-226B-4701-9717-3BDC2157D46C}" dt="2022-08-27T10:02:51.333" v="3" actId="20577"/>
          <ac:spMkLst>
            <pc:docMk/>
            <pc:sldMk cId="4282091157" sldId="276"/>
            <ac:spMk id="3" creationId="{B4D20893-9606-42FE-A089-0E0BA019392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D3B711-CA6E-490F-9FF3-FB6DB333D628}" type="datetimeFigureOut">
              <a:rPr lang="en-GB" smtClean="0"/>
              <a:t>26/08/2025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9C0750-3B53-45E9-9D52-8447B9D8DA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57251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6B453-C4E5-43FF-A164-AC48B9D7C9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550BE1-1D77-46AE-AE6B-DBF92AC54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B897A-5181-41B6-84CF-96B7C4614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4AE29-5E6B-4DEE-B887-B7CA3B3829BD}" type="datetime1">
              <a:rPr lang="en-GB" smtClean="0"/>
              <a:t>26/08/2025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6B700-1B1C-4AE4-9E4A-061F61BF3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00 - Introduction          Copyright West Lothian College 2018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FC8BF6-9F13-46ED-AE3F-B1D0D44AF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FC986-EBAD-433F-BFF0-8D7A00ECEB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6182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6D37D-F6BA-4DC0-A416-AEA3613DD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059" y="0"/>
            <a:ext cx="11595266" cy="1325563"/>
          </a:xfrm>
        </p:spPr>
        <p:txBody>
          <a:bodyPr/>
          <a:lstStyle>
            <a:lvl1pPr>
              <a:defRPr>
                <a:latin typeface="Georgia" panose="02040502050405020303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3C7F6-F744-4972-ADB3-D7F5690A20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Georgia" panose="02040502050405020303" pitchFamily="18" charset="0"/>
              </a:defRPr>
            </a:lvl1pPr>
            <a:lvl2pPr>
              <a:defRPr>
                <a:latin typeface="Georgia" panose="02040502050405020303" pitchFamily="18" charset="0"/>
              </a:defRPr>
            </a:lvl2pPr>
            <a:lvl3pPr>
              <a:defRPr>
                <a:latin typeface="Georgia" panose="02040502050405020303" pitchFamily="18" charset="0"/>
              </a:defRPr>
            </a:lvl3pPr>
            <a:lvl4pPr>
              <a:defRPr>
                <a:latin typeface="Georgia" panose="02040502050405020303" pitchFamily="18" charset="0"/>
              </a:defRPr>
            </a:lvl4pPr>
            <a:lvl5pPr>
              <a:defRPr>
                <a:latin typeface="Georgia" panose="02040502050405020303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557E53-94AF-4055-9CE2-70881028C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411706" y="6475100"/>
            <a:ext cx="2743201" cy="365125"/>
          </a:xfrm>
        </p:spPr>
        <p:txBody>
          <a:bodyPr/>
          <a:lstStyle/>
          <a:p>
            <a:r>
              <a:rPr lang="en-GB" dirty="0"/>
              <a:t>Copyright West Lothian College 2018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C12550-F723-451A-A605-39D793B71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57999" y="6470766"/>
            <a:ext cx="476003" cy="365125"/>
          </a:xfrm>
        </p:spPr>
        <p:txBody>
          <a:bodyPr/>
          <a:lstStyle/>
          <a:p>
            <a:fld id="{AD7FC986-EBAD-433F-BFF0-8D7A00ECEB56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785BDA-D2ED-42FE-865F-35D87B924490}"/>
              </a:ext>
            </a:extLst>
          </p:cNvPr>
          <p:cNvSpPr txBox="1"/>
          <p:nvPr userDrawn="1"/>
        </p:nvSpPr>
        <p:spPr>
          <a:xfrm>
            <a:off x="8081" y="6518393"/>
            <a:ext cx="58499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Network Technology - Presentation 01 – Network Types</a:t>
            </a:r>
          </a:p>
        </p:txBody>
      </p:sp>
    </p:spTree>
    <p:extLst>
      <p:ext uri="{BB962C8B-B14F-4D97-AF65-F5344CB8AC3E}">
        <p14:creationId xmlns:p14="http://schemas.microsoft.com/office/powerpoint/2010/main" val="3360562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BF27C-A414-48A2-97AB-A020F610A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C4C058-E6CF-4903-A0E8-BDBEA92134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143D96-9C53-4E76-8D6B-591771957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301B5-D18D-4EA0-9CFA-D321CF05465A}" type="datetime1">
              <a:rPr lang="en-GB" smtClean="0"/>
              <a:t>26/08/2025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E78391-EC95-453A-BF04-F56829E2C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00 - Introduction          Copyright West Lothian College 2018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45C5E3-D161-4773-8666-971091996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FC986-EBAD-433F-BFF0-8D7A00ECEB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3274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B73C8-B10B-467D-87AB-22EE6F139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FF90B-ED35-41B5-B0F9-64812A7A3F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07F0CF-169D-4E1A-8643-0AEE8E5E9D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00EA22-55D2-475B-A9AA-EB3EFCD50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43FA9-5567-4061-A996-91D337526CDE}" type="datetime1">
              <a:rPr lang="en-GB" smtClean="0"/>
              <a:t>26/08/2025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8E1474-54B0-44E1-B7BE-0669D53CF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00 - Introduction          Copyright West Lothian College 2018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AC2239-0587-469E-9F8C-1F8B114E5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FC986-EBAD-433F-BFF0-8D7A00ECEB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7492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21B9E-0710-483A-BC7D-DDC0723B2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2ABF89-09EE-465F-A1AC-1A9D538030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CAEAC3-6290-4176-B0FF-07EA9C0C56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3CDFE7-ADE4-4839-828C-D93BA5A003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AF2A52-6F31-4A9D-A215-B2F2223FBE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4C092F-D4BB-4C26-BA4C-79416083A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DA8C7-A836-4F67-8805-E795E6570314}" type="datetime1">
              <a:rPr lang="en-GB" smtClean="0"/>
              <a:t>26/08/2025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3F52B5-7410-4AAB-A911-70B58206D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00 - Introduction          Copyright West Lothian College 2018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31DF9-397A-4482-9490-CCAB9D55A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FC986-EBAD-433F-BFF0-8D7A00ECEB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2969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793C0-6532-43E3-A9B6-8AF79F10A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DB1680-AC2B-4114-95F6-7A41B87D4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E5C65-3B1D-43E4-A5F3-5067220D5145}" type="datetime1">
              <a:rPr lang="en-GB" smtClean="0"/>
              <a:t>26/08/2025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85C384-44E2-4AE4-9FCE-CB11E5073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00 - Introduction          Copyright West Lothian College 2018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0C5CB7-E04C-4AC5-81A0-A2773A878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FC986-EBAD-433F-BFF0-8D7A00ECEB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6304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AEFE66-3F47-4438-9D30-49BCFE952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B061B-848A-4E18-A0F8-FB3E93B31B70}" type="datetime1">
              <a:rPr lang="en-GB" smtClean="0"/>
              <a:t>26/08/2025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6DCF35-7A8C-4A7E-9419-40903A5FE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00 - Introduction          Copyright West Lothian College 2018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FD2287-3DE4-4C3C-86D4-941C0A4C6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FC986-EBAD-433F-BFF0-8D7A00ECEB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3119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2F523-F086-4A07-995E-976A969A0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C020C-4FD1-4C9A-B3D2-926D97D322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066A9F-F1E7-4679-A6BD-AC27DCE42C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686B05-9F07-48C6-BD41-1FCD08D64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7E635-1636-447F-9713-02D5CB34788D}" type="datetime1">
              <a:rPr lang="en-GB" smtClean="0"/>
              <a:t>26/08/2025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24202E-B44C-456E-AA08-030CC5F47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00 - Introduction          Copyright West Lothian College 2018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49BCBD-1DF6-4E1C-A181-8A677FC1A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FC986-EBAD-433F-BFF0-8D7A00ECEB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0332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9E5D0-C836-468A-91E9-95A3448B0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E48602-EAD1-401C-9242-81CFB2E0E7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7D40F3-F773-4FC7-9CC3-C19458923B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7DE9AD-979F-429A-8F5A-02F16F1DF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D80D4-7E6E-43CF-9388-D34C3E395692}" type="datetime1">
              <a:rPr lang="en-GB" smtClean="0"/>
              <a:t>26/08/2025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615C78-43C4-4DD7-A71C-16443220D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00 - Introduction          Copyright West Lothian College 2018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66BC6C-2EDD-4135-88A4-D3594B017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FC986-EBAD-433F-BFF0-8D7A00ECEB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7620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375D5-9163-4DAF-9821-A9ECBC957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4912A2-1549-44BA-8728-581DB195FC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6DCA98-63E2-44FC-A664-843150285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DFD02-0536-4ABC-B25E-E29D5188D628}" type="datetime1">
              <a:rPr lang="en-GB" smtClean="0"/>
              <a:t>26/08/2025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2B97A-FD35-484E-B25F-FC2A3B7E6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00 - Introduction          Copyright West Lothian College 2018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C7CC5-335A-497D-A912-E93EDAB69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FC986-EBAD-433F-BFF0-8D7A00ECEB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3273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1A44CC-FDFB-40EA-B504-8D75505939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E5E184-4DF0-4EE3-8266-4928643682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1687CF-763B-4CE8-A428-150C1471A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C0652-E16C-4EFC-919A-CA7B2140E400}" type="datetime1">
              <a:rPr lang="en-GB" smtClean="0"/>
              <a:t>26/08/2025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AA910-5713-47F9-A6B5-2D7EDBE1C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00 - Introduction          Copyright West Lothian College 2018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9CBE4-29FD-42D1-9E74-CC32FA18C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FC986-EBAD-433F-BFF0-8D7A00ECEB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8298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BAFB31-A05F-4AB7-9323-0BC48F744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5C3599-AE2F-43FC-ADE2-EB88FF7CA7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B595D-58DB-4089-8114-8EF08975B7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A444A6-34ED-4FDD-9A05-9460E19A4714}" type="datetime1">
              <a:rPr lang="en-GB" smtClean="0"/>
              <a:t>26/08/2025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74346B-3DB7-4940-9DE7-4B25E49E9E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Presentation 00 - Introduction          Copyright West Lothian College 2018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0B0F83-FEDB-4822-B108-B89F4ABD4C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7FC986-EBAD-433F-BFF0-8D7A00ECEB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9611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5.w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D63D91-F11D-4600-9F94-4EB75319F1CC}"/>
              </a:ext>
            </a:extLst>
          </p:cNvPr>
          <p:cNvSpPr txBox="1"/>
          <p:nvPr/>
        </p:nvSpPr>
        <p:spPr>
          <a:xfrm>
            <a:off x="1308472" y="1015790"/>
            <a:ext cx="957505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>
                <a:solidFill>
                  <a:schemeClr val="bg1"/>
                </a:solidFill>
                <a:latin typeface="Georgia" panose="02040502050405020303" pitchFamily="18" charset="0"/>
              </a:rPr>
              <a:t>Network Technology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6D14FD-99EA-44C3-BC66-4CDE1016341E}"/>
              </a:ext>
            </a:extLst>
          </p:cNvPr>
          <p:cNvSpPr txBox="1"/>
          <p:nvPr/>
        </p:nvSpPr>
        <p:spPr>
          <a:xfrm>
            <a:off x="4274828" y="2669226"/>
            <a:ext cx="364234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200" dirty="0">
                <a:solidFill>
                  <a:schemeClr val="bg1"/>
                </a:solidFill>
                <a:latin typeface="Georgia" panose="02040502050405020303" pitchFamily="18" charset="0"/>
              </a:rPr>
              <a:t>FR24 35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298A89-0245-4A0C-8097-203894D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FC986-EBAD-433F-BFF0-8D7A00ECEB56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1674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C0C60-95D4-4E72-9798-F76B7A818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4 Main Parts of all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B67C9-454F-4A1D-8B06-4FA06C43ED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/>
            <a:r>
              <a:rPr lang="en-GB" dirty="0"/>
              <a:t>The End devices</a:t>
            </a:r>
          </a:p>
          <a:p>
            <a:pPr marL="742950" lvl="1" indent="-285750"/>
            <a:r>
              <a:rPr lang="en-GB" dirty="0"/>
              <a:t>These are the source and the destination of the data</a:t>
            </a:r>
          </a:p>
          <a:p>
            <a:pPr marL="285750" indent="-285750"/>
            <a:r>
              <a:rPr lang="en-GB" dirty="0"/>
              <a:t>The Intermediary devices</a:t>
            </a:r>
          </a:p>
          <a:p>
            <a:pPr marL="742950" lvl="1" indent="-285750"/>
            <a:r>
              <a:rPr lang="en-GB" dirty="0"/>
              <a:t>These are the devices (if any) through which the data travels in it’s journey.  These devices sometimes direct the data</a:t>
            </a:r>
          </a:p>
          <a:p>
            <a:pPr marL="285750" indent="-285750"/>
            <a:r>
              <a:rPr lang="en-GB" dirty="0"/>
              <a:t>The Media</a:t>
            </a:r>
          </a:p>
          <a:p>
            <a:pPr marL="742950" lvl="1" indent="-285750"/>
            <a:r>
              <a:rPr lang="en-GB" dirty="0"/>
              <a:t>This is the channel which carries the data (copper cable/Fibre optic/Wireless)</a:t>
            </a:r>
          </a:p>
          <a:p>
            <a:pPr marL="285750" indent="-285750"/>
            <a:r>
              <a:rPr lang="en-GB" dirty="0"/>
              <a:t>The Protocols</a:t>
            </a:r>
          </a:p>
          <a:p>
            <a:pPr marL="742950" lvl="1" indent="-285750"/>
            <a:r>
              <a:rPr lang="en-GB" dirty="0"/>
              <a:t>These are the rules of the communication (TCP/IP)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D746CD-0204-41E0-87C7-B9D1315D2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Copyright West Lothian College 2018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4B41DF-BF2C-4E77-8DA9-E4C28FD29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FC986-EBAD-433F-BFF0-8D7A00ECEB56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0602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585C8-C8AE-4436-8F32-70B605AC9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Network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DA452-16CF-4585-9EC4-52FA8FEA5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+mn-lt"/>
              </a:rPr>
              <a:t>Local Area Network (LAN)</a:t>
            </a:r>
          </a:p>
          <a:p>
            <a:r>
              <a:rPr lang="en-US" dirty="0">
                <a:latin typeface="+mn-lt"/>
              </a:rPr>
              <a:t>Wide Area Network (WAN)</a:t>
            </a:r>
          </a:p>
          <a:p>
            <a:r>
              <a:rPr lang="en-US" dirty="0">
                <a:latin typeface="+mn-lt"/>
              </a:rPr>
              <a:t>Campus Network (CAN)</a:t>
            </a:r>
          </a:p>
          <a:p>
            <a:r>
              <a:rPr lang="en-US" dirty="0">
                <a:latin typeface="+mn-lt"/>
              </a:rPr>
              <a:t>Metropolitan Area Network (MAN)</a:t>
            </a:r>
          </a:p>
          <a:p>
            <a:r>
              <a:rPr lang="en-US" dirty="0">
                <a:latin typeface="+mn-lt"/>
              </a:rPr>
              <a:t>Personal Area Network (PAN)</a:t>
            </a:r>
          </a:p>
          <a:p>
            <a:r>
              <a:rPr lang="en-US" dirty="0">
                <a:latin typeface="+mn-lt"/>
              </a:rPr>
              <a:t>Storage-Area Network (SAN)</a:t>
            </a:r>
          </a:p>
          <a:p>
            <a:r>
              <a:rPr lang="en-US" dirty="0">
                <a:latin typeface="+mn-lt"/>
              </a:rPr>
              <a:t>Wireless Local Area Network (WLAN)</a:t>
            </a:r>
          </a:p>
          <a:p>
            <a:r>
              <a:rPr lang="en-US" dirty="0">
                <a:latin typeface="+mn-lt"/>
              </a:rPr>
              <a:t>Ad-hoc Wireless</a:t>
            </a:r>
          </a:p>
          <a:p>
            <a:r>
              <a:rPr lang="en-US" dirty="0">
                <a:latin typeface="+mn-lt"/>
              </a:rPr>
              <a:t>Virtual Private Network (VPN)</a:t>
            </a:r>
          </a:p>
          <a:p>
            <a:r>
              <a:rPr lang="en-US" dirty="0">
                <a:latin typeface="+mn-lt"/>
              </a:rPr>
              <a:t>Intranets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478B2F-CB24-44EA-8A51-D21B50B83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Copyright West Lothian College 2018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A38E84-6E82-46CF-ABCE-BEF9C55B1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FC986-EBAD-433F-BFF0-8D7A00ECEB56}" type="slidenum">
              <a:rPr lang="en-GB" smtClean="0"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50672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078A7-9692-4167-BCED-BA3C034A1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Local Area Network (LAN)</a:t>
            </a:r>
            <a:endParaRPr lang="en-GB" dirty="0">
              <a:latin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05083-68F0-45B5-8459-D5B9B3DFA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dirty="0">
                <a:latin typeface="+mj-lt"/>
              </a:rPr>
              <a:t>Connects devices in a limited geographical area</a:t>
            </a:r>
          </a:p>
          <a:p>
            <a:pPr>
              <a:lnSpc>
                <a:spcPct val="80000"/>
              </a:lnSpc>
            </a:pPr>
            <a:r>
              <a:rPr lang="en-US" dirty="0">
                <a:latin typeface="+mj-lt"/>
              </a:rPr>
              <a:t>Typically under a local administrator</a:t>
            </a:r>
          </a:p>
          <a:p>
            <a:pPr>
              <a:lnSpc>
                <a:spcPct val="80000"/>
              </a:lnSpc>
            </a:pPr>
            <a:r>
              <a:rPr lang="en-US" dirty="0">
                <a:latin typeface="+mj-lt"/>
              </a:rPr>
              <a:t>Typically connected using one or more hubs or switches</a:t>
            </a:r>
          </a:p>
          <a:p>
            <a:pPr>
              <a:lnSpc>
                <a:spcPct val="80000"/>
              </a:lnSpc>
            </a:pPr>
            <a:r>
              <a:rPr lang="en-US" dirty="0">
                <a:latin typeface="+mj-lt"/>
              </a:rPr>
              <a:t>Can be quite small – few devices</a:t>
            </a:r>
          </a:p>
          <a:p>
            <a:pPr lvl="1">
              <a:lnSpc>
                <a:spcPct val="80000"/>
              </a:lnSpc>
            </a:pPr>
            <a:r>
              <a:rPr lang="en-US" dirty="0">
                <a:latin typeface="+mj-lt"/>
              </a:rPr>
              <a:t>Small Office Home Office (SOHO)</a:t>
            </a:r>
          </a:p>
          <a:p>
            <a:pPr lvl="1">
              <a:lnSpc>
                <a:spcPct val="80000"/>
              </a:lnSpc>
            </a:pPr>
            <a:r>
              <a:rPr lang="en-US" dirty="0">
                <a:latin typeface="+mj-lt"/>
              </a:rPr>
              <a:t>Remote Office Branch Office (ROBO)</a:t>
            </a:r>
          </a:p>
          <a:p>
            <a:pPr>
              <a:lnSpc>
                <a:spcPct val="80000"/>
              </a:lnSpc>
            </a:pPr>
            <a:r>
              <a:rPr lang="en-US" dirty="0">
                <a:latin typeface="+mj-lt"/>
              </a:rPr>
              <a:t>Could be larger – up to thousands of devices</a:t>
            </a:r>
          </a:p>
          <a:p>
            <a:pPr>
              <a:lnSpc>
                <a:spcPct val="80000"/>
              </a:lnSpc>
            </a:pPr>
            <a:r>
              <a:rPr lang="en-US" dirty="0">
                <a:latin typeface="+mj-lt"/>
              </a:rPr>
              <a:t>LAN Bandwidth determined by devices and connecting media</a:t>
            </a:r>
          </a:p>
          <a:p>
            <a:pPr>
              <a:lnSpc>
                <a:spcPct val="80000"/>
              </a:lnSpc>
            </a:pPr>
            <a:r>
              <a:rPr lang="en-US" dirty="0">
                <a:latin typeface="+mj-lt"/>
              </a:rPr>
              <a:t>Typically Ethernet 10/100/1000 Mbps</a:t>
            </a:r>
            <a:endParaRPr lang="en-GB" dirty="0">
              <a:latin typeface="+mj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065D5-CE7A-43A4-B486-D17EBAED6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Copyright West Lothian College 2018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31E727-695A-4A55-A90C-050159DBC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FC986-EBAD-433F-BFF0-8D7A00ECEB56}" type="slidenum">
              <a:rPr lang="en-GB" smtClean="0"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43439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F4C2E-B0BD-4CEB-BFE8-1F1367910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Local Area Network (LAN)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DFACC-FBB1-42FC-AFB9-971B83A04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LAN describes a network in one location. It may be one building or several but all computers are connected on an internal network with or without a link to the Internet. This network is controlled and managed by the owner of the network. The network can be a mixture of wired and wireless connections and, depending on its size, can have different sub-networks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A20D4C-E43B-407D-8C41-404CF2407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Copyright West Lothian College 2018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705026-FE11-4721-9EFE-D98B2FD61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FC986-EBAD-433F-BFF0-8D7A00ECEB56}" type="slidenum">
              <a:rPr lang="en-GB" smtClean="0"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85849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1DA9B-CEE2-40FA-876E-B75E807D3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FF0000"/>
                </a:solidFill>
              </a:rPr>
              <a:t>IEEE Standards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22A9A1-7DB2-42AD-B255-0CB59D0C2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FF0000"/>
                </a:solidFill>
              </a:rPr>
              <a:t>Copyright West Lothian College 2018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5E8C46-F146-4FCF-87E9-9E8821F71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FC986-EBAD-433F-BFF0-8D7A00ECEB56}" type="slidenum">
              <a:rPr lang="en-GB" smtClean="0">
                <a:solidFill>
                  <a:srgbClr val="FF0000"/>
                </a:solidFill>
              </a:rPr>
              <a:t>6</a:t>
            </a:fld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7" name="Rounded Rectangle 7">
            <a:extLst>
              <a:ext uri="{FF2B5EF4-FFF2-40B4-BE49-F238E27FC236}">
                <a16:creationId xmlns:a16="http://schemas.microsoft.com/office/drawing/2014/main" id="{29F28ADD-108A-4301-8DD8-37014574E003}"/>
              </a:ext>
            </a:extLst>
          </p:cNvPr>
          <p:cNvSpPr/>
          <p:nvPr/>
        </p:nvSpPr>
        <p:spPr>
          <a:xfrm>
            <a:off x="1866900" y="1725417"/>
            <a:ext cx="1600200" cy="914400"/>
          </a:xfrm>
          <a:prstGeom prst="roundRect">
            <a:avLst/>
          </a:prstGeom>
          <a:noFill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Calibri" charset="0"/>
              </a:rPr>
              <a:t>IEEE 802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8" name="Rounded Rectangle 8">
            <a:extLst>
              <a:ext uri="{FF2B5EF4-FFF2-40B4-BE49-F238E27FC236}">
                <a16:creationId xmlns:a16="http://schemas.microsoft.com/office/drawing/2014/main" id="{86D98C97-EED0-4B28-A616-ED71A0556F0D}"/>
              </a:ext>
            </a:extLst>
          </p:cNvPr>
          <p:cNvSpPr/>
          <p:nvPr/>
        </p:nvSpPr>
        <p:spPr>
          <a:xfrm>
            <a:off x="5295900" y="1725417"/>
            <a:ext cx="1600200" cy="914400"/>
          </a:xfrm>
          <a:prstGeom prst="roundRect">
            <a:avLst/>
          </a:prstGeom>
          <a:noFill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Calibri" charset="0"/>
              </a:rPr>
              <a:t>IEEE 802.3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9" name="Rounded Rectangle 9">
            <a:extLst>
              <a:ext uri="{FF2B5EF4-FFF2-40B4-BE49-F238E27FC236}">
                <a16:creationId xmlns:a16="http://schemas.microsoft.com/office/drawing/2014/main" id="{06E4311F-CF5C-4DAA-AA21-44D2E043B628}"/>
              </a:ext>
            </a:extLst>
          </p:cNvPr>
          <p:cNvSpPr/>
          <p:nvPr/>
        </p:nvSpPr>
        <p:spPr>
          <a:xfrm>
            <a:off x="8424797" y="1725417"/>
            <a:ext cx="1600200" cy="914400"/>
          </a:xfrm>
          <a:prstGeom prst="roundRect">
            <a:avLst/>
          </a:prstGeom>
          <a:noFill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Calibri" charset="0"/>
              </a:rPr>
              <a:t>IEEE 802.11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0" name="Rounded Rectangle 10">
            <a:extLst>
              <a:ext uri="{FF2B5EF4-FFF2-40B4-BE49-F238E27FC236}">
                <a16:creationId xmlns:a16="http://schemas.microsoft.com/office/drawing/2014/main" id="{6A87FD09-27C5-4FFA-B557-9B5C7BDC1F2F}"/>
              </a:ext>
            </a:extLst>
          </p:cNvPr>
          <p:cNvSpPr/>
          <p:nvPr/>
        </p:nvSpPr>
        <p:spPr>
          <a:xfrm>
            <a:off x="1866900" y="2868417"/>
            <a:ext cx="5105400" cy="1066800"/>
          </a:xfrm>
          <a:prstGeom prst="roundRect">
            <a:avLst/>
          </a:prstGeom>
          <a:noFill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/>
              <a:buChar char="•"/>
            </a:pPr>
            <a:r>
              <a:rPr lang="en-US" b="1" dirty="0">
                <a:solidFill>
                  <a:srgbClr val="FF0000"/>
                </a:solidFill>
                <a:latin typeface="Calibri" charset="0"/>
              </a:rPr>
              <a:t>Standards dealing with LANs and MANs</a:t>
            </a:r>
          </a:p>
          <a:p>
            <a:pPr marL="285750" indent="-285750">
              <a:buFont typeface="Arial"/>
              <a:buChar char="•"/>
            </a:pPr>
            <a:r>
              <a:rPr lang="en-US" b="1" dirty="0">
                <a:solidFill>
                  <a:srgbClr val="FF0000"/>
                </a:solidFill>
                <a:latin typeface="Calibri" charset="0"/>
              </a:rPr>
              <a:t>Concerned with Layer 1 (Physical) and Layer 2 (Data Link)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1" name="Rounded Rectangle 12">
            <a:extLst>
              <a:ext uri="{FF2B5EF4-FFF2-40B4-BE49-F238E27FC236}">
                <a16:creationId xmlns:a16="http://schemas.microsoft.com/office/drawing/2014/main" id="{09F9613F-27FE-4FD7-84AC-2FAFCA2D4746}"/>
              </a:ext>
            </a:extLst>
          </p:cNvPr>
          <p:cNvSpPr/>
          <p:nvPr/>
        </p:nvSpPr>
        <p:spPr>
          <a:xfrm>
            <a:off x="3543300" y="4011417"/>
            <a:ext cx="5105400" cy="1066800"/>
          </a:xfrm>
          <a:prstGeom prst="roundRect">
            <a:avLst/>
          </a:prstGeom>
          <a:noFill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Calibri" charset="0"/>
              </a:rPr>
              <a:t>Layer 1 and Layer 2 specifications concerned with Wired Ethernet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2" name="Rounded Rectangle 13">
            <a:extLst>
              <a:ext uri="{FF2B5EF4-FFF2-40B4-BE49-F238E27FC236}">
                <a16:creationId xmlns:a16="http://schemas.microsoft.com/office/drawing/2014/main" id="{F550264C-5363-4055-9EEF-5AD7E7DAEE1C}"/>
              </a:ext>
            </a:extLst>
          </p:cNvPr>
          <p:cNvSpPr/>
          <p:nvPr/>
        </p:nvSpPr>
        <p:spPr>
          <a:xfrm>
            <a:off x="4991100" y="5154417"/>
            <a:ext cx="5105400" cy="1066800"/>
          </a:xfrm>
          <a:prstGeom prst="roundRect">
            <a:avLst/>
          </a:prstGeom>
          <a:noFill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Calibri" charset="0"/>
              </a:rPr>
              <a:t>Layer 1 and Layer 2 specifications concerned with Wireless LANs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13" name="Elbow Connector 5">
            <a:extLst>
              <a:ext uri="{FF2B5EF4-FFF2-40B4-BE49-F238E27FC236}">
                <a16:creationId xmlns:a16="http://schemas.microsoft.com/office/drawing/2014/main" id="{14F8727C-61FD-4529-A82B-EB04C17C2CD6}"/>
              </a:ext>
            </a:extLst>
          </p:cNvPr>
          <p:cNvCxnSpPr>
            <a:stCxn id="7" idx="3"/>
            <a:endCxn id="10" idx="0"/>
          </p:cNvCxnSpPr>
          <p:nvPr/>
        </p:nvCxnSpPr>
        <p:spPr>
          <a:xfrm>
            <a:off x="3467100" y="2182617"/>
            <a:ext cx="952500" cy="68580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7">
            <a:extLst>
              <a:ext uri="{FF2B5EF4-FFF2-40B4-BE49-F238E27FC236}">
                <a16:creationId xmlns:a16="http://schemas.microsoft.com/office/drawing/2014/main" id="{694BAA22-D3FF-46B3-A251-12D8B08E9DD1}"/>
              </a:ext>
            </a:extLst>
          </p:cNvPr>
          <p:cNvCxnSpPr>
            <a:stCxn id="8" idx="3"/>
          </p:cNvCxnSpPr>
          <p:nvPr/>
        </p:nvCxnSpPr>
        <p:spPr>
          <a:xfrm>
            <a:off x="6896100" y="2182617"/>
            <a:ext cx="762000" cy="182880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B7DCCE4-3533-422B-8302-A90089B75026}"/>
              </a:ext>
            </a:extLst>
          </p:cNvPr>
          <p:cNvCxnSpPr>
            <a:stCxn id="9" idx="2"/>
          </p:cNvCxnSpPr>
          <p:nvPr/>
        </p:nvCxnSpPr>
        <p:spPr>
          <a:xfrm flipH="1">
            <a:off x="9186797" y="2639817"/>
            <a:ext cx="38100" cy="2514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8277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7E701-95F6-4135-B96C-4F957C125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LAN Setup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B36D21-6E14-4D21-BFDD-105FD5417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Copyright West Lothian College 2018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6D2E7B-AFEB-433E-A4E8-4AAD2CE51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FC986-EBAD-433F-BFF0-8D7A00ECEB56}" type="slidenum">
              <a:rPr lang="en-GB" smtClean="0"/>
              <a:t>7</a:t>
            </a:fld>
            <a:endParaRPr lang="en-GB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9B2333B-DB66-44BB-A31B-D552D3B8D786}"/>
              </a:ext>
            </a:extLst>
          </p:cNvPr>
          <p:cNvGrpSpPr/>
          <p:nvPr/>
        </p:nvGrpSpPr>
        <p:grpSpPr>
          <a:xfrm>
            <a:off x="1998942" y="4701540"/>
            <a:ext cx="975360" cy="1699260"/>
            <a:chOff x="1998942" y="4701540"/>
            <a:chExt cx="975360" cy="169926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560AE585-B408-46FD-9ACE-E73F1E16A8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98942" y="4701540"/>
              <a:ext cx="975360" cy="975360"/>
            </a:xfrm>
            <a:prstGeom prst="rect">
              <a:avLst/>
            </a:prstGeom>
          </p:spPr>
        </p:pic>
        <p:sp>
          <p:nvSpPr>
            <p:cNvPr id="20" name="Text Box 7">
              <a:extLst>
                <a:ext uri="{FF2B5EF4-FFF2-40B4-BE49-F238E27FC236}">
                  <a16:creationId xmlns:a16="http://schemas.microsoft.com/office/drawing/2014/main" id="{39CFB8F1-D93F-4CDC-8057-BB8E776681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2855" y="5711510"/>
              <a:ext cx="788677" cy="689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73025" tIns="36512" rIns="73025" bIns="36512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2000" dirty="0">
                  <a:cs typeface="+mn-cs"/>
                </a:rPr>
                <a:t>Client</a:t>
              </a:r>
            </a:p>
            <a:p>
              <a:pPr algn="ctr">
                <a:defRPr/>
              </a:pPr>
              <a:r>
                <a:rPr lang="en-US" sz="2000" dirty="0">
                  <a:cs typeface="+mn-cs"/>
                </a:rPr>
                <a:t>A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CCB65AC-A5A6-4255-BBC9-BACC69A786FE}"/>
              </a:ext>
            </a:extLst>
          </p:cNvPr>
          <p:cNvGrpSpPr/>
          <p:nvPr/>
        </p:nvGrpSpPr>
        <p:grpSpPr>
          <a:xfrm>
            <a:off x="9200591" y="2396810"/>
            <a:ext cx="975360" cy="1717990"/>
            <a:chOff x="9200591" y="2396810"/>
            <a:chExt cx="975360" cy="171799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481F38E-03F0-4005-86F9-F769A090A0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00591" y="2396810"/>
              <a:ext cx="975360" cy="975360"/>
            </a:xfrm>
            <a:prstGeom prst="rect">
              <a:avLst/>
            </a:prstGeom>
          </p:spPr>
        </p:pic>
        <p:sp>
          <p:nvSpPr>
            <p:cNvPr id="21" name="Text Box 7">
              <a:extLst>
                <a:ext uri="{FF2B5EF4-FFF2-40B4-BE49-F238E27FC236}">
                  <a16:creationId xmlns:a16="http://schemas.microsoft.com/office/drawing/2014/main" id="{91142B24-10BB-4031-8C1C-043868FD32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91855" y="3425510"/>
              <a:ext cx="788677" cy="689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73025" tIns="36512" rIns="73025" bIns="36512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2000" dirty="0">
                  <a:cs typeface="+mn-cs"/>
                </a:rPr>
                <a:t>Client</a:t>
              </a:r>
            </a:p>
            <a:p>
              <a:pPr algn="ctr">
                <a:defRPr/>
              </a:pPr>
              <a:r>
                <a:rPr lang="en-US" sz="2000" dirty="0">
                  <a:cs typeface="+mn-cs"/>
                </a:rPr>
                <a:t>B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6D78E37-33F4-4A36-AF4E-7B742DED3895}"/>
              </a:ext>
            </a:extLst>
          </p:cNvPr>
          <p:cNvGrpSpPr/>
          <p:nvPr/>
        </p:nvGrpSpPr>
        <p:grpSpPr>
          <a:xfrm>
            <a:off x="9200591" y="4701540"/>
            <a:ext cx="975360" cy="1702750"/>
            <a:chOff x="9200591" y="4701540"/>
            <a:chExt cx="975360" cy="1702750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385DA37-D9C3-40B2-816E-04890529DF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00591" y="4701540"/>
              <a:ext cx="975360" cy="975360"/>
            </a:xfrm>
            <a:prstGeom prst="rect">
              <a:avLst/>
            </a:prstGeom>
          </p:spPr>
        </p:pic>
        <p:sp>
          <p:nvSpPr>
            <p:cNvPr id="22" name="Text Box 7">
              <a:extLst>
                <a:ext uri="{FF2B5EF4-FFF2-40B4-BE49-F238E27FC236}">
                  <a16:creationId xmlns:a16="http://schemas.microsoft.com/office/drawing/2014/main" id="{F3E99CFC-C7AB-4514-A157-1A18C9A76C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91855" y="5715000"/>
              <a:ext cx="788677" cy="689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73025" tIns="36512" rIns="73025" bIns="36512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2000" dirty="0">
                  <a:cs typeface="+mn-cs"/>
                </a:rPr>
                <a:t>Client</a:t>
              </a:r>
            </a:p>
            <a:p>
              <a:pPr algn="ctr">
                <a:defRPr/>
              </a:pPr>
              <a:r>
                <a:rPr lang="en-US" sz="2000" dirty="0">
                  <a:cs typeface="+mn-cs"/>
                </a:rPr>
                <a:t>C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1C9BEEE-8B4A-4D3D-A432-77A5556F9595}"/>
              </a:ext>
            </a:extLst>
          </p:cNvPr>
          <p:cNvGrpSpPr/>
          <p:nvPr/>
        </p:nvGrpSpPr>
        <p:grpSpPr>
          <a:xfrm>
            <a:off x="1997758" y="2396810"/>
            <a:ext cx="976544" cy="1448314"/>
            <a:chOff x="1997758" y="2396810"/>
            <a:chExt cx="976544" cy="1448314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DA2B852-3A67-4FDA-B032-71B3095AB2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98942" y="2396810"/>
              <a:ext cx="975360" cy="975360"/>
            </a:xfrm>
            <a:prstGeom prst="rect">
              <a:avLst/>
            </a:prstGeom>
          </p:spPr>
        </p:pic>
        <p:sp>
          <p:nvSpPr>
            <p:cNvPr id="23" name="Text Box 7">
              <a:extLst>
                <a:ext uri="{FF2B5EF4-FFF2-40B4-BE49-F238E27FC236}">
                  <a16:creationId xmlns:a16="http://schemas.microsoft.com/office/drawing/2014/main" id="{B793A4A1-145F-4C3A-BE13-5F84CE3E76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97758" y="3463610"/>
              <a:ext cx="871458" cy="3815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73025" tIns="36512" rIns="73025" bIns="36512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2000" dirty="0">
                  <a:cs typeface="+mn-cs"/>
                </a:rPr>
                <a:t>Server</a:t>
              </a:r>
            </a:p>
          </p:txBody>
        </p:sp>
      </p:grpSp>
      <p:sp>
        <p:nvSpPr>
          <p:cNvPr id="29" name="Text Box 7">
            <a:extLst>
              <a:ext uri="{FF2B5EF4-FFF2-40B4-BE49-F238E27FC236}">
                <a16:creationId xmlns:a16="http://schemas.microsoft.com/office/drawing/2014/main" id="{D7EF57F3-9DEF-4440-B750-24E1C98D23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8066" y="2361686"/>
            <a:ext cx="147476" cy="3815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73025" tIns="36512" rIns="73025" bIns="36512">
            <a:spAutoFit/>
          </a:bodyPr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2000" dirty="0">
                <a:cs typeface="+mn-cs"/>
              </a:rPr>
              <a:t> </a:t>
            </a:r>
          </a:p>
        </p:txBody>
      </p:sp>
      <p:sp>
        <p:nvSpPr>
          <p:cNvPr id="31" name="Text Box 7">
            <a:extLst>
              <a:ext uri="{FF2B5EF4-FFF2-40B4-BE49-F238E27FC236}">
                <a16:creationId xmlns:a16="http://schemas.microsoft.com/office/drawing/2014/main" id="{2EE140D2-3906-4BD9-A25F-C2F97090E7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2466" y="2362200"/>
            <a:ext cx="147476" cy="3815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73025" tIns="36512" rIns="73025" bIns="36512">
            <a:spAutoFit/>
          </a:bodyPr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2000" dirty="0">
                <a:cs typeface="+mn-cs"/>
              </a:rPr>
              <a:t> 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A87A18F-2BFE-4F8E-B131-CAFB8538DDCE}"/>
              </a:ext>
            </a:extLst>
          </p:cNvPr>
          <p:cNvGrpSpPr/>
          <p:nvPr/>
        </p:nvGrpSpPr>
        <p:grpSpPr>
          <a:xfrm>
            <a:off x="2974302" y="1804035"/>
            <a:ext cx="6226290" cy="3385185"/>
            <a:chOff x="2974302" y="1804035"/>
            <a:chExt cx="6226290" cy="3385185"/>
          </a:xfrm>
        </p:grpSpPr>
        <p:cxnSp>
          <p:nvCxnSpPr>
            <p:cNvPr id="32" name="Elbow Connector 69">
              <a:extLst>
                <a:ext uri="{FF2B5EF4-FFF2-40B4-BE49-F238E27FC236}">
                  <a16:creationId xmlns:a16="http://schemas.microsoft.com/office/drawing/2014/main" id="{84A6A88F-6AFD-4408-881D-106CA5D65218}"/>
                </a:ext>
              </a:extLst>
            </p:cNvPr>
            <p:cNvCxnSpPr>
              <a:cxnSpLocks/>
              <a:stCxn id="29" idx="3"/>
              <a:endCxn id="31" idx="1"/>
            </p:cNvCxnSpPr>
            <p:nvPr/>
          </p:nvCxnSpPr>
          <p:spPr>
            <a:xfrm>
              <a:off x="5275542" y="2552443"/>
              <a:ext cx="766924" cy="514"/>
            </a:xfrm>
            <a:prstGeom prst="straightConnector1">
              <a:avLst/>
            </a:prstGeom>
            <a:ln w="50800" cmpd="sng">
              <a:solidFill>
                <a:schemeClr val="accent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E0D30213-DA88-4C29-91B6-309021A544E6}"/>
                </a:ext>
              </a:extLst>
            </p:cNvPr>
            <p:cNvGrpSpPr/>
            <p:nvPr/>
          </p:nvGrpSpPr>
          <p:grpSpPr>
            <a:xfrm>
              <a:off x="2974302" y="1804035"/>
              <a:ext cx="6226290" cy="3385185"/>
              <a:chOff x="2974302" y="1804035"/>
              <a:chExt cx="6226290" cy="3385185"/>
            </a:xfrm>
          </p:grpSpPr>
          <p:cxnSp>
            <p:nvCxnSpPr>
              <p:cNvPr id="9" name="Elbow Connector 7">
                <a:extLst>
                  <a:ext uri="{FF2B5EF4-FFF2-40B4-BE49-F238E27FC236}">
                    <a16:creationId xmlns:a16="http://schemas.microsoft.com/office/drawing/2014/main" id="{A5C279DF-BA51-4D95-A9E4-95E7A328CEF8}"/>
                  </a:ext>
                </a:extLst>
              </p:cNvPr>
              <p:cNvCxnSpPr>
                <a:cxnSpLocks/>
                <a:stCxn id="7" idx="3"/>
                <a:endCxn id="35" idx="1"/>
              </p:cNvCxnSpPr>
              <p:nvPr/>
            </p:nvCxnSpPr>
            <p:spPr>
              <a:xfrm>
                <a:off x="2974302" y="2884490"/>
                <a:ext cx="1005836" cy="1181160"/>
              </a:xfrm>
              <a:prstGeom prst="bentConnector3">
                <a:avLst/>
              </a:prstGeom>
              <a:ln w="50800" cmpd="sng">
                <a:solidFill>
                  <a:schemeClr val="accent2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Elbow Connector 13">
                <a:extLst>
                  <a:ext uri="{FF2B5EF4-FFF2-40B4-BE49-F238E27FC236}">
                    <a16:creationId xmlns:a16="http://schemas.microsoft.com/office/drawing/2014/main" id="{C2DBB789-27C6-4C57-9F00-105ED23037BA}"/>
                  </a:ext>
                </a:extLst>
              </p:cNvPr>
              <p:cNvCxnSpPr>
                <a:cxnSpLocks/>
                <a:stCxn id="35" idx="3"/>
                <a:endCxn id="36" idx="1"/>
              </p:cNvCxnSpPr>
              <p:nvPr/>
            </p:nvCxnSpPr>
            <p:spPr>
              <a:xfrm flipV="1">
                <a:off x="4864058" y="3572256"/>
                <a:ext cx="868684" cy="493394"/>
              </a:xfrm>
              <a:prstGeom prst="bentConnector3">
                <a:avLst>
                  <a:gd name="adj1" fmla="val 50000"/>
                </a:avLst>
              </a:prstGeom>
              <a:ln w="50800" cmpd="sng">
                <a:solidFill>
                  <a:schemeClr val="accent2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Elbow Connector 18">
                <a:extLst>
                  <a:ext uri="{FF2B5EF4-FFF2-40B4-BE49-F238E27FC236}">
                    <a16:creationId xmlns:a16="http://schemas.microsoft.com/office/drawing/2014/main" id="{6D319A9F-0523-4935-8F13-5ADA01715B74}"/>
                  </a:ext>
                </a:extLst>
              </p:cNvPr>
              <p:cNvCxnSpPr>
                <a:cxnSpLocks/>
                <a:stCxn id="34" idx="1"/>
                <a:endCxn id="36" idx="3"/>
              </p:cNvCxnSpPr>
              <p:nvPr/>
            </p:nvCxnSpPr>
            <p:spPr>
              <a:xfrm rot="10800000">
                <a:off x="6639204" y="3572256"/>
                <a:ext cx="769938" cy="429832"/>
              </a:xfrm>
              <a:prstGeom prst="bentConnector3">
                <a:avLst>
                  <a:gd name="adj1" fmla="val 50000"/>
                </a:avLst>
              </a:prstGeom>
              <a:ln w="50800" cmpd="sng">
                <a:solidFill>
                  <a:schemeClr val="accent2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Elbow Connector 22">
                <a:extLst>
                  <a:ext uri="{FF2B5EF4-FFF2-40B4-BE49-F238E27FC236}">
                    <a16:creationId xmlns:a16="http://schemas.microsoft.com/office/drawing/2014/main" id="{6A870E6D-C4E8-413F-AEFF-1A63E0BE98B8}"/>
                  </a:ext>
                </a:extLst>
              </p:cNvPr>
              <p:cNvCxnSpPr>
                <a:cxnSpLocks/>
                <a:stCxn id="8" idx="1"/>
                <a:endCxn id="34" idx="3"/>
              </p:cNvCxnSpPr>
              <p:nvPr/>
            </p:nvCxnSpPr>
            <p:spPr>
              <a:xfrm rot="10800000" flipV="1">
                <a:off x="8293381" y="2884490"/>
                <a:ext cx="907211" cy="1117598"/>
              </a:xfrm>
              <a:prstGeom prst="bentConnector3">
                <a:avLst>
                  <a:gd name="adj1" fmla="val 50000"/>
                </a:avLst>
              </a:prstGeom>
              <a:ln w="50800" cmpd="sng">
                <a:solidFill>
                  <a:schemeClr val="accent2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Elbow Connector 26">
                <a:extLst>
                  <a:ext uri="{FF2B5EF4-FFF2-40B4-BE49-F238E27FC236}">
                    <a16:creationId xmlns:a16="http://schemas.microsoft.com/office/drawing/2014/main" id="{3362A9E1-D6B9-4720-B7F3-310A9AEA1A29}"/>
                  </a:ext>
                </a:extLst>
              </p:cNvPr>
              <p:cNvCxnSpPr>
                <a:cxnSpLocks/>
                <a:stCxn id="14" idx="3"/>
                <a:endCxn id="35" idx="1"/>
              </p:cNvCxnSpPr>
              <p:nvPr/>
            </p:nvCxnSpPr>
            <p:spPr>
              <a:xfrm flipV="1">
                <a:off x="2974302" y="4065650"/>
                <a:ext cx="1005836" cy="1123570"/>
              </a:xfrm>
              <a:prstGeom prst="bentConnector3">
                <a:avLst/>
              </a:prstGeom>
              <a:ln w="50800" cmpd="sng">
                <a:solidFill>
                  <a:schemeClr val="accent2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Elbow Connector 29">
                <a:extLst>
                  <a:ext uri="{FF2B5EF4-FFF2-40B4-BE49-F238E27FC236}">
                    <a16:creationId xmlns:a16="http://schemas.microsoft.com/office/drawing/2014/main" id="{78E9D598-CA06-4ABA-AB0A-B337BB91817C}"/>
                  </a:ext>
                </a:extLst>
              </p:cNvPr>
              <p:cNvCxnSpPr>
                <a:cxnSpLocks/>
                <a:stCxn id="13" idx="1"/>
                <a:endCxn id="34" idx="3"/>
              </p:cNvCxnSpPr>
              <p:nvPr/>
            </p:nvCxnSpPr>
            <p:spPr>
              <a:xfrm rot="10800000">
                <a:off x="8293381" y="4002088"/>
                <a:ext cx="907211" cy="1187132"/>
              </a:xfrm>
              <a:prstGeom prst="bentConnector3">
                <a:avLst>
                  <a:gd name="adj1" fmla="val 50000"/>
                </a:avLst>
              </a:prstGeom>
              <a:ln w="50800" cmpd="sng">
                <a:solidFill>
                  <a:schemeClr val="accent2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Elbow Connector 69">
                <a:extLst>
                  <a:ext uri="{FF2B5EF4-FFF2-40B4-BE49-F238E27FC236}">
                    <a16:creationId xmlns:a16="http://schemas.microsoft.com/office/drawing/2014/main" id="{DB9CFFE9-F713-409B-A636-1144D2CE4226}"/>
                  </a:ext>
                </a:extLst>
              </p:cNvPr>
              <p:cNvCxnSpPr>
                <a:cxnSpLocks/>
                <a:stCxn id="36" idx="0"/>
                <a:endCxn id="29" idx="3"/>
              </p:cNvCxnSpPr>
              <p:nvPr/>
            </p:nvCxnSpPr>
            <p:spPr>
              <a:xfrm flipH="1" flipV="1">
                <a:off x="5275542" y="2552443"/>
                <a:ext cx="910431" cy="724157"/>
              </a:xfrm>
              <a:prstGeom prst="straightConnector1">
                <a:avLst/>
              </a:prstGeom>
              <a:ln w="50800" cmpd="sng">
                <a:solidFill>
                  <a:schemeClr val="accent2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Elbow Connector 69">
                <a:extLst>
                  <a:ext uri="{FF2B5EF4-FFF2-40B4-BE49-F238E27FC236}">
                    <a16:creationId xmlns:a16="http://schemas.microsoft.com/office/drawing/2014/main" id="{D62912E1-6161-4F83-8714-4F6720F403D2}"/>
                  </a:ext>
                </a:extLst>
              </p:cNvPr>
              <p:cNvCxnSpPr>
                <a:cxnSpLocks/>
                <a:stCxn id="37" idx="3"/>
                <a:endCxn id="31" idx="1"/>
              </p:cNvCxnSpPr>
              <p:nvPr/>
            </p:nvCxnSpPr>
            <p:spPr>
              <a:xfrm>
                <a:off x="4970742" y="1804035"/>
                <a:ext cx="1071724" cy="748922"/>
              </a:xfrm>
              <a:prstGeom prst="straightConnector1">
                <a:avLst/>
              </a:prstGeom>
              <a:ln w="50800" cmpd="sng">
                <a:solidFill>
                  <a:schemeClr val="accent2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C83C3EE2-6649-4A17-9AEE-1B57D39DBF52}"/>
              </a:ext>
            </a:extLst>
          </p:cNvPr>
          <p:cNvGrpSpPr/>
          <p:nvPr/>
        </p:nvGrpSpPr>
        <p:grpSpPr>
          <a:xfrm>
            <a:off x="7409142" y="3813175"/>
            <a:ext cx="884238" cy="911739"/>
            <a:chOff x="7409142" y="3813175"/>
            <a:chExt cx="884238" cy="911739"/>
          </a:xfrm>
        </p:grpSpPr>
        <p:sp>
          <p:nvSpPr>
            <p:cNvPr id="19" name="Text Box 7">
              <a:extLst>
                <a:ext uri="{FF2B5EF4-FFF2-40B4-BE49-F238E27FC236}">
                  <a16:creationId xmlns:a16="http://schemas.microsoft.com/office/drawing/2014/main" id="{2312BBE7-B38D-4255-B9B1-97A0A92FA0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61542" y="4343400"/>
              <a:ext cx="605459" cy="3815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73025" tIns="36512" rIns="73025" bIns="36512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2000" dirty="0">
                  <a:cs typeface="+mn-cs"/>
                </a:rPr>
                <a:t>Hub</a:t>
              </a:r>
            </a:p>
          </p:txBody>
        </p:sp>
        <p:pic>
          <p:nvPicPr>
            <p:cNvPr id="34" name="Picture 31">
              <a:extLst>
                <a:ext uri="{FF2B5EF4-FFF2-40B4-BE49-F238E27FC236}">
                  <a16:creationId xmlns:a16="http://schemas.microsoft.com/office/drawing/2014/main" id="{E3506AFC-4A95-4DFE-B695-54EB132DE7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09142" y="3813175"/>
              <a:ext cx="884238" cy="377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CAB7B2FB-01A5-48C4-A306-839618329577}"/>
              </a:ext>
            </a:extLst>
          </p:cNvPr>
          <p:cNvGrpSpPr/>
          <p:nvPr/>
        </p:nvGrpSpPr>
        <p:grpSpPr>
          <a:xfrm>
            <a:off x="3980138" y="3876674"/>
            <a:ext cx="884736" cy="848240"/>
            <a:chOff x="3980138" y="3876674"/>
            <a:chExt cx="884736" cy="848240"/>
          </a:xfrm>
        </p:grpSpPr>
        <p:sp>
          <p:nvSpPr>
            <p:cNvPr id="17" name="Text Box 7">
              <a:extLst>
                <a:ext uri="{FF2B5EF4-FFF2-40B4-BE49-F238E27FC236}">
                  <a16:creationId xmlns:a16="http://schemas.microsoft.com/office/drawing/2014/main" id="{FFB8AE8C-E95C-4D45-B910-51EC466030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0142" y="4343400"/>
              <a:ext cx="884732" cy="3815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73025" tIns="36512" rIns="73025" bIns="36512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2000" dirty="0">
                  <a:cs typeface="+mn-cs"/>
                </a:rPr>
                <a:t>Switch</a:t>
              </a:r>
            </a:p>
          </p:txBody>
        </p:sp>
        <p:pic>
          <p:nvPicPr>
            <p:cNvPr id="35" name="Picture 41">
              <a:extLst>
                <a:ext uri="{FF2B5EF4-FFF2-40B4-BE49-F238E27FC236}">
                  <a16:creationId xmlns:a16="http://schemas.microsoft.com/office/drawing/2014/main" id="{976EABB4-D689-4E33-92A7-53298A1427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80138" y="3876674"/>
              <a:ext cx="883920" cy="3779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9AD969BE-16C4-426F-BC1C-F67872B92A3A}"/>
              </a:ext>
            </a:extLst>
          </p:cNvPr>
          <p:cNvGrpSpPr/>
          <p:nvPr/>
        </p:nvGrpSpPr>
        <p:grpSpPr>
          <a:xfrm>
            <a:off x="5732742" y="3276600"/>
            <a:ext cx="906462" cy="991114"/>
            <a:chOff x="5732742" y="3276600"/>
            <a:chExt cx="906462" cy="991114"/>
          </a:xfrm>
        </p:grpSpPr>
        <p:sp>
          <p:nvSpPr>
            <p:cNvPr id="18" name="Text Box 7">
              <a:extLst>
                <a:ext uri="{FF2B5EF4-FFF2-40B4-BE49-F238E27FC236}">
                  <a16:creationId xmlns:a16="http://schemas.microsoft.com/office/drawing/2014/main" id="{77FCCB87-7038-4B60-8AC4-7CFBEA722A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32742" y="3886200"/>
              <a:ext cx="897506" cy="3815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73025" tIns="36512" rIns="73025" bIns="36512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2000" dirty="0">
                  <a:cs typeface="+mn-cs"/>
                </a:rPr>
                <a:t>Router</a:t>
              </a:r>
            </a:p>
          </p:txBody>
        </p:sp>
        <p:pic>
          <p:nvPicPr>
            <p:cNvPr id="36" name="Picture 37">
              <a:extLst>
                <a:ext uri="{FF2B5EF4-FFF2-40B4-BE49-F238E27FC236}">
                  <a16:creationId xmlns:a16="http://schemas.microsoft.com/office/drawing/2014/main" id="{8A27A49B-7F92-40C9-8107-97F82894AAC0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32742" y="3276600"/>
              <a:ext cx="906462" cy="591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8C0B63AD-56B2-4DDD-87DB-59DBB7CC1FB3}"/>
              </a:ext>
            </a:extLst>
          </p:cNvPr>
          <p:cNvGrpSpPr/>
          <p:nvPr/>
        </p:nvGrpSpPr>
        <p:grpSpPr>
          <a:xfrm>
            <a:off x="3802850" y="1447800"/>
            <a:ext cx="1167892" cy="1451290"/>
            <a:chOff x="3802850" y="1447800"/>
            <a:chExt cx="1167892" cy="1451290"/>
          </a:xfrm>
        </p:grpSpPr>
        <p:sp>
          <p:nvSpPr>
            <p:cNvPr id="28" name="Text Box 7">
              <a:extLst>
                <a:ext uri="{FF2B5EF4-FFF2-40B4-BE49-F238E27FC236}">
                  <a16:creationId xmlns:a16="http://schemas.microsoft.com/office/drawing/2014/main" id="{F80385A7-3C2D-470F-A43E-2ED7EC1D90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27742" y="2209800"/>
              <a:ext cx="1089240" cy="689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73025" tIns="36512" rIns="73025" bIns="36512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2000" dirty="0">
                  <a:cs typeface="+mn-cs"/>
                </a:rPr>
                <a:t>Remote</a:t>
              </a:r>
            </a:p>
            <a:p>
              <a:pPr algn="ctr">
                <a:defRPr/>
              </a:pPr>
              <a:r>
                <a:rPr lang="en-US" sz="2000" dirty="0">
                  <a:cs typeface="+mn-cs"/>
                </a:rPr>
                <a:t>Network</a:t>
              </a:r>
            </a:p>
          </p:txBody>
        </p:sp>
        <p:pic>
          <p:nvPicPr>
            <p:cNvPr id="37" name="Picture 25">
              <a:extLst>
                <a:ext uri="{FF2B5EF4-FFF2-40B4-BE49-F238E27FC236}">
                  <a16:creationId xmlns:a16="http://schemas.microsoft.com/office/drawing/2014/main" id="{12808048-7062-4764-80C8-2993E334B09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02850" y="1447800"/>
              <a:ext cx="1167892" cy="7124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8236944-99A7-4106-88A5-3717840B5F16}"/>
              </a:ext>
            </a:extLst>
          </p:cNvPr>
          <p:cNvGrpSpPr/>
          <p:nvPr/>
        </p:nvGrpSpPr>
        <p:grpSpPr>
          <a:xfrm>
            <a:off x="3599142" y="1828800"/>
            <a:ext cx="5105400" cy="4343400"/>
            <a:chOff x="3599142" y="1828800"/>
            <a:chExt cx="5105400" cy="4343400"/>
          </a:xfrm>
        </p:grpSpPr>
        <p:sp>
          <p:nvSpPr>
            <p:cNvPr id="24" name="Text Box 7">
              <a:extLst>
                <a:ext uri="{FF2B5EF4-FFF2-40B4-BE49-F238E27FC236}">
                  <a16:creationId xmlns:a16="http://schemas.microsoft.com/office/drawing/2014/main" id="{5A1E95D9-CBF2-442B-99F4-DB0A38684C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5159" y="5790686"/>
              <a:ext cx="815102" cy="3815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73025" tIns="36512" rIns="73025" bIns="36512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2000" dirty="0">
                  <a:cs typeface="+mn-cs"/>
                </a:rPr>
                <a:t>Media</a:t>
              </a:r>
            </a:p>
          </p:txBody>
        </p:sp>
        <p:cxnSp>
          <p:nvCxnSpPr>
            <p:cNvPr id="25" name="Elbow Connector 40">
              <a:extLst>
                <a:ext uri="{FF2B5EF4-FFF2-40B4-BE49-F238E27FC236}">
                  <a16:creationId xmlns:a16="http://schemas.microsoft.com/office/drawing/2014/main" id="{1CF1A09F-FCD6-4541-B387-0995AD373F41}"/>
                </a:ext>
              </a:extLst>
            </p:cNvPr>
            <p:cNvCxnSpPr>
              <a:cxnSpLocks/>
              <a:stCxn id="24" idx="0"/>
            </p:cNvCxnSpPr>
            <p:nvPr/>
          </p:nvCxnSpPr>
          <p:spPr>
            <a:xfrm flipV="1">
              <a:off x="6172710" y="4419086"/>
              <a:ext cx="779232" cy="1371600"/>
            </a:xfrm>
            <a:prstGeom prst="straightConnector1">
              <a:avLst/>
            </a:prstGeom>
            <a:ln w="1905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Elbow Connector 40">
              <a:extLst>
                <a:ext uri="{FF2B5EF4-FFF2-40B4-BE49-F238E27FC236}">
                  <a16:creationId xmlns:a16="http://schemas.microsoft.com/office/drawing/2014/main" id="{BF3DD0E3-03D8-4F9B-B653-F38BF145A83B}"/>
                </a:ext>
              </a:extLst>
            </p:cNvPr>
            <p:cNvCxnSpPr>
              <a:cxnSpLocks/>
              <a:stCxn id="24" idx="1"/>
            </p:cNvCxnSpPr>
            <p:nvPr/>
          </p:nvCxnSpPr>
          <p:spPr>
            <a:xfrm flipH="1" flipV="1">
              <a:off x="3599142" y="5181600"/>
              <a:ext cx="2166017" cy="799843"/>
            </a:xfrm>
            <a:prstGeom prst="straightConnector1">
              <a:avLst/>
            </a:prstGeom>
            <a:ln w="1905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Elbow Connector 40">
              <a:extLst>
                <a:ext uri="{FF2B5EF4-FFF2-40B4-BE49-F238E27FC236}">
                  <a16:creationId xmlns:a16="http://schemas.microsoft.com/office/drawing/2014/main" id="{D868283A-15D0-4E7E-9F42-9B4E453FEE10}"/>
                </a:ext>
              </a:extLst>
            </p:cNvPr>
            <p:cNvCxnSpPr>
              <a:cxnSpLocks/>
              <a:stCxn id="24" idx="3"/>
            </p:cNvCxnSpPr>
            <p:nvPr/>
          </p:nvCxnSpPr>
          <p:spPr>
            <a:xfrm flipV="1">
              <a:off x="6580261" y="5257800"/>
              <a:ext cx="2124281" cy="723643"/>
            </a:xfrm>
            <a:prstGeom prst="straightConnector1">
              <a:avLst/>
            </a:prstGeom>
            <a:ln w="1905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 Box 7">
              <a:extLst>
                <a:ext uri="{FF2B5EF4-FFF2-40B4-BE49-F238E27FC236}">
                  <a16:creationId xmlns:a16="http://schemas.microsoft.com/office/drawing/2014/main" id="{2294E0BB-4B94-47C7-A722-32E1028F14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51942" y="1828800"/>
              <a:ext cx="815102" cy="3815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73025" tIns="36512" rIns="73025" bIns="36512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2000" dirty="0">
                  <a:cs typeface="+mn-cs"/>
                </a:rPr>
                <a:t>Media</a:t>
              </a:r>
            </a:p>
          </p:txBody>
        </p:sp>
        <p:cxnSp>
          <p:nvCxnSpPr>
            <p:cNvPr id="39" name="Elbow Connector 40">
              <a:extLst>
                <a:ext uri="{FF2B5EF4-FFF2-40B4-BE49-F238E27FC236}">
                  <a16:creationId xmlns:a16="http://schemas.microsoft.com/office/drawing/2014/main" id="{F1EDB5E6-C758-4B17-8642-7B2016DAFDF4}"/>
                </a:ext>
              </a:extLst>
            </p:cNvPr>
            <p:cNvCxnSpPr/>
            <p:nvPr/>
          </p:nvCxnSpPr>
          <p:spPr>
            <a:xfrm flipH="1" flipV="1">
              <a:off x="5351742" y="4419086"/>
              <a:ext cx="820968" cy="1371600"/>
            </a:xfrm>
            <a:prstGeom prst="straightConnector1">
              <a:avLst/>
            </a:prstGeom>
            <a:ln w="1905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Elbow Connector 40">
              <a:extLst>
                <a:ext uri="{FF2B5EF4-FFF2-40B4-BE49-F238E27FC236}">
                  <a16:creationId xmlns:a16="http://schemas.microsoft.com/office/drawing/2014/main" id="{7EBF1EAE-A266-4301-A051-965921A5E2CF}"/>
                </a:ext>
              </a:extLst>
            </p:cNvPr>
            <p:cNvCxnSpPr>
              <a:cxnSpLocks/>
              <a:stCxn id="38" idx="1"/>
              <a:endCxn id="31" idx="0"/>
            </p:cNvCxnSpPr>
            <p:nvPr/>
          </p:nvCxnSpPr>
          <p:spPr>
            <a:xfrm flipH="1">
              <a:off x="6116204" y="2019557"/>
              <a:ext cx="835738" cy="342643"/>
            </a:xfrm>
            <a:prstGeom prst="straightConnector1">
              <a:avLst/>
            </a:prstGeom>
            <a:ln w="1905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Elbow Connector 40">
              <a:extLst>
                <a:ext uri="{FF2B5EF4-FFF2-40B4-BE49-F238E27FC236}">
                  <a16:creationId xmlns:a16="http://schemas.microsoft.com/office/drawing/2014/main" id="{272EEB26-9599-4D1C-82D2-BEF10B98C766}"/>
                </a:ext>
              </a:extLst>
            </p:cNvPr>
            <p:cNvCxnSpPr>
              <a:cxnSpLocks/>
              <a:stCxn id="38" idx="3"/>
            </p:cNvCxnSpPr>
            <p:nvPr/>
          </p:nvCxnSpPr>
          <p:spPr>
            <a:xfrm>
              <a:off x="7767044" y="2019557"/>
              <a:ext cx="861298" cy="799843"/>
            </a:xfrm>
            <a:prstGeom prst="straightConnector1">
              <a:avLst/>
            </a:prstGeom>
            <a:ln w="1905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37466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D7818-5BC1-4CBB-8486-44B4BE772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Wide Area Network (WAN)</a:t>
            </a:r>
            <a:endParaRPr lang="en-GB" dirty="0">
              <a:latin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69011-F2D8-41C6-B329-34EE52203F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Links networks or devices over larger geographical area</a:t>
            </a:r>
          </a:p>
          <a:p>
            <a:pPr lvl="1"/>
            <a:r>
              <a:rPr lang="en-GB" dirty="0"/>
              <a:t>Can be across town or across the globe</a:t>
            </a:r>
          </a:p>
          <a:p>
            <a:r>
              <a:rPr lang="en-GB" dirty="0"/>
              <a:t>Connections can be part-time or full-time</a:t>
            </a:r>
          </a:p>
          <a:p>
            <a:pPr lvl="1"/>
            <a:r>
              <a:rPr lang="en-GB" dirty="0"/>
              <a:t>MODEM &amp; ISDN are traditional part-time (on-demand)</a:t>
            </a:r>
          </a:p>
          <a:p>
            <a:pPr lvl="1"/>
            <a:r>
              <a:rPr lang="en-GB" dirty="0"/>
              <a:t>E1/T1s, Frame Relay are traditional full-time networks</a:t>
            </a:r>
          </a:p>
          <a:p>
            <a:pPr lvl="1"/>
            <a:r>
              <a:rPr lang="en-GB" dirty="0"/>
              <a:t>Cable and DSL are newer full-time (always-on) networks</a:t>
            </a:r>
          </a:p>
          <a:p>
            <a:r>
              <a:rPr lang="en-GB" dirty="0"/>
              <a:t>Typically involve a 3rd-party service provider</a:t>
            </a:r>
          </a:p>
          <a:p>
            <a:r>
              <a:rPr lang="en-GB" dirty="0"/>
              <a:t>WAN bandwidth determined by service provider</a:t>
            </a:r>
          </a:p>
          <a:p>
            <a:pPr lvl="1"/>
            <a:r>
              <a:rPr lang="en-GB" dirty="0"/>
              <a:t>Greater bandwidth the greater the monthly cost</a:t>
            </a:r>
          </a:p>
          <a:p>
            <a:r>
              <a:rPr lang="en-GB" dirty="0"/>
              <a:t>Connections are often Serial (64kbps-45Mbps)</a:t>
            </a:r>
          </a:p>
          <a:p>
            <a:pPr lvl="1"/>
            <a:r>
              <a:rPr lang="en-GB" dirty="0"/>
              <a:t>Typically slower than the LANs they connect</a:t>
            </a:r>
          </a:p>
          <a:p>
            <a:r>
              <a:rPr lang="en-GB" dirty="0"/>
              <a:t>Typically connect to LANs via a router</a:t>
            </a:r>
          </a:p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B0BB83-089A-4F3E-AA7C-DAE2AD3C9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Copyright West Lothian College 2018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786703-756E-482D-A651-BE02950B3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FC986-EBAD-433F-BFF0-8D7A00ECEB56}" type="slidenum">
              <a:rPr lang="en-GB" smtClean="0"/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30776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DD52B-6029-4675-AB59-61C757E45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WAN Setup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14A391-B7CC-4492-951D-F4644DC30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Copyright West Lothian College 2018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959681-BF59-4988-B91D-F1FBAD67F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FC986-EBAD-433F-BFF0-8D7A00ECEB56}" type="slidenum">
              <a:rPr lang="en-GB" smtClean="0"/>
              <a:t>9</a:t>
            </a:fld>
            <a:endParaRPr lang="en-GB" dirty="0"/>
          </a:p>
        </p:txBody>
      </p:sp>
      <p:grpSp>
        <p:nvGrpSpPr>
          <p:cNvPr id="6" name="Group 14">
            <a:extLst>
              <a:ext uri="{FF2B5EF4-FFF2-40B4-BE49-F238E27FC236}">
                <a16:creationId xmlns:a16="http://schemas.microsoft.com/office/drawing/2014/main" id="{AF0CDE4F-FEA4-49C5-B103-2DD773D1EB27}"/>
              </a:ext>
            </a:extLst>
          </p:cNvPr>
          <p:cNvGrpSpPr>
            <a:grpSpLocks/>
          </p:cNvGrpSpPr>
          <p:nvPr/>
        </p:nvGrpSpPr>
        <p:grpSpPr bwMode="auto">
          <a:xfrm>
            <a:off x="2727234" y="1665653"/>
            <a:ext cx="6667350" cy="4478529"/>
            <a:chOff x="432" y="1008"/>
            <a:chExt cx="4560" cy="3063"/>
          </a:xfrm>
        </p:grpSpPr>
        <p:grpSp>
          <p:nvGrpSpPr>
            <p:cNvPr id="7" name="Group 3">
              <a:extLst>
                <a:ext uri="{FF2B5EF4-FFF2-40B4-BE49-F238E27FC236}">
                  <a16:creationId xmlns:a16="http://schemas.microsoft.com/office/drawing/2014/main" id="{C4AC0359-811D-4F65-B7FF-0AA1D64D23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" y="1008"/>
              <a:ext cx="4560" cy="3063"/>
              <a:chOff x="528" y="1008"/>
              <a:chExt cx="4560" cy="3063"/>
            </a:xfrm>
          </p:grpSpPr>
          <p:pic>
            <p:nvPicPr>
              <p:cNvPr id="15" name="Picture 4">
                <a:extLst>
                  <a:ext uri="{FF2B5EF4-FFF2-40B4-BE49-F238E27FC236}">
                    <a16:creationId xmlns:a16="http://schemas.microsoft.com/office/drawing/2014/main" id="{F8F98FA3-CF31-4CE0-9F28-DC3C4122A36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76" y="1056"/>
                <a:ext cx="4512" cy="301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pic>
          <p:sp>
            <p:nvSpPr>
              <p:cNvPr id="16" name="Rectangle 5">
                <a:extLst>
                  <a:ext uri="{FF2B5EF4-FFF2-40B4-BE49-F238E27FC236}">
                    <a16:creationId xmlns:a16="http://schemas.microsoft.com/office/drawing/2014/main" id="{7B1CA720-D24A-441A-A338-C602FBDB6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" y="1008"/>
                <a:ext cx="192" cy="52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73025" tIns="36512" rIns="73025" bIns="36512" anchor="ctr"/>
              <a:lstStyle/>
              <a:p>
                <a:pPr>
                  <a:defRPr/>
                </a:pPr>
                <a:endParaRPr lang="en-GB">
                  <a:cs typeface="+mn-cs"/>
                </a:endParaRPr>
              </a:p>
            </p:txBody>
          </p:sp>
        </p:grpSp>
        <p:sp>
          <p:nvSpPr>
            <p:cNvPr id="8" name="Text Box 6">
              <a:extLst>
                <a:ext uri="{FF2B5EF4-FFF2-40B4-BE49-F238E27FC236}">
                  <a16:creationId xmlns:a16="http://schemas.microsoft.com/office/drawing/2014/main" id="{AF027130-A85D-4F64-8A5D-45B8622E2F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8" y="1815"/>
              <a:ext cx="764" cy="2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73025" tIns="36512" rIns="73025" bIns="36512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2000" b="1">
                  <a:cs typeface="+mn-cs"/>
                </a:rPr>
                <a:t>Internet</a:t>
              </a:r>
            </a:p>
          </p:txBody>
        </p:sp>
        <p:sp>
          <p:nvSpPr>
            <p:cNvPr id="9" name="Text Box 7">
              <a:extLst>
                <a:ext uri="{FF2B5EF4-FFF2-40B4-BE49-F238E27FC236}">
                  <a16:creationId xmlns:a16="http://schemas.microsoft.com/office/drawing/2014/main" id="{25DC0C78-4C62-4861-9E9A-1ABA3041F7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3168"/>
              <a:ext cx="566" cy="2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73025" tIns="36512" rIns="73025" bIns="36512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2000" b="1" dirty="0">
                  <a:cs typeface="+mn-cs"/>
                </a:rPr>
                <a:t>LAN 1</a:t>
              </a:r>
            </a:p>
          </p:txBody>
        </p:sp>
        <p:sp>
          <p:nvSpPr>
            <p:cNvPr id="10" name="Text Box 8">
              <a:extLst>
                <a:ext uri="{FF2B5EF4-FFF2-40B4-BE49-F238E27FC236}">
                  <a16:creationId xmlns:a16="http://schemas.microsoft.com/office/drawing/2014/main" id="{88B24E27-1A13-41FF-B459-AFF2B93C8B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3120"/>
              <a:ext cx="566" cy="2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73025" tIns="36512" rIns="73025" bIns="36512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2000" b="1">
                  <a:cs typeface="+mn-cs"/>
                </a:rPr>
                <a:t>LAN 2</a:t>
              </a:r>
            </a:p>
          </p:txBody>
        </p:sp>
        <p:sp>
          <p:nvSpPr>
            <p:cNvPr id="11" name="Text Box 9">
              <a:extLst>
                <a:ext uri="{FF2B5EF4-FFF2-40B4-BE49-F238E27FC236}">
                  <a16:creationId xmlns:a16="http://schemas.microsoft.com/office/drawing/2014/main" id="{B742DACA-CBCD-424E-954A-E9CBB5EEDE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1104"/>
              <a:ext cx="566" cy="2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73025" tIns="36512" rIns="73025" bIns="36512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2000" b="1" dirty="0">
                  <a:cs typeface="+mn-cs"/>
                </a:rPr>
                <a:t>LAN 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266472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50E61-9F0A-4EFA-882B-C69C242BC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Campus Network (CAN)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B709D-7BC3-4DC8-AC77-4594DB5814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Multiple buildings in close proximity</a:t>
            </a:r>
          </a:p>
          <a:p>
            <a:r>
              <a:rPr lang="en-GB" dirty="0"/>
              <a:t>Administrators can connect buildings without using 3rd party service provider</a:t>
            </a:r>
          </a:p>
          <a:p>
            <a:r>
              <a:rPr lang="en-GB" dirty="0"/>
              <a:t>Network looks like a large LAN</a:t>
            </a:r>
          </a:p>
          <a:p>
            <a:pPr lvl="1"/>
            <a:r>
              <a:rPr lang="en-GB" dirty="0"/>
              <a:t>Buildings connected by high speed links</a:t>
            </a:r>
          </a:p>
          <a:p>
            <a:pPr lvl="2"/>
            <a:r>
              <a:rPr lang="en-GB" dirty="0"/>
              <a:t>Typically Ethernet (100/1000 Mbps)</a:t>
            </a:r>
          </a:p>
          <a:p>
            <a:r>
              <a:rPr lang="en-GB" dirty="0"/>
              <a:t>Bandwidth cost is basically capital cost of installing the links (like a LAN)</a:t>
            </a:r>
          </a:p>
          <a:p>
            <a:r>
              <a:rPr lang="en-GB" dirty="0"/>
              <a:t>Examples</a:t>
            </a:r>
          </a:p>
          <a:p>
            <a:pPr lvl="1"/>
            <a:r>
              <a:rPr lang="en-GB" dirty="0"/>
              <a:t>Microsoft – Redmond, WA</a:t>
            </a:r>
          </a:p>
          <a:p>
            <a:pPr lvl="1"/>
            <a:r>
              <a:rPr lang="en-GB" dirty="0"/>
              <a:t>Cisco Systems – San Jose, CA</a:t>
            </a:r>
          </a:p>
          <a:p>
            <a:pPr lvl="1"/>
            <a:r>
              <a:rPr lang="en-GB" dirty="0"/>
              <a:t>Any Boeing Plant – Renton, Kent, Auburn, Everett </a:t>
            </a:r>
          </a:p>
          <a:p>
            <a:pPr lvl="1"/>
            <a:r>
              <a:rPr lang="en-GB" dirty="0"/>
              <a:t>Typical High School or College campus</a:t>
            </a:r>
          </a:p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61A278-DC74-4444-945C-2459115D5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Copyright West Lothian College 2018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0E2C44-2919-4848-B22D-388A2EC0F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FC986-EBAD-433F-BFF0-8D7A00ECEB56}" type="slidenum">
              <a:rPr lang="en-GB" smtClean="0"/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1142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212D4-CC01-43BF-8ACC-D822397BB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Metropolitan Area Network (MAN)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4CE0D-B64B-41C9-B147-2E3E71B4C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Multiple buildings in close proximity</a:t>
            </a:r>
          </a:p>
          <a:p>
            <a:r>
              <a:rPr lang="en-GB" dirty="0"/>
              <a:t>Administrators must use 3rd party service provider to connect buildings</a:t>
            </a:r>
          </a:p>
          <a:p>
            <a:pPr lvl="1"/>
            <a:r>
              <a:rPr lang="en-GB" dirty="0"/>
              <a:t>Looks more like LANs connected by WANs</a:t>
            </a:r>
          </a:p>
          <a:p>
            <a:pPr lvl="1"/>
            <a:r>
              <a:rPr lang="en-GB" dirty="0"/>
              <a:t>Because of single provider, may be able to negotiate lower rates for higher bandwidth</a:t>
            </a:r>
          </a:p>
          <a:p>
            <a:r>
              <a:rPr lang="en-GB" dirty="0"/>
              <a:t>Bandwidth cost is monthly expense like WAN</a:t>
            </a:r>
          </a:p>
          <a:p>
            <a:r>
              <a:rPr lang="en-GB" dirty="0"/>
              <a:t>Examples</a:t>
            </a:r>
          </a:p>
          <a:p>
            <a:pPr lvl="1"/>
            <a:r>
              <a:rPr lang="en-GB" dirty="0"/>
              <a:t>Boeing Puget Sound Facilities (10+ campuses)</a:t>
            </a:r>
          </a:p>
          <a:p>
            <a:pPr lvl="1"/>
            <a:r>
              <a:rPr lang="en-GB" dirty="0"/>
              <a:t>Typical School District with multiple campuses</a:t>
            </a:r>
          </a:p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623B36-C60D-4363-8002-D7FFDC758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Copyright West Lothian College 2018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EBDCB3-3C2D-4490-B4E9-DBE07FBE4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FC986-EBAD-433F-BFF0-8D7A00ECEB56}" type="slidenum">
              <a:rPr lang="en-GB" smtClean="0"/>
              <a:t>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4239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44785-6686-42E0-AEFB-DE5A7723F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Personal Area Networks (PANs)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CC3E3-81C6-41D6-8727-E5CBE271D8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personal area network (PAN) is a computer network used for communication between a computer and different information technological devices close to one person</a:t>
            </a:r>
          </a:p>
          <a:p>
            <a:r>
              <a:rPr lang="en-GB" dirty="0"/>
              <a:t>Is a small network established for communication between    different devices, such as laptops, computers, mobiles, and PDAs</a:t>
            </a:r>
          </a:p>
          <a:p>
            <a:r>
              <a:rPr lang="en-GB" dirty="0"/>
              <a:t>A pan may include wired and wireless devices</a:t>
            </a:r>
          </a:p>
          <a:p>
            <a:r>
              <a:rPr lang="en-GB" dirty="0"/>
              <a:t>The reach of a pan typically extends to 10 meters</a:t>
            </a:r>
          </a:p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F6A943-747C-4BA4-A4B8-8ACFD4154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Copyright West Lothian College 2018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5222CF-D97C-49CD-AB64-88979FB5F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FC986-EBAD-433F-BFF0-8D7A00ECEB56}" type="slidenum">
              <a:rPr lang="en-GB" smtClean="0"/>
              <a:t>12</a:t>
            </a:fld>
            <a:endParaRPr lang="en-GB" dirty="0"/>
          </a:p>
        </p:txBody>
      </p:sp>
      <p:pic>
        <p:nvPicPr>
          <p:cNvPr id="6" name="Picture 2" descr="c1-4">
            <a:extLst>
              <a:ext uri="{FF2B5EF4-FFF2-40B4-BE49-F238E27FC236}">
                <a16:creationId xmlns:a16="http://schemas.microsoft.com/office/drawing/2014/main" id="{B1FD555E-D2FD-43C2-B907-76AB4D7630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5397" y="4164132"/>
            <a:ext cx="2514600" cy="18035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35069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0DAF8-39A3-4859-A2C7-6AA5351C6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charset="0"/>
              </a:rPr>
              <a:t>Storage-Area Networks (SANs)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064179-B781-4F29-995B-66FD6658E0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7942545" cy="4351338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High-speed server-to-storage, storage-to-storage, or server-to-server connectivity</a:t>
            </a:r>
          </a:p>
          <a:p>
            <a:r>
              <a:rPr lang="en-GB" dirty="0"/>
              <a:t>Uses a separate network infrastructure that relieves any problems associated with existing network connectivity</a:t>
            </a:r>
          </a:p>
          <a:p>
            <a:r>
              <a:rPr lang="en-GB" dirty="0"/>
              <a:t>Avoids any traffic conflict between clients and servers.   </a:t>
            </a:r>
          </a:p>
          <a:p>
            <a:r>
              <a:rPr lang="en-GB" dirty="0"/>
              <a:t>SANs offer the following features: </a:t>
            </a:r>
          </a:p>
          <a:p>
            <a:pPr lvl="1"/>
            <a:r>
              <a:rPr lang="en-GB" dirty="0"/>
              <a:t>Performance – SANs enable concurrent access of disk or tape arrays by two or more servers at high speeds, providing enhanced system performance. </a:t>
            </a:r>
          </a:p>
          <a:p>
            <a:pPr lvl="1"/>
            <a:r>
              <a:rPr lang="en-GB" dirty="0"/>
              <a:t>Availability – SANs have disaster tolerance built in, because data can be mirrored using a SAN up to 10 </a:t>
            </a:r>
            <a:r>
              <a:rPr lang="en-GB" dirty="0" err="1"/>
              <a:t>kilometers</a:t>
            </a:r>
            <a:r>
              <a:rPr lang="en-GB" dirty="0"/>
              <a:t> (km) or 6.2 miles away</a:t>
            </a:r>
          </a:p>
          <a:p>
            <a:pPr lvl="1"/>
            <a:r>
              <a:rPr lang="en-GB" dirty="0"/>
              <a:t>Scalability – Allows easy relocation of backup data, operations, file migration, and data replication between systems</a:t>
            </a:r>
          </a:p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F65DB8-B64C-4137-BE6E-808F88F19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Copyright West Lothian College 2018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7DB886-C773-42CD-ACA0-D5195D1C8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FC986-EBAD-433F-BFF0-8D7A00ECEB56}" type="slidenum">
              <a:rPr lang="en-GB" smtClean="0"/>
              <a:t>13</a:t>
            </a:fld>
            <a:endParaRPr lang="en-GB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6F20D6B3-CD7E-4AD5-BA52-147FF47C42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9867" y="1714547"/>
            <a:ext cx="3110066" cy="438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19039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F9C8B-D036-467B-9951-4C00F5ADC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LAN, MAN, WAN, SANs Together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430DEA-E6F4-40ED-B198-B5E1365EA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Copyright West Lothian College 2018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87EB2C-6326-451E-80D2-139BAACFC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FC986-EBAD-433F-BFF0-8D7A00ECEB56}" type="slidenum">
              <a:rPr lang="en-GB" smtClean="0"/>
              <a:t>14</a:t>
            </a:fld>
            <a:endParaRPr lang="en-GB" dirty="0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6B0CD209-F494-4558-B717-CE2D7EE449F1}"/>
              </a:ext>
            </a:extLst>
          </p:cNvPr>
          <p:cNvGrpSpPr>
            <a:grpSpLocks/>
          </p:cNvGrpSpPr>
          <p:nvPr/>
        </p:nvGrpSpPr>
        <p:grpSpPr bwMode="auto">
          <a:xfrm>
            <a:off x="2341324" y="1573132"/>
            <a:ext cx="7509353" cy="4646150"/>
            <a:chOff x="240" y="864"/>
            <a:chExt cx="5012" cy="3101"/>
          </a:xfrm>
        </p:grpSpPr>
        <p:pic>
          <p:nvPicPr>
            <p:cNvPr id="7" name="Picture 3">
              <a:extLst>
                <a:ext uri="{FF2B5EF4-FFF2-40B4-BE49-F238E27FC236}">
                  <a16:creationId xmlns:a16="http://schemas.microsoft.com/office/drawing/2014/main" id="{1ACED61B-3229-476F-A3DD-70CE7BC0BB8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" y="864"/>
              <a:ext cx="4368" cy="31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sp>
          <p:nvSpPr>
            <p:cNvPr id="8" name="Text Box 4">
              <a:extLst>
                <a:ext uri="{FF2B5EF4-FFF2-40B4-BE49-F238E27FC236}">
                  <a16:creationId xmlns:a16="http://schemas.microsoft.com/office/drawing/2014/main" id="{C7A0331C-CC62-4F0F-88A5-1F5793CF3C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1920"/>
              <a:ext cx="956" cy="2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73025" tIns="36512" rIns="73025" bIns="36512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2000" b="1">
                  <a:cs typeface="+mn-cs"/>
                </a:rPr>
                <a:t>WAN Links</a:t>
              </a:r>
            </a:p>
          </p:txBody>
        </p:sp>
        <p:sp>
          <p:nvSpPr>
            <p:cNvPr id="9" name="Text Box 5">
              <a:extLst>
                <a:ext uri="{FF2B5EF4-FFF2-40B4-BE49-F238E27FC236}">
                  <a16:creationId xmlns:a16="http://schemas.microsoft.com/office/drawing/2014/main" id="{28CE2BE8-79EF-4859-A657-53BD23C5A7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8" y="1920"/>
              <a:ext cx="884" cy="2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73025" tIns="36512" rIns="73025" bIns="36512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2000" b="1">
                  <a:cs typeface="+mn-cs"/>
                </a:rPr>
                <a:t>LAN Links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DB890B69-5BC5-4AD5-886F-B68141665341}"/>
              </a:ext>
            </a:extLst>
          </p:cNvPr>
          <p:cNvSpPr txBox="1"/>
          <p:nvPr/>
        </p:nvSpPr>
        <p:spPr>
          <a:xfrm>
            <a:off x="682277" y="1709802"/>
            <a:ext cx="2635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POP: Point of Presence</a:t>
            </a:r>
          </a:p>
        </p:txBody>
      </p:sp>
    </p:spTree>
    <p:extLst>
      <p:ext uri="{BB962C8B-B14F-4D97-AF65-F5344CB8AC3E}">
        <p14:creationId xmlns:p14="http://schemas.microsoft.com/office/powerpoint/2010/main" val="26588165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2D7B2-02E3-45D1-BF5B-D3D4E5170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charset="0"/>
              </a:rPr>
              <a:t>WLAN Extending the Network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8035C-4C63-47D3-852C-443A233F08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60518" cy="4351338"/>
          </a:xfrm>
        </p:spPr>
        <p:txBody>
          <a:bodyPr/>
          <a:lstStyle/>
          <a:p>
            <a:r>
              <a:rPr lang="en-GB" dirty="0"/>
              <a:t>Provides user mobility</a:t>
            </a:r>
          </a:p>
          <a:p>
            <a:r>
              <a:rPr lang="en-GB" dirty="0"/>
              <a:t>Can be cheaper both short and long term</a:t>
            </a:r>
          </a:p>
          <a:p>
            <a:r>
              <a:rPr lang="en-GB" dirty="0"/>
              <a:t>Provides access where copper won’t work </a:t>
            </a:r>
          </a:p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744612-9AB3-42D6-9367-3767E6FB3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Copyright West Lothian College 2018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34229E-9489-41AC-AA81-CD1FDBE60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FC986-EBAD-433F-BFF0-8D7A00ECEB56}" type="slidenum">
              <a:rPr lang="en-GB" smtClean="0"/>
              <a:t>15</a:t>
            </a:fld>
            <a:endParaRPr lang="en-GB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3B433A6-8023-4554-936B-E06947762DE4}"/>
              </a:ext>
            </a:extLst>
          </p:cNvPr>
          <p:cNvGrpSpPr>
            <a:grpSpLocks/>
          </p:cNvGrpSpPr>
          <p:nvPr/>
        </p:nvGrpSpPr>
        <p:grpSpPr bwMode="auto">
          <a:xfrm>
            <a:off x="5610617" y="1825625"/>
            <a:ext cx="6019800" cy="3886200"/>
            <a:chOff x="720" y="912"/>
            <a:chExt cx="4176" cy="3024"/>
          </a:xfrm>
        </p:grpSpPr>
        <p:pic>
          <p:nvPicPr>
            <p:cNvPr id="7" name="Picture 3">
              <a:extLst>
                <a:ext uri="{FF2B5EF4-FFF2-40B4-BE49-F238E27FC236}">
                  <a16:creationId xmlns:a16="http://schemas.microsoft.com/office/drawing/2014/main" id="{84A36284-6DBA-4751-A5EB-9BB3A8359CD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0" y="912"/>
              <a:ext cx="4176" cy="30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sp>
          <p:nvSpPr>
            <p:cNvPr id="8" name="Line 4">
              <a:extLst>
                <a:ext uri="{FF2B5EF4-FFF2-40B4-BE49-F238E27FC236}">
                  <a16:creationId xmlns:a16="http://schemas.microsoft.com/office/drawing/2014/main" id="{AEA7C2E1-C85E-45FC-A470-D38A19A6DF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" y="2065"/>
              <a:ext cx="0" cy="24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 type="none" w="sm" len="sm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73025" tIns="36512" rIns="73025" bIns="36512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11857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5D997-D6D2-4E67-A435-D195E4BC4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charset="0"/>
              </a:rPr>
              <a:t>WLAN Linking Sites Together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9350D-E21D-4416-845C-0CB8EFB04B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10622" cy="4351338"/>
          </a:xfrm>
        </p:spPr>
        <p:txBody>
          <a:bodyPr/>
          <a:lstStyle/>
          <a:p>
            <a:r>
              <a:rPr lang="en-GB" dirty="0"/>
              <a:t>May replace high cost WAN links</a:t>
            </a:r>
          </a:p>
          <a:p>
            <a:pPr lvl="1"/>
            <a:r>
              <a:rPr lang="en-GB" dirty="0"/>
              <a:t>Requires unobstructed line-of-sight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4BA6E7-83ED-4605-B514-2E2AA4A04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Copyright West Lothian College 2018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34A57D-74A0-44F2-A84B-F94D8986D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FC986-EBAD-433F-BFF0-8D7A00ECEB56}" type="slidenum">
              <a:rPr lang="en-GB" smtClean="0"/>
              <a:t>16</a:t>
            </a:fld>
            <a:endParaRPr lang="en-GB" dirty="0"/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7FEAEA69-7916-488A-8490-A65394384D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626925" y="1619366"/>
            <a:ext cx="6248400" cy="4289425"/>
          </a:xfrm>
          <a:prstGeom prst="rect">
            <a:avLst/>
          </a:prstGeom>
          <a:noFill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929546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6D29F-36E7-4788-8FE2-643CE1F2E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Ad-hoc Wireless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D27DE-2AE4-49A7-BC93-70B3AB8BA4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decentralized type of wireless network</a:t>
            </a:r>
          </a:p>
          <a:p>
            <a:r>
              <a:rPr lang="en-GB" dirty="0"/>
              <a:t>The network is ad hoc because it does not rely on a pre-existing infrastructure such as routers in wired networks or access points in managed (infrastructure) wireless networks.</a:t>
            </a:r>
          </a:p>
          <a:p>
            <a:r>
              <a:rPr lang="en-GB" dirty="0"/>
              <a:t>Instead, each node participates in routing by forwarding data for other nodes</a:t>
            </a:r>
          </a:p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203810-BBA6-48BC-84CD-E1F6F3378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Copyright West Lothian College 2018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8C9714-F476-4BFC-97DC-9654697A4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FC986-EBAD-433F-BFF0-8D7A00ECEB56}" type="slidenum">
              <a:rPr lang="en-GB" smtClean="0"/>
              <a:t>17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34136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501E3-0440-47FC-AD02-E794BFB98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charset="0"/>
              </a:rPr>
              <a:t>Virtual Private Networks (VPNs)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FA4780-FBA1-4829-89D0-68723BB4B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95802" cy="4351338"/>
          </a:xfrm>
        </p:spPr>
        <p:txBody>
          <a:bodyPr/>
          <a:lstStyle/>
          <a:p>
            <a:r>
              <a:rPr lang="en-GB" dirty="0"/>
              <a:t>Creates secure connections through an unsecure network (Internet)</a:t>
            </a:r>
          </a:p>
          <a:p>
            <a:r>
              <a:rPr lang="en-GB" dirty="0"/>
              <a:t>Can extend corporate network to branches, telecommuters</a:t>
            </a:r>
          </a:p>
          <a:p>
            <a:r>
              <a:rPr lang="en-GB" dirty="0"/>
              <a:t>Lower cost alternative to leased lines (T1/E1) and Frame relay</a:t>
            </a:r>
          </a:p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824639-7158-4F05-B3AD-CA1B5E6BB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Copyright West Lothian College 2018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F44DE8-FA41-413C-9B32-5CBF17DEB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FC986-EBAD-433F-BFF0-8D7A00ECEB56}" type="slidenum">
              <a:rPr lang="en-GB" smtClean="0"/>
              <a:t>18</a:t>
            </a:fld>
            <a:endParaRPr lang="en-GB" dirty="0"/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02094C76-9259-4089-84C8-B466FDF13E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276"/>
          <a:stretch/>
        </p:blipFill>
        <p:spPr bwMode="auto">
          <a:xfrm>
            <a:off x="6113646" y="1894909"/>
            <a:ext cx="5916662" cy="3142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59791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B4550-4071-4FA5-8106-7C78F5E2A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Intranets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D20893-9606-42FE-A089-0E0BA01939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This is an internal corporate network that can be accessed by anyone on the internal network and can be password protected so that staff/employees can access </a:t>
            </a:r>
            <a:r>
              <a:rPr lang="en-GB"/>
              <a:t>it externally.</a:t>
            </a:r>
            <a:endParaRPr lang="en-GB" dirty="0"/>
          </a:p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BDD89D-75DE-485A-A2D5-E87B22245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Copyright West Lothian College 2018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4DE85B-A085-44D6-932D-995FB6A8F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FC986-EBAD-433F-BFF0-8D7A00ECEB56}" type="slidenum">
              <a:rPr lang="en-GB" smtClean="0"/>
              <a:t>19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20911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eorgia">
      <a:maj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</TotalTime>
  <Words>1068</Words>
  <Application>Microsoft Office PowerPoint</Application>
  <PresentationFormat>Widescreen</PresentationFormat>
  <Paragraphs>169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Georgia</vt:lpstr>
      <vt:lpstr>Tahoma</vt:lpstr>
      <vt:lpstr>Office Theme</vt:lpstr>
      <vt:lpstr>PowerPoint Presentation</vt:lpstr>
      <vt:lpstr>The 4 Main Parts of all Networks</vt:lpstr>
      <vt:lpstr>Network Types</vt:lpstr>
      <vt:lpstr>Local Area Network (LAN)</vt:lpstr>
      <vt:lpstr>Local Area Network (LAN)</vt:lpstr>
      <vt:lpstr>IEEE Standards</vt:lpstr>
      <vt:lpstr>Basic LAN Setup</vt:lpstr>
      <vt:lpstr>Wide Area Network (WAN)</vt:lpstr>
      <vt:lpstr>Basic WAN Setup</vt:lpstr>
      <vt:lpstr>Campus Network (CAN)</vt:lpstr>
      <vt:lpstr>Metropolitan Area Network (MAN)</vt:lpstr>
      <vt:lpstr>Personal Area Networks (PANs)</vt:lpstr>
      <vt:lpstr>Storage-Area Networks (SANs) </vt:lpstr>
      <vt:lpstr>LAN, MAN, WAN, SANs Together</vt:lpstr>
      <vt:lpstr>WLAN Extending the Network</vt:lpstr>
      <vt:lpstr>WLAN Linking Sites Together</vt:lpstr>
      <vt:lpstr>Ad-hoc Wireless</vt:lpstr>
      <vt:lpstr>Virtual Private Networks (VPNs) </vt:lpstr>
      <vt:lpstr>Intranets</vt:lpstr>
    </vt:vector>
  </TitlesOfParts>
  <Company>West Lothian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01 - Network Types</dc:title>
  <dc:subject>Network Technology</dc:subject>
  <dc:creator>Ross Tunnicliffe</dc:creator>
  <cp:lastModifiedBy>Connor Campbell</cp:lastModifiedBy>
  <cp:revision>3</cp:revision>
  <dcterms:created xsi:type="dcterms:W3CDTF">2018-06-15T17:17:20Z</dcterms:created>
  <dcterms:modified xsi:type="dcterms:W3CDTF">2025-08-26T09:37:36Z</dcterms:modified>
</cp:coreProperties>
</file>